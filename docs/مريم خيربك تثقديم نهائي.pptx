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4"/>
  </p:notesMasterIdLst>
  <p:sldIdLst>
    <p:sldId id="256" r:id="rId2"/>
    <p:sldId id="273" r:id="rId3"/>
    <p:sldId id="258" r:id="rId4"/>
    <p:sldId id="257" r:id="rId5"/>
    <p:sldId id="321" r:id="rId6"/>
    <p:sldId id="259" r:id="rId7"/>
    <p:sldId id="274" r:id="rId8"/>
    <p:sldId id="285" r:id="rId9"/>
    <p:sldId id="277" r:id="rId10"/>
    <p:sldId id="278" r:id="rId11"/>
    <p:sldId id="286" r:id="rId12"/>
    <p:sldId id="293" r:id="rId13"/>
    <p:sldId id="324" r:id="rId14"/>
    <p:sldId id="312" r:id="rId15"/>
    <p:sldId id="325" r:id="rId16"/>
    <p:sldId id="294" r:id="rId17"/>
    <p:sldId id="297" r:id="rId18"/>
    <p:sldId id="326" r:id="rId19"/>
    <p:sldId id="275" r:id="rId20"/>
    <p:sldId id="296" r:id="rId21"/>
    <p:sldId id="315" r:id="rId22"/>
    <p:sldId id="316" r:id="rId23"/>
    <p:sldId id="317" r:id="rId24"/>
    <p:sldId id="318" r:id="rId25"/>
    <p:sldId id="319" r:id="rId26"/>
    <p:sldId id="295" r:id="rId27"/>
    <p:sldId id="298" r:id="rId28"/>
    <p:sldId id="299" r:id="rId29"/>
    <p:sldId id="300" r:id="rId30"/>
    <p:sldId id="301" r:id="rId31"/>
    <p:sldId id="303" r:id="rId32"/>
    <p:sldId id="302" r:id="rId33"/>
    <p:sldId id="304" r:id="rId34"/>
    <p:sldId id="307" r:id="rId35"/>
    <p:sldId id="306" r:id="rId36"/>
    <p:sldId id="322" r:id="rId37"/>
    <p:sldId id="320" r:id="rId38"/>
    <p:sldId id="308" r:id="rId39"/>
    <p:sldId id="309" r:id="rId40"/>
    <p:sldId id="310" r:id="rId41"/>
    <p:sldId id="287" r:id="rId42"/>
    <p:sldId id="261" r:id="rId43"/>
    <p:sldId id="284" r:id="rId44"/>
    <p:sldId id="263" r:id="rId45"/>
    <p:sldId id="264" r:id="rId46"/>
    <p:sldId id="289" r:id="rId47"/>
    <p:sldId id="290" r:id="rId48"/>
    <p:sldId id="288" r:id="rId49"/>
    <p:sldId id="268" r:id="rId50"/>
    <p:sldId id="269" r:id="rId51"/>
    <p:sldId id="311" r:id="rId52"/>
    <p:sldId id="270" r:id="rId53"/>
  </p:sldIdLst>
  <p:sldSz cx="18288000" cy="10287000"/>
  <p:notesSz cx="6858000" cy="9144000"/>
  <p:embeddedFontLst>
    <p:embeddedFont>
      <p:font typeface="Alatsi" panose="020B0604020202020204" charset="0"/>
      <p:regular r:id="rId55"/>
    </p:embeddedFont>
    <p:embeddedFont>
      <p:font typeface="Belanosima" panose="020B0604020202020204" charset="0"/>
      <p:regular r:id="rId56"/>
      <p:bold r:id="rId57"/>
    </p:embeddedFont>
    <p:embeddedFont>
      <p:font typeface="Cambria Math" panose="02040503050406030204" pitchFamily="18" charset="0"/>
      <p:regular r:id="rId58"/>
    </p:embeddedFont>
    <p:embeddedFont>
      <p:font typeface="Droid Arabic Kufi" panose="020B0604020202020204" charset="0"/>
      <p:regular r:id="rId59"/>
    </p:embeddedFont>
    <p:embeddedFont>
      <p:font typeface="Droid Arabic Naskh Bold" panose="020B0604020202020204" charset="0"/>
      <p:regular r:id="rId60"/>
    </p:embeddedFont>
    <p:embeddedFont>
      <p:font typeface="Dubai" panose="020B0503030403030204" pitchFamily="34" charset="-78"/>
      <p:regular r:id="rId61"/>
      <p:bold r:id="rId62"/>
    </p:embeddedFont>
    <p:embeddedFont>
      <p:font typeface="Montserrat" panose="00000500000000000000" pitchFamily="2" charset="0"/>
      <p:regular r:id="rId63"/>
      <p:bold r:id="rId64"/>
      <p:italic r:id="rId65"/>
      <p:boldItalic r:id="rId66"/>
    </p:embeddedFont>
    <p:embeddedFont>
      <p:font typeface="Open Sans Bold" panose="020B0604020202020204" charset="0"/>
      <p:regular r:id="rId67"/>
    </p:embeddedFont>
    <p:embeddedFont>
      <p:font typeface="Traditional Arabic" panose="02020603050405020304" pitchFamily="18" charset="-78"/>
      <p:regular r:id="rId68"/>
      <p:bold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9B3"/>
    <a:srgbClr val="FF66FF"/>
    <a:srgbClr val="EE1EC6"/>
    <a:srgbClr val="EC2099"/>
    <a:srgbClr val="FFCCFF"/>
    <a:srgbClr val="FF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43" autoAdjust="0"/>
    <p:restoredTop sz="94622" autoAdjust="0"/>
  </p:normalViewPr>
  <p:slideViewPr>
    <p:cSldViewPr>
      <p:cViewPr varScale="1">
        <p:scale>
          <a:sx n="43" d="100"/>
          <a:sy n="43" d="100"/>
        </p:scale>
        <p:origin x="127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A0468-5948-427A-9385-D29ECF58EAF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1E136-3D30-4F2C-83CD-56D9F7C1F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1E136-3D30-4F2C-83CD-56D9F7C1F3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0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vgsilh.com/image/1699635.html" TargetMode="Externa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webp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webp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web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5800" y="0"/>
            <a:ext cx="4239083" cy="10287000"/>
            <a:chOff x="0" y="0"/>
            <a:chExt cx="5652111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4069575" y="2649573"/>
            <a:ext cx="13754099" cy="1827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000"/>
              </a:lnSpc>
            </a:pPr>
            <a:r>
              <a:rPr lang="ar-EG" sz="6600" b="1" dirty="0">
                <a:solidFill>
                  <a:srgbClr val="000000"/>
                </a:solidFill>
                <a:latin typeface="Droid Arabic Naskh Bold"/>
                <a:ea typeface="Droid Arabic Naskh Bold"/>
                <a:cs typeface="Droid Arabic Naskh Bold"/>
                <a:sym typeface="Droid Arabic Naskh Bold"/>
                <a:rtl/>
              </a:rPr>
              <a:t>بيئة ذكية لتحليل الصور الطبية لأمراض نادرة اعتماداً على تقنيات التعلم العميق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78418" y="5372100"/>
            <a:ext cx="12625348" cy="368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136"/>
              </a:lnSpc>
            </a:pPr>
            <a:r>
              <a:rPr lang="ar-EG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تقديم:</a:t>
            </a:r>
          </a:p>
          <a:p>
            <a:pPr algn="ctr" rtl="1">
              <a:lnSpc>
                <a:spcPts val="4136"/>
              </a:lnSpc>
            </a:pPr>
            <a:r>
              <a:rPr lang="ar-EG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مريم </a:t>
            </a:r>
            <a:r>
              <a:rPr lang="ar-EG" sz="4500" dirty="0" err="1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خيربك</a:t>
            </a:r>
            <a:endParaRPr lang="ar-SY" sz="4500" dirty="0">
              <a:solidFill>
                <a:srgbClr val="2A0947"/>
              </a:solidFill>
              <a:latin typeface="Droid Arabic Kufi"/>
              <a:ea typeface="Droid Arabic Kufi"/>
              <a:cs typeface="Droid Arabic Kufi"/>
              <a:sym typeface="Droid Arabic Kufi"/>
              <a:rtl/>
            </a:endParaRPr>
          </a:p>
          <a:p>
            <a:pPr algn="ctr" rtl="1">
              <a:lnSpc>
                <a:spcPts val="4136"/>
              </a:lnSpc>
            </a:pPr>
            <a:endParaRPr lang="ar-SY" sz="4500" dirty="0">
              <a:solidFill>
                <a:srgbClr val="2A0947"/>
              </a:solidFill>
              <a:latin typeface="Droid Arabic Kufi"/>
              <a:ea typeface="Droid Arabic Kufi"/>
              <a:cs typeface="Droid Arabic Kufi"/>
              <a:sym typeface="Droid Arabic Kufi"/>
              <a:rtl/>
            </a:endParaRPr>
          </a:p>
          <a:p>
            <a:pPr algn="ctr" rtl="1">
              <a:lnSpc>
                <a:spcPts val="4136"/>
              </a:lnSpc>
            </a:pPr>
            <a:r>
              <a:rPr lang="ar-EG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إشراف:</a:t>
            </a:r>
          </a:p>
          <a:p>
            <a:pPr algn="ctr" rtl="1">
              <a:lnSpc>
                <a:spcPts val="4136"/>
              </a:lnSpc>
            </a:pPr>
            <a:r>
              <a:rPr lang="ar-EG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د. </a:t>
            </a:r>
            <a:r>
              <a:rPr lang="ar-SY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آ</a:t>
            </a:r>
            <a:r>
              <a:rPr lang="ar-EG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صف جعفر</a:t>
            </a:r>
            <a:r>
              <a:rPr lang="ar-SY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		</a:t>
            </a:r>
            <a:r>
              <a:rPr lang="ar-EG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د. عمر حمدون</a:t>
            </a:r>
            <a:r>
              <a:rPr lang="ar-SY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		</a:t>
            </a:r>
            <a:r>
              <a:rPr lang="ar-EG" sz="4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ما. عماد </a:t>
            </a:r>
            <a:r>
              <a:rPr lang="ar-EG" sz="4500" dirty="0" err="1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قرحيلي</a:t>
            </a:r>
            <a:endParaRPr lang="ar-SY" sz="4500" dirty="0">
              <a:solidFill>
                <a:srgbClr val="2A0947"/>
              </a:solidFill>
              <a:latin typeface="Droid Arabic Kufi"/>
              <a:ea typeface="Droid Arabic Kufi"/>
              <a:cs typeface="Droid Arabic Kufi"/>
              <a:sym typeface="Droid Arabic Kufi"/>
              <a:rtl/>
            </a:endParaRPr>
          </a:p>
          <a:p>
            <a:pPr algn="ctr" rtl="1">
              <a:lnSpc>
                <a:spcPts val="4136"/>
              </a:lnSpc>
            </a:pPr>
            <a:endParaRPr lang="ar-SY" sz="4500" dirty="0">
              <a:solidFill>
                <a:srgbClr val="2A0947"/>
              </a:solidFill>
              <a:latin typeface="Droid Arabic Kufi"/>
              <a:ea typeface="Droid Arabic Kufi"/>
              <a:cs typeface="Droid Arabic Kufi"/>
              <a:sym typeface="Droid Arabic Kufi"/>
              <a:rtl/>
            </a:endParaRPr>
          </a:p>
          <a:p>
            <a:pPr algn="ctr" rtl="1">
              <a:lnSpc>
                <a:spcPts val="4136"/>
              </a:lnSpc>
            </a:pPr>
            <a:r>
              <a:rPr lang="ar-SY" sz="2500" dirty="0">
                <a:solidFill>
                  <a:srgbClr val="2A0947"/>
                </a:solidFill>
                <a:latin typeface="Droid Arabic Kufi"/>
                <a:ea typeface="Droid Arabic Kufi"/>
                <a:cs typeface="Droid Arabic Kufi"/>
                <a:sym typeface="Droid Arabic Kufi"/>
                <a:rtl/>
              </a:rPr>
              <a:t>10 أب 2025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118095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07ABAA6B-480A-CC52-B0C8-0F8057FEAC30}"/>
              </a:ext>
            </a:extLst>
          </p:cNvPr>
          <p:cNvSpPr txBox="1"/>
          <p:nvPr/>
        </p:nvSpPr>
        <p:spPr>
          <a:xfrm>
            <a:off x="13335000" y="277775"/>
            <a:ext cx="534409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ar-SY" sz="2500" dirty="0">
                <a:latin typeface="Droid Arabic Naskh Bold" panose="020B0604020202020204" charset="0"/>
                <a:cs typeface="Droid Arabic Naskh Bold" panose="020B0604020202020204" charset="0"/>
              </a:rPr>
              <a:t>الجمهورية العربية السورية</a:t>
            </a:r>
          </a:p>
          <a:p>
            <a:pPr algn="ctr"/>
            <a:r>
              <a:rPr lang="ar-SY" sz="2500" dirty="0">
                <a:latin typeface="Droid Arabic Naskh Bold" panose="020B0604020202020204" charset="0"/>
                <a:cs typeface="Droid Arabic Naskh Bold" panose="020B0604020202020204" charset="0"/>
              </a:rPr>
              <a:t>المعهد العالي للعلوم التطبيقية والتكنولوجيا</a:t>
            </a:r>
          </a:p>
          <a:p>
            <a:pPr algn="ctr"/>
            <a:r>
              <a:rPr lang="ar-SY" sz="2500" dirty="0">
                <a:latin typeface="Droid Arabic Naskh Bold" panose="020B0604020202020204" charset="0"/>
                <a:cs typeface="Droid Arabic Naskh Bold" panose="020B0604020202020204" charset="0"/>
              </a:rPr>
              <a:t>قسم المعلوماتيّة</a:t>
            </a:r>
            <a:endParaRPr lang="en-US" sz="2500" dirty="0">
              <a:latin typeface="Droid Arabic Naskh Bold" panose="020B0604020202020204" charset="0"/>
              <a:cs typeface="Droid Arabic Naskh Bold" panose="020B060402020202020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48527A-7AEB-1043-4A7A-3E84150362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683" y="62178"/>
            <a:ext cx="2024743" cy="20247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00D79-0537-3ABE-0A2A-317DCC49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A891CA2-3520-B7B7-3A15-CC1778AC3140}"/>
              </a:ext>
            </a:extLst>
          </p:cNvPr>
          <p:cNvSpPr txBox="1"/>
          <p:nvPr/>
        </p:nvSpPr>
        <p:spPr>
          <a:xfrm>
            <a:off x="10287000" y="3657658"/>
            <a:ext cx="6793855" cy="2978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بظهور جائحة كورونا في عام 2019، والتي كانت تُعّد صنفاً جديداً من الأمراض، خُلِقَ تحدي جديد أمام نماذج التعلم العميق.</a:t>
            </a:r>
            <a:endParaRPr kumimoji="0" lang="en-US" sz="41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11414DD-A4FF-BFA8-5511-4BD9564A1D02}"/>
              </a:ext>
            </a:extLst>
          </p:cNvPr>
          <p:cNvSpPr/>
          <p:nvPr/>
        </p:nvSpPr>
        <p:spPr>
          <a:xfrm>
            <a:off x="-6096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76F3DD7-A163-14CB-4DFC-F89CEF95E934}"/>
              </a:ext>
            </a:extLst>
          </p:cNvPr>
          <p:cNvSpPr/>
          <p:nvPr/>
        </p:nvSpPr>
        <p:spPr>
          <a:xfrm>
            <a:off x="13764167" y="622180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9ADA5D0-C897-32AE-D246-2C55EE631237}"/>
              </a:ext>
            </a:extLst>
          </p:cNvPr>
          <p:cNvSpPr/>
          <p:nvPr/>
        </p:nvSpPr>
        <p:spPr>
          <a:xfrm>
            <a:off x="11792336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3AB6992-F70C-3A6B-C78E-F8718914A0CD}"/>
              </a:ext>
            </a:extLst>
          </p:cNvPr>
          <p:cNvSpPr txBox="1"/>
          <p:nvPr/>
        </p:nvSpPr>
        <p:spPr>
          <a:xfrm>
            <a:off x="2553980" y="866775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فكرة المشروع</a:t>
            </a:r>
            <a:endParaRPr kumimoji="0" lang="en-US" sz="8499" b="1" i="0" u="none" strike="noStrike" kern="1200" normalizeH="0" baseline="0" noProof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A908141-2169-E0EE-DF4D-F40E8E061BD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C29B112-219B-D0B9-437A-566B9E1EA6DF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5AD7A90-CDFA-465D-F296-2D58395EDB0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99D0EE0-162B-1536-A2CC-99A4FE7A414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B091D4B-852D-D3CB-032E-A61F9C56562F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SY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301247BF-D679-02FD-FCB4-95A781715A51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F9A29A-4EDE-A728-2671-25ADCBB61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" t="1549" r="16874" b="13037"/>
          <a:stretch>
            <a:fillRect/>
          </a:stretch>
        </p:blipFill>
        <p:spPr>
          <a:xfrm>
            <a:off x="1207145" y="2949832"/>
            <a:ext cx="7936854" cy="4766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7E56A84B-3F6E-9BFE-1604-F7D73E1DD4C3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</p:spTree>
    <p:extLst>
      <p:ext uri="{BB962C8B-B14F-4D97-AF65-F5344CB8AC3E}">
        <p14:creationId xmlns:p14="http://schemas.microsoft.com/office/powerpoint/2010/main" val="2239802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3980" y="866775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هدف المشروع</a:t>
            </a:r>
            <a:endParaRPr lang="en-US" sz="8499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8" name="Group 1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ar-SY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  <a:endParaRPr lang="en-US" sz="557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-2845001" y="43433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764167" y="772395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47003E9A-D7CA-D791-6692-05240929A802}"/>
              </a:ext>
            </a:extLst>
          </p:cNvPr>
          <p:cNvSpPr txBox="1"/>
          <p:nvPr/>
        </p:nvSpPr>
        <p:spPr>
          <a:xfrm>
            <a:off x="10316503" y="4095750"/>
            <a:ext cx="7105264" cy="3722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5852"/>
              </a:lnSpc>
            </a:pPr>
            <a:r>
              <a:rPr lang="ar-SY" sz="4000" dirty="0">
                <a:solidFill>
                  <a:srgbClr val="000000"/>
                </a:solidFill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يهدف المشروع لبناء نظام على أساس التعلم العميق يساعد في عملية الكشف عن الأمراض نادرة الانتشار أو الجديدة التي لم تتوفر لها مجموعات بيانات كافية لإجراء التدريب للنموذج الذكي</a:t>
            </a:r>
            <a:endParaRPr lang="en-US" sz="4000" dirty="0">
              <a:solidFill>
                <a:srgbClr val="000000"/>
              </a:solidFill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D46F5-F259-1773-513D-513D72C02381}"/>
              </a:ext>
            </a:extLst>
          </p:cNvPr>
          <p:cNvSpPr/>
          <p:nvPr/>
        </p:nvSpPr>
        <p:spPr>
          <a:xfrm>
            <a:off x="996148" y="3912730"/>
            <a:ext cx="3115667" cy="1104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Y" sz="3000" dirty="0"/>
              <a:t>مرض قديم ومنتشر</a:t>
            </a:r>
            <a:endParaRPr lang="en-US" sz="3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1921FE-A106-41C4-9D68-ED78809CA2B2}"/>
              </a:ext>
            </a:extLst>
          </p:cNvPr>
          <p:cNvSpPr/>
          <p:nvPr/>
        </p:nvSpPr>
        <p:spPr>
          <a:xfrm>
            <a:off x="996147" y="5305257"/>
            <a:ext cx="3115667" cy="1104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Y" sz="3000" dirty="0"/>
              <a:t>مرض نادر</a:t>
            </a:r>
            <a:endParaRPr lang="en-US" sz="3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6B2F8E-67F3-5FB7-BD02-951E2797AAD0}"/>
              </a:ext>
            </a:extLst>
          </p:cNvPr>
          <p:cNvSpPr/>
          <p:nvPr/>
        </p:nvSpPr>
        <p:spPr>
          <a:xfrm>
            <a:off x="996146" y="6822434"/>
            <a:ext cx="3115667" cy="1104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Y" sz="3000" dirty="0"/>
              <a:t>مرض جديد</a:t>
            </a:r>
            <a:endParaRPr lang="en-US" sz="30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F37536-E152-102F-BC6F-1C0845A044ED}"/>
              </a:ext>
            </a:extLst>
          </p:cNvPr>
          <p:cNvSpPr/>
          <p:nvPr/>
        </p:nvSpPr>
        <p:spPr>
          <a:xfrm>
            <a:off x="5102415" y="5017630"/>
            <a:ext cx="2191136" cy="14938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AI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DE8F98-D29A-F6D2-1FE3-86F8E4976616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4111815" y="4465180"/>
            <a:ext cx="1311484" cy="771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8DB43A-4CCA-44B4-1B58-691F5B3C77FF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4111814" y="5764560"/>
            <a:ext cx="990601" cy="93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A01884-7E48-D974-9DA9-6EEF256D6EC3}"/>
              </a:ext>
            </a:extLst>
          </p:cNvPr>
          <p:cNvCxnSpPr>
            <a:cxnSpLocks/>
            <a:stCxn id="5" idx="3"/>
            <a:endCxn id="6" idx="3"/>
          </p:cNvCxnSpPr>
          <p:nvPr/>
        </p:nvCxnSpPr>
        <p:spPr>
          <a:xfrm flipV="1">
            <a:off x="4111813" y="6292719"/>
            <a:ext cx="1311486" cy="1082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A8C58B8-6B64-28A9-13C1-03028CD2C7DE}"/>
              </a:ext>
            </a:extLst>
          </p:cNvPr>
          <p:cNvSpPr/>
          <p:nvPr/>
        </p:nvSpPr>
        <p:spPr>
          <a:xfrm>
            <a:off x="6649346" y="6803648"/>
            <a:ext cx="3115667" cy="1104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Y" sz="3000" dirty="0"/>
              <a:t>خرج التصنيف</a:t>
            </a:r>
          </a:p>
          <a:p>
            <a:pPr algn="ctr"/>
            <a:r>
              <a:rPr lang="ar-SY" sz="3000" dirty="0"/>
              <a:t>؟</a:t>
            </a:r>
            <a:endParaRPr lang="en-US" sz="3000" dirty="0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4F84F6A-F4BF-5385-6045-43E00AEA839F}"/>
              </a:ext>
            </a:extLst>
          </p:cNvPr>
          <p:cNvCxnSpPr>
            <a:stCxn id="6" idx="6"/>
            <a:endCxn id="30" idx="0"/>
          </p:cNvCxnSpPr>
          <p:nvPr/>
        </p:nvCxnSpPr>
        <p:spPr>
          <a:xfrm>
            <a:off x="7293551" y="5764560"/>
            <a:ext cx="913629" cy="10390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-5334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1716136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553980" y="342900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محتويات العرض</a:t>
            </a:r>
            <a:endParaRPr lang="en-US" sz="8499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ar-SY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  <a:endParaRPr lang="en-US" sz="557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6" name="Group 3">
            <a:extLst>
              <a:ext uri="{FF2B5EF4-FFF2-40B4-BE49-F238E27FC236}">
                <a16:creationId xmlns:a16="http://schemas.microsoft.com/office/drawing/2014/main" id="{1C428525-C521-504A-C201-259EDE326A6C}"/>
              </a:ext>
            </a:extLst>
          </p:cNvPr>
          <p:cNvGrpSpPr/>
          <p:nvPr/>
        </p:nvGrpSpPr>
        <p:grpSpPr>
          <a:xfrm>
            <a:off x="11698459" y="3268192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47" name="Group 4">
              <a:extLst>
                <a:ext uri="{FF2B5EF4-FFF2-40B4-BE49-F238E27FC236}">
                  <a16:creationId xmlns:a16="http://schemas.microsoft.com/office/drawing/2014/main" id="{5884809C-C95F-4EA0-C3CA-7AEAD8D4345B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C442970-5460-9783-B57C-C120EBFEB7AC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50" name="TextBox 6">
                <a:extLst>
                  <a:ext uri="{FF2B5EF4-FFF2-40B4-BE49-F238E27FC236}">
                    <a16:creationId xmlns:a16="http://schemas.microsoft.com/office/drawing/2014/main" id="{30A508A7-BF49-112F-2388-2541FBCFF7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7">
              <a:extLst>
                <a:ext uri="{FF2B5EF4-FFF2-40B4-BE49-F238E27FC236}">
                  <a16:creationId xmlns:a16="http://schemas.microsoft.com/office/drawing/2014/main" id="{AF2E66E8-594B-3EC7-B0BD-32BE9CA51611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8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الدراسة المرجعية</a:t>
              </a:r>
              <a:endParaRPr lang="en-US" sz="38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52" name="Google Shape;199;p32">
            <a:extLst>
              <a:ext uri="{FF2B5EF4-FFF2-40B4-BE49-F238E27FC236}">
                <a16:creationId xmlns:a16="http://schemas.microsoft.com/office/drawing/2014/main" id="{6F59003E-6063-77B3-07CA-913510D5C8D3}"/>
              </a:ext>
            </a:extLst>
          </p:cNvPr>
          <p:cNvSpPr txBox="1">
            <a:spLocks/>
          </p:cNvSpPr>
          <p:nvPr/>
        </p:nvSpPr>
        <p:spPr>
          <a:xfrm>
            <a:off x="15009413" y="3219010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01</a:t>
            </a:r>
          </a:p>
        </p:txBody>
      </p:sp>
      <p:grpSp>
        <p:nvGrpSpPr>
          <p:cNvPr id="53" name="Group 3">
            <a:extLst>
              <a:ext uri="{FF2B5EF4-FFF2-40B4-BE49-F238E27FC236}">
                <a16:creationId xmlns:a16="http://schemas.microsoft.com/office/drawing/2014/main" id="{616FCAB0-4F32-4D25-CFA4-84AC2F3341A5}"/>
              </a:ext>
            </a:extLst>
          </p:cNvPr>
          <p:cNvGrpSpPr/>
          <p:nvPr/>
        </p:nvGrpSpPr>
        <p:grpSpPr>
          <a:xfrm>
            <a:off x="11699034" y="4945304"/>
            <a:ext cx="3142129" cy="931128"/>
            <a:chOff x="0" y="0"/>
            <a:chExt cx="8868713" cy="3287792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AFB421A4-C2FB-C8A9-5DD5-BB0BF402C0F6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19DE40E9-11D8-041F-3ADE-B829DD414C2A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57" name="TextBox 6">
                <a:extLst>
                  <a:ext uri="{FF2B5EF4-FFF2-40B4-BE49-F238E27FC236}">
                    <a16:creationId xmlns:a16="http://schemas.microsoft.com/office/drawing/2014/main" id="{59298FA5-A518-6917-0C1B-9CCB1DF0FE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5" name="TextBox 7">
              <a:extLst>
                <a:ext uri="{FF2B5EF4-FFF2-40B4-BE49-F238E27FC236}">
                  <a16:creationId xmlns:a16="http://schemas.microsoft.com/office/drawing/2014/main" id="{D15D8227-A537-6BC7-9799-F08BF5D0E25F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6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شرح العمل المنجز</a:t>
              </a:r>
              <a:endParaRPr lang="en-US" sz="3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58" name="Google Shape;199;p32">
            <a:extLst>
              <a:ext uri="{FF2B5EF4-FFF2-40B4-BE49-F238E27FC236}">
                <a16:creationId xmlns:a16="http://schemas.microsoft.com/office/drawing/2014/main" id="{B83BEB8D-E687-8240-A665-B39D5283C365}"/>
              </a:ext>
            </a:extLst>
          </p:cNvPr>
          <p:cNvSpPr txBox="1">
            <a:spLocks/>
          </p:cNvSpPr>
          <p:nvPr/>
        </p:nvSpPr>
        <p:spPr>
          <a:xfrm>
            <a:off x="15009988" y="489612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9113A870-4E15-5965-41A1-51C51BBC3F1E}"/>
              </a:ext>
            </a:extLst>
          </p:cNvPr>
          <p:cNvGrpSpPr/>
          <p:nvPr/>
        </p:nvGrpSpPr>
        <p:grpSpPr>
          <a:xfrm>
            <a:off x="4080446" y="4221914"/>
            <a:ext cx="3142129" cy="931128"/>
            <a:chOff x="0" y="0"/>
            <a:chExt cx="8868713" cy="3287792"/>
          </a:xfrm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192156E0-C7E0-7D89-D76C-19B132DB564F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62" name="Freeform 5">
                <a:extLst>
                  <a:ext uri="{FF2B5EF4-FFF2-40B4-BE49-F238E27FC236}">
                    <a16:creationId xmlns:a16="http://schemas.microsoft.com/office/drawing/2014/main" id="{D52F4EBA-7E34-6E6C-7690-76B5ACD83DB9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3" name="TextBox 6">
                <a:extLst>
                  <a:ext uri="{FF2B5EF4-FFF2-40B4-BE49-F238E27FC236}">
                    <a16:creationId xmlns:a16="http://schemas.microsoft.com/office/drawing/2014/main" id="{620E5907-96E1-0B1C-053F-CB0FB86256B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1" name="TextBox 7">
              <a:extLst>
                <a:ext uri="{FF2B5EF4-FFF2-40B4-BE49-F238E27FC236}">
                  <a16:creationId xmlns:a16="http://schemas.microsoft.com/office/drawing/2014/main" id="{0164B7F2-0E0B-6EED-045C-E96ADF3D36DF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النموذج المقترح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64" name="Google Shape;199;p32">
            <a:extLst>
              <a:ext uri="{FF2B5EF4-FFF2-40B4-BE49-F238E27FC236}">
                <a16:creationId xmlns:a16="http://schemas.microsoft.com/office/drawing/2014/main" id="{C9E6DAE4-BBC5-4583-C252-6DA352485B02}"/>
              </a:ext>
            </a:extLst>
          </p:cNvPr>
          <p:cNvSpPr txBox="1">
            <a:spLocks/>
          </p:cNvSpPr>
          <p:nvPr/>
        </p:nvSpPr>
        <p:spPr>
          <a:xfrm>
            <a:off x="7391400" y="417273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65" name="Group 3">
            <a:extLst>
              <a:ext uri="{FF2B5EF4-FFF2-40B4-BE49-F238E27FC236}">
                <a16:creationId xmlns:a16="http://schemas.microsoft.com/office/drawing/2014/main" id="{3F9DAFE9-89FA-E082-B06D-20FB8E428E62}"/>
              </a:ext>
            </a:extLst>
          </p:cNvPr>
          <p:cNvGrpSpPr/>
          <p:nvPr/>
        </p:nvGrpSpPr>
        <p:grpSpPr>
          <a:xfrm>
            <a:off x="4080446" y="5601151"/>
            <a:ext cx="3142129" cy="931128"/>
            <a:chOff x="0" y="0"/>
            <a:chExt cx="8868713" cy="3287792"/>
          </a:xfrm>
        </p:grpSpPr>
        <p:grpSp>
          <p:nvGrpSpPr>
            <p:cNvPr id="66" name="Group 4">
              <a:extLst>
                <a:ext uri="{FF2B5EF4-FFF2-40B4-BE49-F238E27FC236}">
                  <a16:creationId xmlns:a16="http://schemas.microsoft.com/office/drawing/2014/main" id="{FFE498DA-F88F-BD14-CCF4-F905E6229B33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68" name="Freeform 5">
                <a:extLst>
                  <a:ext uri="{FF2B5EF4-FFF2-40B4-BE49-F238E27FC236}">
                    <a16:creationId xmlns:a16="http://schemas.microsoft.com/office/drawing/2014/main" id="{18FB69BE-8BD0-C896-95E3-10D847E8B79A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9" name="TextBox 6">
                <a:extLst>
                  <a:ext uri="{FF2B5EF4-FFF2-40B4-BE49-F238E27FC236}">
                    <a16:creationId xmlns:a16="http://schemas.microsoft.com/office/drawing/2014/main" id="{5C6B7A1E-2E8A-0C82-BA63-3BD3ED210A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7" name="TextBox 7">
              <a:extLst>
                <a:ext uri="{FF2B5EF4-FFF2-40B4-BE49-F238E27FC236}">
                  <a16:creationId xmlns:a16="http://schemas.microsoft.com/office/drawing/2014/main" id="{2F132D58-81AF-AA82-21E5-A2030611BC57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التجارب والنتائج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70" name="Google Shape;199;p32">
            <a:extLst>
              <a:ext uri="{FF2B5EF4-FFF2-40B4-BE49-F238E27FC236}">
                <a16:creationId xmlns:a16="http://schemas.microsoft.com/office/drawing/2014/main" id="{957CD1E6-747C-F2B8-71DA-742D6D715EBD}"/>
              </a:ext>
            </a:extLst>
          </p:cNvPr>
          <p:cNvSpPr txBox="1">
            <a:spLocks/>
          </p:cNvSpPr>
          <p:nvPr/>
        </p:nvSpPr>
        <p:spPr>
          <a:xfrm>
            <a:off x="7391400" y="555196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71" name="Group 3">
            <a:extLst>
              <a:ext uri="{FF2B5EF4-FFF2-40B4-BE49-F238E27FC236}">
                <a16:creationId xmlns:a16="http://schemas.microsoft.com/office/drawing/2014/main" id="{048DB01B-4838-F34A-F41B-35E70C4B80D8}"/>
              </a:ext>
            </a:extLst>
          </p:cNvPr>
          <p:cNvGrpSpPr/>
          <p:nvPr/>
        </p:nvGrpSpPr>
        <p:grpSpPr>
          <a:xfrm>
            <a:off x="4080446" y="7017386"/>
            <a:ext cx="3142129" cy="931128"/>
            <a:chOff x="0" y="0"/>
            <a:chExt cx="8868713" cy="3287792"/>
          </a:xfrm>
        </p:grpSpPr>
        <p:grpSp>
          <p:nvGrpSpPr>
            <p:cNvPr id="72" name="Group 4">
              <a:extLst>
                <a:ext uri="{FF2B5EF4-FFF2-40B4-BE49-F238E27FC236}">
                  <a16:creationId xmlns:a16="http://schemas.microsoft.com/office/drawing/2014/main" id="{8C8D675B-3967-6108-5D69-EFBDCDD084A8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74" name="Freeform 5">
                <a:extLst>
                  <a:ext uri="{FF2B5EF4-FFF2-40B4-BE49-F238E27FC236}">
                    <a16:creationId xmlns:a16="http://schemas.microsoft.com/office/drawing/2014/main" id="{7F3B2EDF-A228-ADCE-D8A0-3A716CC97E38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75" name="TextBox 6">
                <a:extLst>
                  <a:ext uri="{FF2B5EF4-FFF2-40B4-BE49-F238E27FC236}">
                    <a16:creationId xmlns:a16="http://schemas.microsoft.com/office/drawing/2014/main" id="{03736541-F2AD-0AB3-332E-36377F310BF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3" name="TextBox 7">
              <a:extLst>
                <a:ext uri="{FF2B5EF4-FFF2-40B4-BE49-F238E27FC236}">
                  <a16:creationId xmlns:a16="http://schemas.microsoft.com/office/drawing/2014/main" id="{DF59E279-F22A-49B7-F440-4EE77BF0FEFC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القسم البرمجي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76" name="Google Shape;199;p32">
            <a:extLst>
              <a:ext uri="{FF2B5EF4-FFF2-40B4-BE49-F238E27FC236}">
                <a16:creationId xmlns:a16="http://schemas.microsoft.com/office/drawing/2014/main" id="{C16967C4-1332-2865-EA68-847320CED0A4}"/>
              </a:ext>
            </a:extLst>
          </p:cNvPr>
          <p:cNvSpPr txBox="1">
            <a:spLocks/>
          </p:cNvSpPr>
          <p:nvPr/>
        </p:nvSpPr>
        <p:spPr>
          <a:xfrm>
            <a:off x="7391400" y="6968204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77" name="Group 3">
            <a:extLst>
              <a:ext uri="{FF2B5EF4-FFF2-40B4-BE49-F238E27FC236}">
                <a16:creationId xmlns:a16="http://schemas.microsoft.com/office/drawing/2014/main" id="{32110325-824F-1763-EC9F-8413AE09FF43}"/>
              </a:ext>
            </a:extLst>
          </p:cNvPr>
          <p:cNvGrpSpPr/>
          <p:nvPr/>
        </p:nvGrpSpPr>
        <p:grpSpPr>
          <a:xfrm>
            <a:off x="11698457" y="6579011"/>
            <a:ext cx="3142129" cy="931128"/>
            <a:chOff x="0" y="0"/>
            <a:chExt cx="8868713" cy="3287792"/>
          </a:xfrm>
        </p:grpSpPr>
        <p:grpSp>
          <p:nvGrpSpPr>
            <p:cNvPr id="78" name="Group 4">
              <a:extLst>
                <a:ext uri="{FF2B5EF4-FFF2-40B4-BE49-F238E27FC236}">
                  <a16:creationId xmlns:a16="http://schemas.microsoft.com/office/drawing/2014/main" id="{24B63837-F91F-F475-854E-6FEA9A1683E5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80" name="Freeform 5">
                <a:extLst>
                  <a:ext uri="{FF2B5EF4-FFF2-40B4-BE49-F238E27FC236}">
                    <a16:creationId xmlns:a16="http://schemas.microsoft.com/office/drawing/2014/main" id="{9E7FB155-8C45-D3CD-975B-48BA1D5473D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1" name="TextBox 6">
                <a:extLst>
                  <a:ext uri="{FF2B5EF4-FFF2-40B4-BE49-F238E27FC236}">
                    <a16:creationId xmlns:a16="http://schemas.microsoft.com/office/drawing/2014/main" id="{6141B5EF-5DB1-D611-185E-92072AFA19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 rtl="1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9" name="TextBox 7">
              <a:extLst>
                <a:ext uri="{FF2B5EF4-FFF2-40B4-BE49-F238E27FC236}">
                  <a16:creationId xmlns:a16="http://schemas.microsoft.com/office/drawing/2014/main" id="{2B1203D5-749F-242E-B448-0F906C2C42F2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الخاتمة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2" name="Google Shape;199;p32">
            <a:extLst>
              <a:ext uri="{FF2B5EF4-FFF2-40B4-BE49-F238E27FC236}">
                <a16:creationId xmlns:a16="http://schemas.microsoft.com/office/drawing/2014/main" id="{4CD1A034-910A-162F-6D71-1175392433F7}"/>
              </a:ext>
            </a:extLst>
          </p:cNvPr>
          <p:cNvSpPr txBox="1">
            <a:spLocks/>
          </p:cNvSpPr>
          <p:nvPr/>
        </p:nvSpPr>
        <p:spPr>
          <a:xfrm>
            <a:off x="15009411" y="652982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03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15" name="Group 3">
            <a:extLst>
              <a:ext uri="{FF2B5EF4-FFF2-40B4-BE49-F238E27FC236}">
                <a16:creationId xmlns:a16="http://schemas.microsoft.com/office/drawing/2014/main" id="{FE97C018-19E9-FC05-D951-B923C9A03F47}"/>
              </a:ext>
            </a:extLst>
          </p:cNvPr>
          <p:cNvGrpSpPr/>
          <p:nvPr/>
        </p:nvGrpSpPr>
        <p:grpSpPr>
          <a:xfrm>
            <a:off x="4080446" y="2831765"/>
            <a:ext cx="3142129" cy="931128"/>
            <a:chOff x="0" y="0"/>
            <a:chExt cx="8868713" cy="3287792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854DB2EF-2040-7E0C-FA2F-9556A36F12D7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2FD26CA-42A9-B08C-85BC-35E179E16D0C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EC457AB6-1F2F-6B74-B809-D41E01418D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3A468D27-B208-0799-7A99-48DF2C651603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مجموعة البيانات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20" name="Google Shape;199;p32">
            <a:extLst>
              <a:ext uri="{FF2B5EF4-FFF2-40B4-BE49-F238E27FC236}">
                <a16:creationId xmlns:a16="http://schemas.microsoft.com/office/drawing/2014/main" id="{6446FE13-5E9E-C06F-CF79-E92A13BF8D13}"/>
              </a:ext>
            </a:extLst>
          </p:cNvPr>
          <p:cNvSpPr txBox="1">
            <a:spLocks/>
          </p:cNvSpPr>
          <p:nvPr/>
        </p:nvSpPr>
        <p:spPr>
          <a:xfrm>
            <a:off x="7391400" y="2782583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804A210-9177-534C-7B03-23C0635EBE1D}"/>
              </a:ext>
            </a:extLst>
          </p:cNvPr>
          <p:cNvCxnSpPr>
            <a:stCxn id="55" idx="1"/>
          </p:cNvCxnSpPr>
          <p:nvPr/>
        </p:nvCxnSpPr>
        <p:spPr>
          <a:xfrm rot="10800000">
            <a:off x="8840612" y="3213567"/>
            <a:ext cx="3059164" cy="2208256"/>
          </a:xfrm>
          <a:prstGeom prst="bentConnector3">
            <a:avLst/>
          </a:prstGeom>
          <a:ln>
            <a:solidFill>
              <a:srgbClr val="FF66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DC5ED69-A66E-15D1-5C61-991E337A08BF}"/>
              </a:ext>
            </a:extLst>
          </p:cNvPr>
          <p:cNvCxnSpPr>
            <a:endCxn id="64" idx="3"/>
          </p:cNvCxnSpPr>
          <p:nvPr/>
        </p:nvCxnSpPr>
        <p:spPr>
          <a:xfrm rot="10800000">
            <a:off x="8840613" y="4665610"/>
            <a:ext cx="3058587" cy="756215"/>
          </a:xfrm>
          <a:prstGeom prst="bentConnector3">
            <a:avLst/>
          </a:prstGeom>
          <a:ln>
            <a:solidFill>
              <a:srgbClr val="F159B3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C652636-7AC6-F569-0C87-6E4805C1A079}"/>
              </a:ext>
            </a:extLst>
          </p:cNvPr>
          <p:cNvCxnSpPr>
            <a:stCxn id="55" idx="1"/>
            <a:endCxn id="70" idx="3"/>
          </p:cNvCxnSpPr>
          <p:nvPr/>
        </p:nvCxnSpPr>
        <p:spPr>
          <a:xfrm rot="10800000" flipV="1">
            <a:off x="8840612" y="5421822"/>
            <a:ext cx="3059164" cy="623023"/>
          </a:xfrm>
          <a:prstGeom prst="bentConnector3">
            <a:avLst/>
          </a:prstGeom>
          <a:ln>
            <a:solidFill>
              <a:srgbClr val="EC2099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5041A83-CD47-1F4F-861A-006E8FB432F7}"/>
              </a:ext>
            </a:extLst>
          </p:cNvPr>
          <p:cNvCxnSpPr>
            <a:endCxn id="76" idx="3"/>
          </p:cNvCxnSpPr>
          <p:nvPr/>
        </p:nvCxnSpPr>
        <p:spPr>
          <a:xfrm rot="10800000" flipV="1">
            <a:off x="8840613" y="5421821"/>
            <a:ext cx="3058587" cy="2039259"/>
          </a:xfrm>
          <a:prstGeom prst="bentConnector3">
            <a:avLst/>
          </a:prstGeom>
          <a:ln>
            <a:solidFill>
              <a:srgbClr val="EE1EC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F27CC1FD-3238-1A6C-D0C7-E120DFF3A9D4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A4EDB-9838-5E98-D49D-05CDE7C7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00FDBAB-655F-5596-D1BA-98AF88463F4A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ABB90A-517A-C76C-0EBB-4D15E2F514FF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الدراسة</a:t>
            </a:r>
            <a:r>
              <a:rPr kumimoji="0" lang="ar-SY" sz="84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 </a:t>
            </a: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المرجعية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38D5041-B9B5-4B34-6883-ADAA9CF96A77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D42CD617-D6F0-CFEF-FBD8-AB80B06F8AB4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4B79F29-4A97-4913-F788-ACA66439925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EDD0FB78-2871-8FEF-E70B-E14E6E1C0C5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F246A09-37B5-0051-48E0-EEC73640764E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38308CC-78B1-F8A5-2148-62C48EE5A78E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6219DA-6220-4516-9B19-C6AB50064CA1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735601-7414-1375-03B0-6B9D31105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86222"/>
              </p:ext>
            </p:extLst>
          </p:nvPr>
        </p:nvGraphicFramePr>
        <p:xfrm>
          <a:off x="814116" y="3140488"/>
          <a:ext cx="16659766" cy="4724400"/>
        </p:xfrm>
        <a:graphic>
          <a:graphicData uri="http://schemas.openxmlformats.org/drawingml/2006/table">
            <a:tbl>
              <a:tblPr firstRow="1" bandRow="1"/>
              <a:tblGrid>
                <a:gridCol w="6109848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6508817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4041101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37717"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>
                          <a:latin typeface="Alatsi" panose="020B0604020202020204" charset="0"/>
                        </a:rPr>
                        <a:t>الورقة الثانية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>
                          <a:latin typeface="Alatsi" panose="020B0604020202020204" charset="0"/>
                        </a:rPr>
                        <a:t>الورقة الأولى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>
                          <a:latin typeface="Alatsi" panose="020B0604020202020204" charset="0"/>
                        </a:rPr>
                        <a:t>صور أشعة سينية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>
                          <a:latin typeface="Alatsi" panose="020B0604020202020204" charset="0"/>
                        </a:rPr>
                        <a:t>عدد من صور الطيور والنباتات المتنوعة والسيارات والأطعمة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>
                          <a:latin typeface="Alatsi" panose="020B0604020202020204" charset="0"/>
                        </a:rPr>
                        <a:t>مجموعة البيانات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 err="1">
                          <a:latin typeface="Alatsi" panose="020B0604020202020204" charset="0"/>
                        </a:rPr>
                        <a:t>medCLIP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>
                          <a:latin typeface="Alatsi" panose="020B0604020202020204" charset="0"/>
                        </a:rPr>
                        <a:t>CLIP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Y" sz="4000" dirty="0">
                          <a:latin typeface="Alatsi" panose="020B0604020202020204" charset="0"/>
                        </a:rPr>
                        <a:t>النموذج المستخدم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52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latin typeface="Alatsi" panose="020B0604020202020204" charset="0"/>
                        </a:rPr>
                        <a:t>Accuracy for zero-shot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>
                          <a:latin typeface="Alatsi" panose="020B0604020202020204" charset="0"/>
                        </a:rPr>
                        <a:t>Accuracy for zero-shot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Y" sz="4000" dirty="0">
                          <a:latin typeface="Alatsi" panose="020B0604020202020204" charset="0"/>
                        </a:rPr>
                        <a:t>المعيار المقارن به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>
                          <a:latin typeface="Alatsi" panose="020B0604020202020204" charset="0"/>
                        </a:rPr>
                        <a:t>تدريب نموذج قادر على التعامل مع صور الأشعة السينية والتقارير الطبية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>
                          <a:latin typeface="Alatsi" panose="020B0604020202020204" charset="0"/>
                        </a:rPr>
                        <a:t>دراسة تأثير العبارات </a:t>
                      </a:r>
                      <a:r>
                        <a:rPr lang="ar-SY" sz="4000" dirty="0" err="1">
                          <a:latin typeface="Alatsi" panose="020B0604020202020204" charset="0"/>
                        </a:rPr>
                        <a:t>التوصيفية</a:t>
                      </a:r>
                      <a:r>
                        <a:rPr lang="ar-SY" sz="4000" dirty="0">
                          <a:latin typeface="Alatsi" panose="020B0604020202020204" charset="0"/>
                        </a:rPr>
                        <a:t> على التصنيف الصفري</a:t>
                      </a:r>
                      <a:endParaRPr lang="en-US" sz="4000" dirty="0">
                        <a:latin typeface="Alatsi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Y" sz="3600" dirty="0">
                          <a:latin typeface="Alatsi" panose="020B0604020202020204" charset="0"/>
                        </a:rPr>
                        <a:t>إشكالية البحث</a:t>
                      </a:r>
                      <a:endParaRPr lang="en-US" sz="3600" dirty="0">
                        <a:latin typeface="Alatsi" panose="020B0604020202020204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815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خرج الدراسة</a:t>
            </a:r>
            <a:r>
              <a:rPr lang="ar-SY" sz="8499" dirty="0">
                <a:solidFill>
                  <a:srgbClr val="000000"/>
                </a:solidFill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 </a:t>
            </a: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المرجعية</a:t>
            </a:r>
            <a:endParaRPr lang="en-US" sz="8499" dirty="0">
              <a:solidFill>
                <a:srgbClr val="000000"/>
              </a:solidFill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55421" y="2948971"/>
            <a:ext cx="15085039" cy="593111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52"/>
              </a:lnSpc>
            </a:pPr>
            <a:endParaRPr lang="en-US" sz="4180" dirty="0">
              <a:solidFill>
                <a:srgbClr val="EC2099"/>
              </a:solidFill>
              <a:latin typeface="Alatsi"/>
              <a:ea typeface="Alatsi"/>
              <a:cs typeface="Alatsi"/>
              <a:sym typeface="Alatsi"/>
            </a:endParaRPr>
          </a:p>
          <a:p>
            <a:pPr marL="571500" indent="-571500" algn="ctr">
              <a:lnSpc>
                <a:spcPts val="5852"/>
              </a:lnSpc>
              <a:buFont typeface="Wingdings" panose="05000000000000000000" pitchFamily="2" charset="2"/>
              <a:buChar char="q"/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Few-shot learning</a:t>
            </a:r>
            <a:endParaRPr lang="ar-SY" sz="418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  <a:p>
            <a:pPr marL="571500" indent="-571500" algn="ctr">
              <a:lnSpc>
                <a:spcPts val="5852"/>
              </a:lnSpc>
              <a:buFont typeface="Wingdings" panose="05000000000000000000" pitchFamily="2" charset="2"/>
              <a:buChar char="q"/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Zero-shot learning</a:t>
            </a:r>
          </a:p>
          <a:p>
            <a:pPr algn="ctr">
              <a:lnSpc>
                <a:spcPts val="5852"/>
              </a:lnSpc>
            </a:pPr>
            <a:endParaRPr lang="en-US" sz="418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  <a:p>
            <a:pPr algn="ctr">
              <a:lnSpc>
                <a:spcPts val="5852"/>
              </a:lnSpc>
            </a:pPr>
            <a:r>
              <a:rPr lang="ar-SY" sz="4180" dirty="0">
                <a:solidFill>
                  <a:srgbClr val="EC2099"/>
                </a:solidFill>
                <a:latin typeface="Alatsi"/>
                <a:ea typeface="Alatsi"/>
                <a:cs typeface="Alatsi"/>
                <a:sym typeface="Alatsi"/>
              </a:rPr>
              <a:t>بشكل أساسي اعتمدت الأبحاث التي تعمل على الكشف من دون تدريب مسبق على نموذج رؤية-لغة من نوع</a:t>
            </a:r>
          </a:p>
          <a:p>
            <a:pPr marL="571500" indent="-571500" algn="ctr">
              <a:lnSpc>
                <a:spcPts val="5852"/>
              </a:lnSpc>
              <a:buFont typeface="Wingdings" panose="05000000000000000000" pitchFamily="2" charset="2"/>
              <a:buChar char="q"/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Contrastive language Image Pretrained (CLIP)</a:t>
            </a:r>
            <a:endParaRPr lang="ar-SY" sz="418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  <a:p>
            <a:pPr marL="571500" indent="-571500" algn="ctr">
              <a:lnSpc>
                <a:spcPts val="5852"/>
              </a:lnSpc>
              <a:buFont typeface="Wingdings" panose="05000000000000000000" pitchFamily="2" charset="2"/>
              <a:buChar char="q"/>
            </a:pPr>
            <a:endParaRPr lang="ar-SY" sz="20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DF35AA-FE3F-1A0E-C553-117D5EA348AF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DCC5B-FDB3-0D58-8C3F-F1BD666B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AC8076CD-C16E-8DE9-AD66-0053AB5A539C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39D9C3E-143E-2534-1595-F45304652B88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CLIP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B89F0B9-B263-15AE-983E-BDA73DEA4438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3EDE2E4A-7132-CA45-2CB5-7632C2729BF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7BA9F0E5-DE94-25C9-16E3-42617A4DBE5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81104DE-6FF1-EB97-A458-DFB1B4466E2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12F95AF-B095-EDA6-4B0B-DDE7013A9F8A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F83D734C-08C4-7BCD-B71C-D8CC133A0A73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0F2AC7-5BB2-EAE1-E115-6BA14F835A17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EAD1952-E1FA-84A6-5BE0-FF74DD7094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85" r="133" b="233"/>
          <a:stretch>
            <a:fillRect/>
          </a:stretch>
        </p:blipFill>
        <p:spPr bwMode="auto">
          <a:xfrm>
            <a:off x="2933699" y="2351780"/>
            <a:ext cx="12420600" cy="7031287"/>
          </a:xfrm>
          <a:prstGeom prst="rect">
            <a:avLst/>
          </a:prstGeom>
          <a:ln w="317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2925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BDC87-1339-2965-6BB5-7DB7AEC5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15882EB8-B196-749F-B068-50B960FB4C9E}"/>
              </a:ext>
            </a:extLst>
          </p:cNvPr>
          <p:cNvSpPr/>
          <p:nvPr/>
        </p:nvSpPr>
        <p:spPr>
          <a:xfrm>
            <a:off x="-4572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6E278F0-061D-860B-FC3E-CB5DCB87F237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F979B26-913D-A8BE-E24D-5A2F55C1A671}"/>
              </a:ext>
            </a:extLst>
          </p:cNvPr>
          <p:cNvSpPr/>
          <p:nvPr/>
        </p:nvSpPr>
        <p:spPr>
          <a:xfrm>
            <a:off x="11639936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0785405-066D-BE5F-DB85-D7BEF82EEC72}"/>
              </a:ext>
            </a:extLst>
          </p:cNvPr>
          <p:cNvSpPr txBox="1"/>
          <p:nvPr/>
        </p:nvSpPr>
        <p:spPr>
          <a:xfrm>
            <a:off x="2553980" y="571500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محتويات العرض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F622B63-35C6-8D84-AB13-9BB9F5EFFB36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925D41E-2C6E-EC8E-CC66-74DFDCD1D9B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E2CD94F-02FE-0A39-9E90-7DB26331A77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BBC56E9-D229-B7DB-5260-C1E0027756E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00DBEC6-6872-FD1F-48C7-9C1576798BD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F47769B7-BAA5-4D3D-D732-F67F4D39D790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17F9D14A-7C17-94EE-70B6-8F6F8E091781}"/>
              </a:ext>
            </a:extLst>
          </p:cNvPr>
          <p:cNvGrpSpPr/>
          <p:nvPr/>
        </p:nvGrpSpPr>
        <p:grpSpPr>
          <a:xfrm>
            <a:off x="11698459" y="3268192"/>
            <a:ext cx="3142129" cy="931128"/>
            <a:chOff x="0" y="0"/>
            <a:chExt cx="8868713" cy="3287792"/>
          </a:xfrm>
        </p:grpSpPr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DF91F5E7-17F5-9A88-CA40-3AEC884B4683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21" name="Freeform 5">
                <a:extLst>
                  <a:ext uri="{FF2B5EF4-FFF2-40B4-BE49-F238E27FC236}">
                    <a16:creationId xmlns:a16="http://schemas.microsoft.com/office/drawing/2014/main" id="{FF4FAF07-6F2F-EC9E-CFCB-4062827E98F9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22" name="TextBox 6">
                <a:extLst>
                  <a:ext uri="{FF2B5EF4-FFF2-40B4-BE49-F238E27FC236}">
                    <a16:creationId xmlns:a16="http://schemas.microsoft.com/office/drawing/2014/main" id="{958E087F-2595-F9F1-572C-664D1AD56B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08DB4121-08E5-B904-4D9A-EB9618DE7B04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8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الدراسة المرجعية</a:t>
              </a:r>
              <a:endParaRPr lang="en-US" sz="38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23" name="Google Shape;199;p32">
            <a:extLst>
              <a:ext uri="{FF2B5EF4-FFF2-40B4-BE49-F238E27FC236}">
                <a16:creationId xmlns:a16="http://schemas.microsoft.com/office/drawing/2014/main" id="{E4F64DE0-2889-0396-5A43-59E4013E7C6D}"/>
              </a:ext>
            </a:extLst>
          </p:cNvPr>
          <p:cNvSpPr txBox="1">
            <a:spLocks/>
          </p:cNvSpPr>
          <p:nvPr/>
        </p:nvSpPr>
        <p:spPr>
          <a:xfrm>
            <a:off x="15009413" y="3219010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01</a:t>
            </a:r>
          </a:p>
        </p:txBody>
      </p:sp>
      <p:grpSp>
        <p:nvGrpSpPr>
          <p:cNvPr id="24" name="Group 3">
            <a:extLst>
              <a:ext uri="{FF2B5EF4-FFF2-40B4-BE49-F238E27FC236}">
                <a16:creationId xmlns:a16="http://schemas.microsoft.com/office/drawing/2014/main" id="{79AB9C05-AD5A-09BB-790C-D76D11762AEB}"/>
              </a:ext>
            </a:extLst>
          </p:cNvPr>
          <p:cNvGrpSpPr/>
          <p:nvPr/>
        </p:nvGrpSpPr>
        <p:grpSpPr>
          <a:xfrm>
            <a:off x="11699034" y="4945304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25" name="Group 4">
              <a:extLst>
                <a:ext uri="{FF2B5EF4-FFF2-40B4-BE49-F238E27FC236}">
                  <a16:creationId xmlns:a16="http://schemas.microsoft.com/office/drawing/2014/main" id="{81194EE1-4423-FB78-D514-4AB7FEEC0375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D9018EA2-86A9-6261-CC63-CED8113E187B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28" name="TextBox 6">
                <a:extLst>
                  <a:ext uri="{FF2B5EF4-FFF2-40B4-BE49-F238E27FC236}">
                    <a16:creationId xmlns:a16="http://schemas.microsoft.com/office/drawing/2014/main" id="{7CD0FFCA-1F88-015F-614A-1106540B7D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BCA046BB-AC0C-B24C-6212-4BDF027FBCB3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6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شرح العمل المنجز</a:t>
              </a:r>
              <a:endParaRPr lang="en-US" sz="3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29" name="Google Shape;199;p32">
            <a:extLst>
              <a:ext uri="{FF2B5EF4-FFF2-40B4-BE49-F238E27FC236}">
                <a16:creationId xmlns:a16="http://schemas.microsoft.com/office/drawing/2014/main" id="{068918FF-E829-95B8-8D21-88F94102FC64}"/>
              </a:ext>
            </a:extLst>
          </p:cNvPr>
          <p:cNvSpPr txBox="1">
            <a:spLocks/>
          </p:cNvSpPr>
          <p:nvPr/>
        </p:nvSpPr>
        <p:spPr>
          <a:xfrm>
            <a:off x="15009988" y="489612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30" name="Group 3">
            <a:extLst>
              <a:ext uri="{FF2B5EF4-FFF2-40B4-BE49-F238E27FC236}">
                <a16:creationId xmlns:a16="http://schemas.microsoft.com/office/drawing/2014/main" id="{21B6F7A4-876B-0DD0-E40F-601E000AF844}"/>
              </a:ext>
            </a:extLst>
          </p:cNvPr>
          <p:cNvGrpSpPr/>
          <p:nvPr/>
        </p:nvGrpSpPr>
        <p:grpSpPr>
          <a:xfrm>
            <a:off x="4080446" y="4221914"/>
            <a:ext cx="3142129" cy="931128"/>
            <a:chOff x="0" y="0"/>
            <a:chExt cx="8868713" cy="3287792"/>
          </a:xfrm>
        </p:grpSpPr>
        <p:grpSp>
          <p:nvGrpSpPr>
            <p:cNvPr id="31" name="Group 4">
              <a:extLst>
                <a:ext uri="{FF2B5EF4-FFF2-40B4-BE49-F238E27FC236}">
                  <a16:creationId xmlns:a16="http://schemas.microsoft.com/office/drawing/2014/main" id="{56439DFD-82C8-C439-A7A2-C0C38FAE5BB5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597CEA94-9FC5-D02E-BB84-24C7C32E5805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4" name="TextBox 6">
                <a:extLst>
                  <a:ext uri="{FF2B5EF4-FFF2-40B4-BE49-F238E27FC236}">
                    <a16:creationId xmlns:a16="http://schemas.microsoft.com/office/drawing/2014/main" id="{5EAEF10C-1702-4B79-60AB-B8A7B77CAF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719056C9-3120-6ECA-5D39-26DA4FFA6B49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النموذج المقترح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5" name="Google Shape;199;p32">
            <a:extLst>
              <a:ext uri="{FF2B5EF4-FFF2-40B4-BE49-F238E27FC236}">
                <a16:creationId xmlns:a16="http://schemas.microsoft.com/office/drawing/2014/main" id="{EDF2C372-4D13-AA83-3A58-FF655C0FB569}"/>
              </a:ext>
            </a:extLst>
          </p:cNvPr>
          <p:cNvSpPr txBox="1">
            <a:spLocks/>
          </p:cNvSpPr>
          <p:nvPr/>
        </p:nvSpPr>
        <p:spPr>
          <a:xfrm>
            <a:off x="7391400" y="417273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36" name="Group 3">
            <a:extLst>
              <a:ext uri="{FF2B5EF4-FFF2-40B4-BE49-F238E27FC236}">
                <a16:creationId xmlns:a16="http://schemas.microsoft.com/office/drawing/2014/main" id="{BF71D42D-DD91-3351-9359-C02E36AB2755}"/>
              </a:ext>
            </a:extLst>
          </p:cNvPr>
          <p:cNvGrpSpPr/>
          <p:nvPr/>
        </p:nvGrpSpPr>
        <p:grpSpPr>
          <a:xfrm>
            <a:off x="4080446" y="5601151"/>
            <a:ext cx="3142129" cy="931128"/>
            <a:chOff x="0" y="0"/>
            <a:chExt cx="8868713" cy="3287792"/>
          </a:xfrm>
        </p:grpSpPr>
        <p:grpSp>
          <p:nvGrpSpPr>
            <p:cNvPr id="37" name="Group 4">
              <a:extLst>
                <a:ext uri="{FF2B5EF4-FFF2-40B4-BE49-F238E27FC236}">
                  <a16:creationId xmlns:a16="http://schemas.microsoft.com/office/drawing/2014/main" id="{9EFC0393-B22B-0636-81B6-B49FC09F9A8C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9" name="Freeform 5">
                <a:extLst>
                  <a:ext uri="{FF2B5EF4-FFF2-40B4-BE49-F238E27FC236}">
                    <a16:creationId xmlns:a16="http://schemas.microsoft.com/office/drawing/2014/main" id="{1E07205C-4677-2B3A-9CA6-1D073DCBEA3A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40" name="TextBox 6">
                <a:extLst>
                  <a:ext uri="{FF2B5EF4-FFF2-40B4-BE49-F238E27FC236}">
                    <a16:creationId xmlns:a16="http://schemas.microsoft.com/office/drawing/2014/main" id="{721E034F-65B5-29F8-0491-D70B262CBA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7">
              <a:extLst>
                <a:ext uri="{FF2B5EF4-FFF2-40B4-BE49-F238E27FC236}">
                  <a16:creationId xmlns:a16="http://schemas.microsoft.com/office/drawing/2014/main" id="{8ED981FF-097E-7D64-8D1E-AD4228AE7F95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التجارب والنتائج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41" name="Google Shape;199;p32">
            <a:extLst>
              <a:ext uri="{FF2B5EF4-FFF2-40B4-BE49-F238E27FC236}">
                <a16:creationId xmlns:a16="http://schemas.microsoft.com/office/drawing/2014/main" id="{D65968B3-4DF2-0785-FAF3-8045F3E14DC5}"/>
              </a:ext>
            </a:extLst>
          </p:cNvPr>
          <p:cNvSpPr txBox="1">
            <a:spLocks/>
          </p:cNvSpPr>
          <p:nvPr/>
        </p:nvSpPr>
        <p:spPr>
          <a:xfrm>
            <a:off x="7391400" y="555196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ECED6BB9-C67A-9409-790D-03964652A464}"/>
              </a:ext>
            </a:extLst>
          </p:cNvPr>
          <p:cNvGrpSpPr/>
          <p:nvPr/>
        </p:nvGrpSpPr>
        <p:grpSpPr>
          <a:xfrm>
            <a:off x="4080446" y="7017386"/>
            <a:ext cx="3142129" cy="931128"/>
            <a:chOff x="0" y="0"/>
            <a:chExt cx="8868713" cy="3287792"/>
          </a:xfrm>
        </p:grpSpPr>
        <p:grpSp>
          <p:nvGrpSpPr>
            <p:cNvPr id="43" name="Group 4">
              <a:extLst>
                <a:ext uri="{FF2B5EF4-FFF2-40B4-BE49-F238E27FC236}">
                  <a16:creationId xmlns:a16="http://schemas.microsoft.com/office/drawing/2014/main" id="{55E0D763-6801-E32C-8D09-9EEAC2E4AF49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45" name="Freeform 5">
                <a:extLst>
                  <a:ext uri="{FF2B5EF4-FFF2-40B4-BE49-F238E27FC236}">
                    <a16:creationId xmlns:a16="http://schemas.microsoft.com/office/drawing/2014/main" id="{6CD46CEF-E95B-61AD-0C0B-EEBCC11D44E1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51" name="TextBox 6">
                <a:extLst>
                  <a:ext uri="{FF2B5EF4-FFF2-40B4-BE49-F238E27FC236}">
                    <a16:creationId xmlns:a16="http://schemas.microsoft.com/office/drawing/2014/main" id="{5AF6C5C8-B47C-E721-6657-7FDB99D5D8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7">
              <a:extLst>
                <a:ext uri="{FF2B5EF4-FFF2-40B4-BE49-F238E27FC236}">
                  <a16:creationId xmlns:a16="http://schemas.microsoft.com/office/drawing/2014/main" id="{6437DF08-E35F-99FA-6E50-DAE6B1789012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القسم البرمجي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53" name="Google Shape;199;p32">
            <a:extLst>
              <a:ext uri="{FF2B5EF4-FFF2-40B4-BE49-F238E27FC236}">
                <a16:creationId xmlns:a16="http://schemas.microsoft.com/office/drawing/2014/main" id="{CFE85543-C8CF-9511-0A25-8AE47DF47438}"/>
              </a:ext>
            </a:extLst>
          </p:cNvPr>
          <p:cNvSpPr txBox="1">
            <a:spLocks/>
          </p:cNvSpPr>
          <p:nvPr/>
        </p:nvSpPr>
        <p:spPr>
          <a:xfrm>
            <a:off x="7391400" y="6968204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4" name="Group 3">
            <a:extLst>
              <a:ext uri="{FF2B5EF4-FFF2-40B4-BE49-F238E27FC236}">
                <a16:creationId xmlns:a16="http://schemas.microsoft.com/office/drawing/2014/main" id="{028BF224-B8EC-BDCC-620C-474F1054C87B}"/>
              </a:ext>
            </a:extLst>
          </p:cNvPr>
          <p:cNvGrpSpPr/>
          <p:nvPr/>
        </p:nvGrpSpPr>
        <p:grpSpPr>
          <a:xfrm>
            <a:off x="11698457" y="6579011"/>
            <a:ext cx="3142129" cy="931128"/>
            <a:chOff x="0" y="0"/>
            <a:chExt cx="8868713" cy="3287792"/>
          </a:xfrm>
        </p:grpSpPr>
        <p:grpSp>
          <p:nvGrpSpPr>
            <p:cNvPr id="55" name="Group 4">
              <a:extLst>
                <a:ext uri="{FF2B5EF4-FFF2-40B4-BE49-F238E27FC236}">
                  <a16:creationId xmlns:a16="http://schemas.microsoft.com/office/drawing/2014/main" id="{189E2C7A-07C3-DEFD-03E2-AC757C43E0D2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B76302D7-8A72-C450-C82E-EAF253DFB065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3" name="TextBox 6">
                <a:extLst>
                  <a:ext uri="{FF2B5EF4-FFF2-40B4-BE49-F238E27FC236}">
                    <a16:creationId xmlns:a16="http://schemas.microsoft.com/office/drawing/2014/main" id="{E0D38257-3BE1-7121-DACD-0ADAD924681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 rtl="1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6" name="TextBox 7">
              <a:extLst>
                <a:ext uri="{FF2B5EF4-FFF2-40B4-BE49-F238E27FC236}">
                  <a16:creationId xmlns:a16="http://schemas.microsoft.com/office/drawing/2014/main" id="{0397A4EF-84FB-3AF0-42C0-43719D0ECDAC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الخاتمة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4" name="Google Shape;199;p32">
            <a:extLst>
              <a:ext uri="{FF2B5EF4-FFF2-40B4-BE49-F238E27FC236}">
                <a16:creationId xmlns:a16="http://schemas.microsoft.com/office/drawing/2014/main" id="{D4AE085E-1080-9F4C-BEE6-937B048B15D9}"/>
              </a:ext>
            </a:extLst>
          </p:cNvPr>
          <p:cNvSpPr txBox="1">
            <a:spLocks/>
          </p:cNvSpPr>
          <p:nvPr/>
        </p:nvSpPr>
        <p:spPr>
          <a:xfrm>
            <a:off x="15009411" y="652982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03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85" name="Group 3">
            <a:extLst>
              <a:ext uri="{FF2B5EF4-FFF2-40B4-BE49-F238E27FC236}">
                <a16:creationId xmlns:a16="http://schemas.microsoft.com/office/drawing/2014/main" id="{4E899F85-5A83-029C-1E46-B84CC30A77C2}"/>
              </a:ext>
            </a:extLst>
          </p:cNvPr>
          <p:cNvGrpSpPr/>
          <p:nvPr/>
        </p:nvGrpSpPr>
        <p:grpSpPr>
          <a:xfrm>
            <a:off x="4080446" y="2831765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86" name="Group 4">
              <a:extLst>
                <a:ext uri="{FF2B5EF4-FFF2-40B4-BE49-F238E27FC236}">
                  <a16:creationId xmlns:a16="http://schemas.microsoft.com/office/drawing/2014/main" id="{3292CCD9-38D3-113A-904B-2A83221F60EB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88" name="Freeform 5">
                <a:extLst>
                  <a:ext uri="{FF2B5EF4-FFF2-40B4-BE49-F238E27FC236}">
                    <a16:creationId xmlns:a16="http://schemas.microsoft.com/office/drawing/2014/main" id="{7C110AC9-1E1D-8645-86E3-15E11CBF369B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89" name="TextBox 6">
                <a:extLst>
                  <a:ext uri="{FF2B5EF4-FFF2-40B4-BE49-F238E27FC236}">
                    <a16:creationId xmlns:a16="http://schemas.microsoft.com/office/drawing/2014/main" id="{54888DE4-722A-F03C-C772-4B4A07B5C0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7" name="TextBox 7">
              <a:extLst>
                <a:ext uri="{FF2B5EF4-FFF2-40B4-BE49-F238E27FC236}">
                  <a16:creationId xmlns:a16="http://schemas.microsoft.com/office/drawing/2014/main" id="{0B5A0012-C282-6FD1-06D1-730B75E36002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مجموعة البيانات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90" name="Google Shape;199;p32">
            <a:extLst>
              <a:ext uri="{FF2B5EF4-FFF2-40B4-BE49-F238E27FC236}">
                <a16:creationId xmlns:a16="http://schemas.microsoft.com/office/drawing/2014/main" id="{7368DC57-978F-F4B2-7E2C-D1470E06B03F}"/>
              </a:ext>
            </a:extLst>
          </p:cNvPr>
          <p:cNvSpPr txBox="1">
            <a:spLocks/>
          </p:cNvSpPr>
          <p:nvPr/>
        </p:nvSpPr>
        <p:spPr>
          <a:xfrm>
            <a:off x="7391400" y="2782583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28DEE41-B3F3-4BAA-DCD5-1450BECDB633}"/>
              </a:ext>
            </a:extLst>
          </p:cNvPr>
          <p:cNvCxnSpPr>
            <a:stCxn id="26" idx="1"/>
          </p:cNvCxnSpPr>
          <p:nvPr/>
        </p:nvCxnSpPr>
        <p:spPr>
          <a:xfrm rot="10800000">
            <a:off x="8840612" y="3213567"/>
            <a:ext cx="3059164" cy="2208256"/>
          </a:xfrm>
          <a:prstGeom prst="bentConnector3">
            <a:avLst/>
          </a:prstGeom>
          <a:ln>
            <a:solidFill>
              <a:srgbClr val="FF66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37FEE275-46B8-580B-D130-360328485C6D}"/>
              </a:ext>
            </a:extLst>
          </p:cNvPr>
          <p:cNvCxnSpPr>
            <a:endCxn id="35" idx="3"/>
          </p:cNvCxnSpPr>
          <p:nvPr/>
        </p:nvCxnSpPr>
        <p:spPr>
          <a:xfrm rot="10800000">
            <a:off x="8840613" y="4665610"/>
            <a:ext cx="3058587" cy="756215"/>
          </a:xfrm>
          <a:prstGeom prst="bentConnector3">
            <a:avLst/>
          </a:prstGeom>
          <a:ln>
            <a:solidFill>
              <a:srgbClr val="F159B3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5F80CD3-18E6-9011-8BA5-79DFE78411D9}"/>
              </a:ext>
            </a:extLst>
          </p:cNvPr>
          <p:cNvCxnSpPr>
            <a:stCxn id="26" idx="1"/>
            <a:endCxn id="41" idx="3"/>
          </p:cNvCxnSpPr>
          <p:nvPr/>
        </p:nvCxnSpPr>
        <p:spPr>
          <a:xfrm rot="10800000" flipV="1">
            <a:off x="8840612" y="5421822"/>
            <a:ext cx="3059164" cy="623023"/>
          </a:xfrm>
          <a:prstGeom prst="bentConnector3">
            <a:avLst/>
          </a:prstGeom>
          <a:ln>
            <a:solidFill>
              <a:srgbClr val="EC2099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D0BDECA3-74EE-B87B-37E1-22388AE7899B}"/>
              </a:ext>
            </a:extLst>
          </p:cNvPr>
          <p:cNvCxnSpPr>
            <a:endCxn id="53" idx="3"/>
          </p:cNvCxnSpPr>
          <p:nvPr/>
        </p:nvCxnSpPr>
        <p:spPr>
          <a:xfrm rot="10800000" flipV="1">
            <a:off x="8840613" y="5421821"/>
            <a:ext cx="3058587" cy="2039259"/>
          </a:xfrm>
          <a:prstGeom prst="bentConnector3">
            <a:avLst/>
          </a:prstGeom>
          <a:ln>
            <a:solidFill>
              <a:srgbClr val="EE1EC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A5712FF0-8D86-4950-55C3-DFADFA302F0B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</p:spTree>
    <p:extLst>
      <p:ext uri="{BB962C8B-B14F-4D97-AF65-F5344CB8AC3E}">
        <p14:creationId xmlns:p14="http://schemas.microsoft.com/office/powerpoint/2010/main" val="289163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3C420-D022-839C-5E25-06820967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A0875C7-43CB-08C3-AB38-356D4A639E6D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C098B26-4FCE-C90E-453C-2673CF64252A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Y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محتوى مجموعة البيانات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968C0D09-CA2C-CE25-3D9A-092E0070BF2B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F6BDE926-8AD1-1F10-CFF4-96562BEC80B4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A6CA81F5-BA89-A577-2F42-F40728DFF4C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09B7933-B4D7-FC89-35FF-B81CD54090F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1B6B1C-FE0A-FC88-E8A0-5B19CC8C48D0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30D378D1-E490-33BE-8D07-009783EDA436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DAABD6A-8524-4EA4-E39A-BD0919EC5BA9}"/>
              </a:ext>
            </a:extLst>
          </p:cNvPr>
          <p:cNvSpPr txBox="1"/>
          <p:nvPr/>
        </p:nvSpPr>
        <p:spPr>
          <a:xfrm>
            <a:off x="990600" y="2372562"/>
            <a:ext cx="9156054" cy="368049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9"/>
              </a:lnSpc>
            </a:pPr>
            <a:r>
              <a:rPr lang="en-US" sz="4000" u="sng" dirty="0">
                <a:solidFill>
                  <a:srgbClr val="EC2099"/>
                </a:solidFill>
                <a:latin typeface="Montserrat"/>
                <a:ea typeface="Montserrat"/>
                <a:cs typeface="Montserrat"/>
                <a:sym typeface="Montserrat"/>
              </a:rPr>
              <a:t>Mendeley Dataset</a:t>
            </a:r>
            <a:endParaRPr lang="ar-SY" sz="4000" u="sng" dirty="0">
              <a:solidFill>
                <a:srgbClr val="EC20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4069"/>
              </a:lnSpc>
            </a:pPr>
            <a:endParaRPr lang="ar-SY" sz="40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4069"/>
              </a:lnSpc>
            </a:pPr>
            <a:r>
              <a:rPr lang="en-US" sz="4000" dirty="0">
                <a:solidFill>
                  <a:srgbClr val="1A1C1F"/>
                </a:solidFill>
                <a:latin typeface="Montserrat"/>
                <a:ea typeface="Montserrat"/>
                <a:cs typeface="Montserrat"/>
                <a:sym typeface="Montserrat"/>
              </a:rPr>
              <a:t>1- Training: 24 classes</a:t>
            </a:r>
            <a:endParaRPr lang="ar-SY" sz="40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4069"/>
              </a:lnSpc>
            </a:pPr>
            <a:endParaRPr lang="en-US" sz="40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4069"/>
              </a:lnSpc>
            </a:pPr>
            <a:r>
              <a:rPr lang="en-US" sz="4000" dirty="0">
                <a:solidFill>
                  <a:srgbClr val="1A1C1F"/>
                </a:solidFill>
                <a:latin typeface="Montserrat"/>
                <a:ea typeface="Montserrat"/>
                <a:cs typeface="Montserrat"/>
                <a:sym typeface="Montserrat"/>
              </a:rPr>
              <a:t>2-</a:t>
            </a:r>
            <a:r>
              <a:rPr lang="en-US" sz="40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Few-shot Learning: 8 Classes</a:t>
            </a:r>
            <a:r>
              <a:rPr lang="en-US" sz="4000" dirty="0"/>
              <a:t> </a:t>
            </a:r>
            <a:endParaRPr lang="ar-SY" sz="40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4069"/>
              </a:lnSpc>
            </a:pPr>
            <a:endParaRPr lang="ar-SY" sz="40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4069"/>
              </a:lnSpc>
            </a:pPr>
            <a:r>
              <a:rPr lang="en-US" sz="4000" dirty="0">
                <a:solidFill>
                  <a:srgbClr val="1A1C1F"/>
                </a:solidFill>
                <a:latin typeface="Montserrat"/>
                <a:ea typeface="Montserrat"/>
                <a:cs typeface="Montserrat"/>
                <a:sym typeface="Montserrat"/>
              </a:rPr>
              <a:t>3-</a:t>
            </a:r>
            <a:r>
              <a:rPr lang="en-US" sz="40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Zero-shot Learning: 8 classes</a:t>
            </a:r>
            <a:endParaRPr lang="en-US" sz="40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F16AF4-0352-00F9-F588-8051D9AE5CA9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2B7A662-7828-92E3-0F78-1C737D46C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0450" y="2286000"/>
            <a:ext cx="5772150" cy="4533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CA6642-BAF8-FA3A-DB62-6D33269B4A4B}"/>
              </a:ext>
            </a:extLst>
          </p:cNvPr>
          <p:cNvSpPr/>
          <p:nvPr/>
        </p:nvSpPr>
        <p:spPr>
          <a:xfrm>
            <a:off x="1054746" y="6129257"/>
            <a:ext cx="9156054" cy="404344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ADDE24-1E50-F087-F05A-203D4F82C758}"/>
              </a:ext>
            </a:extLst>
          </p:cNvPr>
          <p:cNvSpPr/>
          <p:nvPr/>
        </p:nvSpPr>
        <p:spPr>
          <a:xfrm>
            <a:off x="1524000" y="6438900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AAC53E3-B064-721B-88D3-1D48EF167485}"/>
              </a:ext>
            </a:extLst>
          </p:cNvPr>
          <p:cNvSpPr/>
          <p:nvPr/>
        </p:nvSpPr>
        <p:spPr>
          <a:xfrm>
            <a:off x="2048747" y="6754810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3A1EEC9-2E69-2E3E-B630-36BE5D00879F}"/>
              </a:ext>
            </a:extLst>
          </p:cNvPr>
          <p:cNvSpPr/>
          <p:nvPr/>
        </p:nvSpPr>
        <p:spPr>
          <a:xfrm>
            <a:off x="2057400" y="7363996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FF6260-9668-A979-35B7-77B3A76CA91F}"/>
              </a:ext>
            </a:extLst>
          </p:cNvPr>
          <p:cNvSpPr/>
          <p:nvPr/>
        </p:nvSpPr>
        <p:spPr>
          <a:xfrm>
            <a:off x="2667000" y="7379502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009D17-5961-8EAC-95C6-8798FFAF495C}"/>
              </a:ext>
            </a:extLst>
          </p:cNvPr>
          <p:cNvSpPr/>
          <p:nvPr/>
        </p:nvSpPr>
        <p:spPr>
          <a:xfrm>
            <a:off x="3186545" y="6983597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CF4726D-0309-5BB6-92D4-5AF370789449}"/>
              </a:ext>
            </a:extLst>
          </p:cNvPr>
          <p:cNvSpPr/>
          <p:nvPr/>
        </p:nvSpPr>
        <p:spPr>
          <a:xfrm>
            <a:off x="3070519" y="6307525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904BC9-DA36-F69C-4BED-8BA40BBFB136}"/>
              </a:ext>
            </a:extLst>
          </p:cNvPr>
          <p:cNvSpPr/>
          <p:nvPr/>
        </p:nvSpPr>
        <p:spPr>
          <a:xfrm>
            <a:off x="2667000" y="6743700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F5F87A-8407-6630-39AB-135F5865E92B}"/>
              </a:ext>
            </a:extLst>
          </p:cNvPr>
          <p:cNvSpPr/>
          <p:nvPr/>
        </p:nvSpPr>
        <p:spPr>
          <a:xfrm>
            <a:off x="2286000" y="6258649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A6268EC-974C-1ED6-1D0F-1ACD27052B5A}"/>
              </a:ext>
            </a:extLst>
          </p:cNvPr>
          <p:cNvSpPr/>
          <p:nvPr/>
        </p:nvSpPr>
        <p:spPr>
          <a:xfrm>
            <a:off x="6585242" y="6537562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DA49247-775B-8491-E901-29A0EF718C89}"/>
              </a:ext>
            </a:extLst>
          </p:cNvPr>
          <p:cNvSpPr/>
          <p:nvPr/>
        </p:nvSpPr>
        <p:spPr>
          <a:xfrm>
            <a:off x="7109989" y="6853472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5CAA96-8B7A-6865-7110-65918EC7DBCB}"/>
              </a:ext>
            </a:extLst>
          </p:cNvPr>
          <p:cNvSpPr/>
          <p:nvPr/>
        </p:nvSpPr>
        <p:spPr>
          <a:xfrm>
            <a:off x="7118642" y="7462658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F0F3FE1-F1A8-BE2F-5218-F1DB207A9C70}"/>
              </a:ext>
            </a:extLst>
          </p:cNvPr>
          <p:cNvSpPr/>
          <p:nvPr/>
        </p:nvSpPr>
        <p:spPr>
          <a:xfrm>
            <a:off x="7728242" y="7478164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6EB661-F027-CDEA-CCF2-A13BEC549F03}"/>
              </a:ext>
            </a:extLst>
          </p:cNvPr>
          <p:cNvSpPr/>
          <p:nvPr/>
        </p:nvSpPr>
        <p:spPr>
          <a:xfrm>
            <a:off x="8247787" y="7082259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695B6E-1529-063C-59EF-573F1FC1FC8B}"/>
              </a:ext>
            </a:extLst>
          </p:cNvPr>
          <p:cNvSpPr/>
          <p:nvPr/>
        </p:nvSpPr>
        <p:spPr>
          <a:xfrm>
            <a:off x="8131761" y="6406187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2B66F2D-B5B5-FDF4-AF4C-5DC219B4BD6F}"/>
              </a:ext>
            </a:extLst>
          </p:cNvPr>
          <p:cNvSpPr/>
          <p:nvPr/>
        </p:nvSpPr>
        <p:spPr>
          <a:xfrm>
            <a:off x="7728242" y="6842362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8785E2B-3B46-6280-2BD1-08BB169A8037}"/>
              </a:ext>
            </a:extLst>
          </p:cNvPr>
          <p:cNvSpPr/>
          <p:nvPr/>
        </p:nvSpPr>
        <p:spPr>
          <a:xfrm>
            <a:off x="7271042" y="6347534"/>
            <a:ext cx="457200" cy="479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99C7C24-D1C0-D57C-8645-F5F0483A9C7C}"/>
              </a:ext>
            </a:extLst>
          </p:cNvPr>
          <p:cNvSpPr/>
          <p:nvPr/>
        </p:nvSpPr>
        <p:spPr>
          <a:xfrm>
            <a:off x="8014855" y="8686328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48258C6-B91F-14CA-93BE-8AAAA81BFD06}"/>
              </a:ext>
            </a:extLst>
          </p:cNvPr>
          <p:cNvSpPr/>
          <p:nvPr/>
        </p:nvSpPr>
        <p:spPr>
          <a:xfrm>
            <a:off x="8539602" y="9002238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4F94463-9577-88AB-567E-AF03A2BF5C23}"/>
              </a:ext>
            </a:extLst>
          </p:cNvPr>
          <p:cNvSpPr/>
          <p:nvPr/>
        </p:nvSpPr>
        <p:spPr>
          <a:xfrm>
            <a:off x="8548255" y="9611424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30A052F-9E72-B709-35C4-DCA86512E8A9}"/>
              </a:ext>
            </a:extLst>
          </p:cNvPr>
          <p:cNvSpPr/>
          <p:nvPr/>
        </p:nvSpPr>
        <p:spPr>
          <a:xfrm>
            <a:off x="9157855" y="9626930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29C72A-73B6-F011-33BD-340FBF96044F}"/>
              </a:ext>
            </a:extLst>
          </p:cNvPr>
          <p:cNvSpPr/>
          <p:nvPr/>
        </p:nvSpPr>
        <p:spPr>
          <a:xfrm>
            <a:off x="9677400" y="9231025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F50B94D-F757-3DAE-3C02-616BA11F57A1}"/>
              </a:ext>
            </a:extLst>
          </p:cNvPr>
          <p:cNvSpPr/>
          <p:nvPr/>
        </p:nvSpPr>
        <p:spPr>
          <a:xfrm>
            <a:off x="9561374" y="8554953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7D47145-FC60-41AE-9740-46571BE02EDD}"/>
              </a:ext>
            </a:extLst>
          </p:cNvPr>
          <p:cNvSpPr/>
          <p:nvPr/>
        </p:nvSpPr>
        <p:spPr>
          <a:xfrm>
            <a:off x="9157855" y="8991128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9991CE0-24A5-824B-FD12-59E6D247407C}"/>
              </a:ext>
            </a:extLst>
          </p:cNvPr>
          <p:cNvSpPr/>
          <p:nvPr/>
        </p:nvSpPr>
        <p:spPr>
          <a:xfrm>
            <a:off x="8700655" y="8496300"/>
            <a:ext cx="457200" cy="4797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7529894-7B0C-FDAC-068F-0605E885ADDA}"/>
              </a:ext>
            </a:extLst>
          </p:cNvPr>
          <p:cNvSpPr/>
          <p:nvPr/>
        </p:nvSpPr>
        <p:spPr>
          <a:xfrm>
            <a:off x="1367293" y="8126027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352C860-02AF-F11A-3219-9A7534CDC443}"/>
              </a:ext>
            </a:extLst>
          </p:cNvPr>
          <p:cNvSpPr/>
          <p:nvPr/>
        </p:nvSpPr>
        <p:spPr>
          <a:xfrm>
            <a:off x="1892040" y="8441937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8C3BEA4-DEA8-9BBF-EDE9-F07453A3480A}"/>
              </a:ext>
            </a:extLst>
          </p:cNvPr>
          <p:cNvSpPr/>
          <p:nvPr/>
        </p:nvSpPr>
        <p:spPr>
          <a:xfrm>
            <a:off x="1900693" y="9051123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8B8A962-A4C3-AA49-352D-DB6117CF4657}"/>
              </a:ext>
            </a:extLst>
          </p:cNvPr>
          <p:cNvSpPr/>
          <p:nvPr/>
        </p:nvSpPr>
        <p:spPr>
          <a:xfrm>
            <a:off x="2510293" y="9066629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E51AA8-C14C-F270-5070-C1F4998A7F02}"/>
              </a:ext>
            </a:extLst>
          </p:cNvPr>
          <p:cNvSpPr/>
          <p:nvPr/>
        </p:nvSpPr>
        <p:spPr>
          <a:xfrm>
            <a:off x="3029838" y="8670724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6EF96A3-5885-C984-5F84-3599106AAFEB}"/>
              </a:ext>
            </a:extLst>
          </p:cNvPr>
          <p:cNvSpPr/>
          <p:nvPr/>
        </p:nvSpPr>
        <p:spPr>
          <a:xfrm>
            <a:off x="2913812" y="7994652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3AF9E2B-AFF1-4CA1-F89D-E1CD0E15EA58}"/>
              </a:ext>
            </a:extLst>
          </p:cNvPr>
          <p:cNvSpPr/>
          <p:nvPr/>
        </p:nvSpPr>
        <p:spPr>
          <a:xfrm>
            <a:off x="2510293" y="8430827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D3CF840-5D72-D7E8-86F0-65D192A32001}"/>
              </a:ext>
            </a:extLst>
          </p:cNvPr>
          <p:cNvSpPr/>
          <p:nvPr/>
        </p:nvSpPr>
        <p:spPr>
          <a:xfrm>
            <a:off x="2053093" y="7935999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EE98493-29BC-057F-6926-43FA3EB0318B}"/>
              </a:ext>
            </a:extLst>
          </p:cNvPr>
          <p:cNvSpPr/>
          <p:nvPr/>
        </p:nvSpPr>
        <p:spPr>
          <a:xfrm>
            <a:off x="3351100" y="7670591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3C54EA5-07FC-3166-94C6-E590E0AB49E9}"/>
              </a:ext>
            </a:extLst>
          </p:cNvPr>
          <p:cNvSpPr/>
          <p:nvPr/>
        </p:nvSpPr>
        <p:spPr>
          <a:xfrm>
            <a:off x="3505200" y="8245106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17300AA-555D-F09B-7DDA-E11FE45EE37A}"/>
              </a:ext>
            </a:extLst>
          </p:cNvPr>
          <p:cNvSpPr/>
          <p:nvPr/>
        </p:nvSpPr>
        <p:spPr>
          <a:xfrm>
            <a:off x="3962400" y="8702306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90EE4FD-FB91-170A-4946-B522622CBBE0}"/>
              </a:ext>
            </a:extLst>
          </p:cNvPr>
          <p:cNvSpPr/>
          <p:nvPr/>
        </p:nvSpPr>
        <p:spPr>
          <a:xfrm>
            <a:off x="4494100" y="8611193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948E2C1-F3D2-DC63-566F-D92BCF517ADF}"/>
              </a:ext>
            </a:extLst>
          </p:cNvPr>
          <p:cNvSpPr/>
          <p:nvPr/>
        </p:nvSpPr>
        <p:spPr>
          <a:xfrm>
            <a:off x="5013645" y="8215288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3397BAC-2D95-1A95-3A10-A9AAD667764D}"/>
              </a:ext>
            </a:extLst>
          </p:cNvPr>
          <p:cNvSpPr/>
          <p:nvPr/>
        </p:nvSpPr>
        <p:spPr>
          <a:xfrm>
            <a:off x="4572000" y="7539216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864A5DE-F68E-EC28-A024-DC5ABEA5293D}"/>
              </a:ext>
            </a:extLst>
          </p:cNvPr>
          <p:cNvSpPr/>
          <p:nvPr/>
        </p:nvSpPr>
        <p:spPr>
          <a:xfrm>
            <a:off x="4114800" y="8016506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4C65418-5729-278D-0474-2EF99820594C}"/>
              </a:ext>
            </a:extLst>
          </p:cNvPr>
          <p:cNvSpPr/>
          <p:nvPr/>
        </p:nvSpPr>
        <p:spPr>
          <a:xfrm>
            <a:off x="3886200" y="7429500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C39E0CD-2667-C715-1E58-CA53C84F2A72}"/>
              </a:ext>
            </a:extLst>
          </p:cNvPr>
          <p:cNvSpPr/>
          <p:nvPr/>
        </p:nvSpPr>
        <p:spPr>
          <a:xfrm>
            <a:off x="3681884" y="6566105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482BD96-1EC0-987C-61E5-D49966CA158C}"/>
              </a:ext>
            </a:extLst>
          </p:cNvPr>
          <p:cNvSpPr/>
          <p:nvPr/>
        </p:nvSpPr>
        <p:spPr>
          <a:xfrm>
            <a:off x="4206631" y="6882015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4464832-5170-FA99-6045-59FD081ECADE}"/>
              </a:ext>
            </a:extLst>
          </p:cNvPr>
          <p:cNvSpPr/>
          <p:nvPr/>
        </p:nvSpPr>
        <p:spPr>
          <a:xfrm>
            <a:off x="3505237" y="9155336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436A8F0-2A62-2810-DE34-343F6A7691A8}"/>
              </a:ext>
            </a:extLst>
          </p:cNvPr>
          <p:cNvSpPr/>
          <p:nvPr/>
        </p:nvSpPr>
        <p:spPr>
          <a:xfrm>
            <a:off x="1356939" y="7215851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40F01E6-066B-299B-D40A-2E9444778C32}"/>
              </a:ext>
            </a:extLst>
          </p:cNvPr>
          <p:cNvSpPr/>
          <p:nvPr/>
        </p:nvSpPr>
        <p:spPr>
          <a:xfrm>
            <a:off x="5181600" y="7483106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3FF0549-7369-FF79-B998-E0A68573BAD8}"/>
              </a:ext>
            </a:extLst>
          </p:cNvPr>
          <p:cNvSpPr/>
          <p:nvPr/>
        </p:nvSpPr>
        <p:spPr>
          <a:xfrm>
            <a:off x="5228403" y="6434730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A3CADBB-235F-47FF-1501-45AF07160312}"/>
              </a:ext>
            </a:extLst>
          </p:cNvPr>
          <p:cNvSpPr/>
          <p:nvPr/>
        </p:nvSpPr>
        <p:spPr>
          <a:xfrm>
            <a:off x="4824884" y="6870905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2855540-442B-996E-5ACD-54330203DD89}"/>
              </a:ext>
            </a:extLst>
          </p:cNvPr>
          <p:cNvSpPr/>
          <p:nvPr/>
        </p:nvSpPr>
        <p:spPr>
          <a:xfrm>
            <a:off x="4367684" y="6376077"/>
            <a:ext cx="457200" cy="47979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2785D4-3A67-BA7A-AE80-02CDF5E2C975}"/>
              </a:ext>
            </a:extLst>
          </p:cNvPr>
          <p:cNvSpPr txBox="1"/>
          <p:nvPr/>
        </p:nvSpPr>
        <p:spPr>
          <a:xfrm>
            <a:off x="2254827" y="9754370"/>
            <a:ext cx="1340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A1C1F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C62FD7-B455-6879-DDF3-46A160923092}"/>
              </a:ext>
            </a:extLst>
          </p:cNvPr>
          <p:cNvSpPr txBox="1"/>
          <p:nvPr/>
        </p:nvSpPr>
        <p:spPr>
          <a:xfrm>
            <a:off x="8610600" y="6395557"/>
            <a:ext cx="1591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Few-shot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DC8929-0A9E-34C2-F96F-7A4DB0B182A5}"/>
              </a:ext>
            </a:extLst>
          </p:cNvPr>
          <p:cNvSpPr txBox="1"/>
          <p:nvPr/>
        </p:nvSpPr>
        <p:spPr>
          <a:xfrm>
            <a:off x="6606881" y="9410700"/>
            <a:ext cx="17751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Zero-shot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822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7A33A-8785-1E56-AD8C-954C91FF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0B3FF53-7088-E928-2D9D-ED6189EF4AEB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2055C3A-9ACD-CE47-5935-6599F79BCB64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معالجة مجموعة البيانات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52C104F-5CEB-1F62-872F-712805EC6F10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269C6F54-5ADF-68B1-B02B-8D0851E51AB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24D77ED9-7CE4-B5A0-ECB7-5244C2C79CB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E6A432F-2C87-4167-4B0E-0CDDDFD8840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E46F656-7290-3E06-EF03-1DF4F32D88E4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9F30486-A0C7-01FB-6486-36B654090756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68E7878-6978-508C-B0A8-7800AA68C8FC}"/>
              </a:ext>
            </a:extLst>
          </p:cNvPr>
          <p:cNvSpPr txBox="1"/>
          <p:nvPr/>
        </p:nvSpPr>
        <p:spPr>
          <a:xfrm>
            <a:off x="1066800" y="6137608"/>
            <a:ext cx="14478000" cy="3162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algn="ctr" rtl="0" eaLnBrk="1" latinLnBrk="0" hangingPunct="1">
              <a:lnSpc>
                <a:spcPts val="4069"/>
              </a:lnSpc>
              <a:buNone/>
            </a:pPr>
            <a:endParaRPr lang="en-US" sz="4400" dirty="0">
              <a:effectLst/>
            </a:endParaRPr>
          </a:p>
          <a:p>
            <a:pPr marL="0" algn="ctr" rtl="0" eaLnBrk="1" latinLnBrk="0" hangingPunct="1">
              <a:lnSpc>
                <a:spcPts val="4069"/>
              </a:lnSpc>
              <a:buNone/>
            </a:pPr>
            <a:r>
              <a:rPr lang="ar-SY" sz="44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3</a:t>
            </a:r>
            <a:r>
              <a:rPr lang="en-US" sz="44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- 10 Phrases</a:t>
            </a:r>
          </a:p>
          <a:p>
            <a:pPr marL="0" algn="ctr" rtl="0" eaLnBrk="1" latinLnBrk="0" hangingPunct="1">
              <a:lnSpc>
                <a:spcPts val="4069"/>
              </a:lnSpc>
              <a:buNone/>
            </a:pPr>
            <a:endParaRPr lang="en-US" sz="4400" dirty="0">
              <a:effectLst/>
            </a:endParaRPr>
          </a:p>
          <a:p>
            <a:pPr marL="576072" indent="-576072" algn="ctr" rtl="0" eaLnBrk="1" latinLnBrk="0" hangingPunct="1">
              <a:lnSpc>
                <a:spcPts val="4069"/>
              </a:lnSpc>
              <a:buClr>
                <a:srgbClr val="EC2099"/>
              </a:buClr>
              <a:buFont typeface="Wingdings" panose="05000000000000000000" pitchFamily="2" charset="2"/>
              <a:buChar char="q"/>
            </a:pPr>
            <a:r>
              <a:rPr lang="en-US" sz="44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Visual  </a:t>
            </a:r>
            <a:r>
              <a:rPr lang="en-US" sz="3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.</a:t>
            </a:r>
            <a:endParaRPr lang="en-US" sz="4400" dirty="0">
              <a:effectLst/>
            </a:endParaRPr>
          </a:p>
          <a:p>
            <a:pPr marL="576072" indent="-576072" algn="ctr" rtl="0" eaLnBrk="1" latinLnBrk="0" hangingPunct="1">
              <a:lnSpc>
                <a:spcPts val="4069"/>
              </a:lnSpc>
              <a:buClr>
                <a:srgbClr val="EC2099"/>
              </a:buClr>
              <a:buFont typeface="Wingdings" panose="05000000000000000000" pitchFamily="2" charset="2"/>
              <a:buChar char="q"/>
            </a:pPr>
            <a:r>
              <a:rPr lang="en-US" sz="40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Clinical</a:t>
            </a:r>
            <a:endParaRPr lang="en-US" sz="4400" dirty="0">
              <a:effectLst/>
            </a:endParaRPr>
          </a:p>
          <a:p>
            <a:pPr marL="576072" indent="-576072" algn="ctr" rtl="0" eaLnBrk="1" latinLnBrk="0" hangingPunct="1">
              <a:lnSpc>
                <a:spcPts val="4069"/>
              </a:lnSpc>
              <a:buClr>
                <a:srgbClr val="EC2099"/>
              </a:buClr>
              <a:buFont typeface="Wingdings" panose="05000000000000000000" pitchFamily="2" charset="2"/>
              <a:buChar char="q"/>
            </a:pPr>
            <a:r>
              <a:rPr lang="en-US" sz="44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Public</a:t>
            </a:r>
            <a:r>
              <a:rPr lang="en-US" sz="32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 </a:t>
            </a:r>
            <a:r>
              <a:rPr lang="en-US" sz="3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.</a:t>
            </a:r>
            <a:endParaRPr lang="en-US" sz="4400" dirty="0">
              <a:effectLst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B304F8-5FC8-F395-AFF3-1AF1D57521AD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8091CB-0F0B-098A-7F57-90CD5D921E06}"/>
              </a:ext>
            </a:extLst>
          </p:cNvPr>
          <p:cNvSpPr txBox="1"/>
          <p:nvPr/>
        </p:nvSpPr>
        <p:spPr>
          <a:xfrm>
            <a:off x="5295899" y="2145101"/>
            <a:ext cx="7696200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Prompt engineering</a:t>
            </a:r>
            <a:endParaRPr lang="ar-SY" sz="4000" dirty="0">
              <a:solidFill>
                <a:srgbClr val="1A1C1F"/>
              </a:solidFill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43EC2A-7C86-E365-E2DC-069CD0BC6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600" y="6137608"/>
            <a:ext cx="4267200" cy="39436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95711E-2255-EF7E-2213-9DA1F64289DA}"/>
              </a:ext>
            </a:extLst>
          </p:cNvPr>
          <p:cNvSpPr txBox="1"/>
          <p:nvPr/>
        </p:nvSpPr>
        <p:spPr>
          <a:xfrm>
            <a:off x="3106881" y="2651561"/>
            <a:ext cx="12074236" cy="3255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ts val="4069"/>
              </a:lnSpc>
              <a:buNone/>
            </a:pPr>
            <a:endParaRPr lang="en-US" sz="3600" dirty="0">
              <a:effectLst/>
            </a:endParaRPr>
          </a:p>
          <a:p>
            <a:pPr marL="0" algn="ctr" rtl="0" eaLnBrk="1" latinLnBrk="0" hangingPunct="1">
              <a:lnSpc>
                <a:spcPts val="4069"/>
              </a:lnSpc>
              <a:buNone/>
            </a:pPr>
            <a:r>
              <a:rPr lang="ar-SY" sz="36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1</a:t>
            </a:r>
            <a:r>
              <a:rPr lang="en-US" sz="36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-</a:t>
            </a:r>
            <a:r>
              <a:rPr lang="ar-SY" sz="36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 </a:t>
            </a:r>
            <a:r>
              <a:rPr lang="en-US" sz="36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One Sample Phrase</a:t>
            </a:r>
          </a:p>
          <a:p>
            <a:pPr marL="0" algn="ctr" rtl="0" eaLnBrk="1" latinLnBrk="0" hangingPunct="1">
              <a:lnSpc>
                <a:spcPts val="4069"/>
              </a:lnSpc>
              <a:buNone/>
            </a:pPr>
            <a:r>
              <a:rPr lang="en-US" sz="3600" dirty="0">
                <a:solidFill>
                  <a:srgbClr val="1A1C1F"/>
                </a:solidFill>
                <a:latin typeface="Montserrat" panose="00000500000000000000" pitchFamily="2" charset="0"/>
              </a:rPr>
              <a:t>{this is “disease's name”}</a:t>
            </a:r>
            <a:r>
              <a:rPr lang="en-US" sz="3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lang="ar-SY" sz="36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  <a:p>
            <a:pPr marL="0" algn="ctr" rtl="0" eaLnBrk="1" latinLnBrk="0" hangingPunct="1">
              <a:lnSpc>
                <a:spcPts val="4069"/>
              </a:lnSpc>
              <a:buNone/>
            </a:pPr>
            <a:endParaRPr lang="en-US" sz="3600" dirty="0">
              <a:effectLst/>
            </a:endParaRPr>
          </a:p>
          <a:p>
            <a:pPr marL="0" algn="ctr" rtl="0" eaLnBrk="1" latinLnBrk="0" hangingPunct="1">
              <a:lnSpc>
                <a:spcPts val="4069"/>
              </a:lnSpc>
              <a:buNone/>
            </a:pPr>
            <a:r>
              <a:rPr lang="ar-SY" sz="36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2</a:t>
            </a:r>
            <a:r>
              <a:rPr lang="en-US" sz="36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-</a:t>
            </a:r>
            <a:r>
              <a:rPr lang="ar-SY" sz="36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 </a:t>
            </a:r>
            <a:r>
              <a:rPr lang="en-US" sz="3600" kern="1200" dirty="0">
                <a:solidFill>
                  <a:srgbClr val="1A1C1F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One Described Phrase</a:t>
            </a:r>
          </a:p>
          <a:p>
            <a:pPr algn="ctr">
              <a:lnSpc>
                <a:spcPts val="4069"/>
              </a:lnSpc>
            </a:pPr>
            <a:r>
              <a:rPr lang="en-US" sz="44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{</a:t>
            </a:r>
            <a:r>
              <a:rPr lang="en-US" sz="1800" dirty="0"/>
              <a:t>  "Balloon Cell Cortical Dysplasia": "A brain malformation involving abnormal balloon-like nerve cells."</a:t>
            </a:r>
            <a:r>
              <a:rPr lang="en-US" sz="4400" dirty="0">
                <a:solidFill>
                  <a:srgbClr val="1A1C1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}</a:t>
            </a:r>
            <a:endParaRPr lang="ar-SY" sz="4400" kern="1200" dirty="0">
              <a:solidFill>
                <a:srgbClr val="1A1C1F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64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B9E11-24EB-6DAD-2F08-ED8AAA5A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92BE777B-C088-DECA-C77A-EAC058C7D0CC}"/>
              </a:ext>
            </a:extLst>
          </p:cNvPr>
          <p:cNvSpPr/>
          <p:nvPr/>
        </p:nvSpPr>
        <p:spPr>
          <a:xfrm>
            <a:off x="-5334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E7F5F9C-6A4B-3C96-75E6-0BEE3C6793D8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DAF2BCB-1C64-60A6-DF69-FE1B614BC1FB}"/>
              </a:ext>
            </a:extLst>
          </p:cNvPr>
          <p:cNvSpPr/>
          <p:nvPr/>
        </p:nvSpPr>
        <p:spPr>
          <a:xfrm>
            <a:off x="11716136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4C88749-567A-F234-F3B3-C672F24BF358}"/>
              </a:ext>
            </a:extLst>
          </p:cNvPr>
          <p:cNvSpPr txBox="1"/>
          <p:nvPr/>
        </p:nvSpPr>
        <p:spPr>
          <a:xfrm>
            <a:off x="2553980" y="647700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محتويات العرض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71082FB-CC0D-C4D5-65B6-477E2AD027C6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252CDBD-38AE-E2A6-E9C1-E80968C190B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A09089A-11A3-3B25-4752-7FF8B9CA297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291EBE0-CB26-75E0-FB32-3F2912C0E78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55C9A75-428B-77C8-11E2-CDEF76F6CD3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EC100481-79DE-8FAF-9F95-566004DD09C9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FC0D819A-01FB-0380-B604-787E8DAF1522}"/>
              </a:ext>
            </a:extLst>
          </p:cNvPr>
          <p:cNvGrpSpPr/>
          <p:nvPr/>
        </p:nvGrpSpPr>
        <p:grpSpPr>
          <a:xfrm>
            <a:off x="11698459" y="3268192"/>
            <a:ext cx="3142129" cy="931128"/>
            <a:chOff x="0" y="0"/>
            <a:chExt cx="8868713" cy="3287792"/>
          </a:xfrm>
        </p:grpSpPr>
        <p:grpSp>
          <p:nvGrpSpPr>
            <p:cNvPr id="28" name="Group 4">
              <a:extLst>
                <a:ext uri="{FF2B5EF4-FFF2-40B4-BE49-F238E27FC236}">
                  <a16:creationId xmlns:a16="http://schemas.microsoft.com/office/drawing/2014/main" id="{5F4333B4-C727-72D9-E40A-81B4E45852FD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55715BD2-1F51-18D6-0178-B8821C5E2E2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1" name="TextBox 6">
                <a:extLst>
                  <a:ext uri="{FF2B5EF4-FFF2-40B4-BE49-F238E27FC236}">
                    <a16:creationId xmlns:a16="http://schemas.microsoft.com/office/drawing/2014/main" id="{BEBAC43D-ED1B-8FFD-3B71-667FD4E3321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7">
              <a:extLst>
                <a:ext uri="{FF2B5EF4-FFF2-40B4-BE49-F238E27FC236}">
                  <a16:creationId xmlns:a16="http://schemas.microsoft.com/office/drawing/2014/main" id="{B33CDD0E-1678-27F2-1CA8-C5AAE9631018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8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الدراسة المرجعية</a:t>
              </a:r>
              <a:endParaRPr lang="en-US" sz="38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2" name="Google Shape;199;p32">
            <a:extLst>
              <a:ext uri="{FF2B5EF4-FFF2-40B4-BE49-F238E27FC236}">
                <a16:creationId xmlns:a16="http://schemas.microsoft.com/office/drawing/2014/main" id="{5C60EF9E-B077-F13D-927E-4EA19F781B10}"/>
              </a:ext>
            </a:extLst>
          </p:cNvPr>
          <p:cNvSpPr txBox="1">
            <a:spLocks/>
          </p:cNvSpPr>
          <p:nvPr/>
        </p:nvSpPr>
        <p:spPr>
          <a:xfrm>
            <a:off x="15009413" y="3219010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01</a:t>
            </a:r>
          </a:p>
        </p:txBody>
      </p:sp>
      <p:grpSp>
        <p:nvGrpSpPr>
          <p:cNvPr id="33" name="Group 3">
            <a:extLst>
              <a:ext uri="{FF2B5EF4-FFF2-40B4-BE49-F238E27FC236}">
                <a16:creationId xmlns:a16="http://schemas.microsoft.com/office/drawing/2014/main" id="{8D7BCF41-344F-7A15-A2E9-AECB282525AC}"/>
              </a:ext>
            </a:extLst>
          </p:cNvPr>
          <p:cNvGrpSpPr/>
          <p:nvPr/>
        </p:nvGrpSpPr>
        <p:grpSpPr>
          <a:xfrm>
            <a:off x="11699034" y="4945304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5F9A78DB-B416-2EDE-2F09-9A70D1D1A284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2E1A9C11-1860-1ED9-E112-6B9817AC9A2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7" name="TextBox 6">
                <a:extLst>
                  <a:ext uri="{FF2B5EF4-FFF2-40B4-BE49-F238E27FC236}">
                    <a16:creationId xmlns:a16="http://schemas.microsoft.com/office/drawing/2014/main" id="{1A7DC14A-7A96-BD75-2459-22FD349200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5" name="TextBox 7">
              <a:extLst>
                <a:ext uri="{FF2B5EF4-FFF2-40B4-BE49-F238E27FC236}">
                  <a16:creationId xmlns:a16="http://schemas.microsoft.com/office/drawing/2014/main" id="{1AC90363-DBE1-83E4-BF60-40C4187F2F7F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6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شرح العمل المنجز</a:t>
              </a:r>
              <a:endParaRPr lang="en-US" sz="3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8" name="Google Shape;199;p32">
            <a:extLst>
              <a:ext uri="{FF2B5EF4-FFF2-40B4-BE49-F238E27FC236}">
                <a16:creationId xmlns:a16="http://schemas.microsoft.com/office/drawing/2014/main" id="{8D1E9A8E-4DCB-45CF-24F5-EE6B6FFB078A}"/>
              </a:ext>
            </a:extLst>
          </p:cNvPr>
          <p:cNvSpPr txBox="1">
            <a:spLocks/>
          </p:cNvSpPr>
          <p:nvPr/>
        </p:nvSpPr>
        <p:spPr>
          <a:xfrm>
            <a:off x="15009988" y="489612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39" name="Group 3">
            <a:extLst>
              <a:ext uri="{FF2B5EF4-FFF2-40B4-BE49-F238E27FC236}">
                <a16:creationId xmlns:a16="http://schemas.microsoft.com/office/drawing/2014/main" id="{6635B490-B09E-FA0F-A0C8-EBA6881BA886}"/>
              </a:ext>
            </a:extLst>
          </p:cNvPr>
          <p:cNvGrpSpPr/>
          <p:nvPr/>
        </p:nvGrpSpPr>
        <p:grpSpPr>
          <a:xfrm>
            <a:off x="4080446" y="4221914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40" name="Group 4">
              <a:extLst>
                <a:ext uri="{FF2B5EF4-FFF2-40B4-BE49-F238E27FC236}">
                  <a16:creationId xmlns:a16="http://schemas.microsoft.com/office/drawing/2014/main" id="{BAB7D273-112F-4ED5-2439-E36772995876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42" name="Freeform 5">
                <a:extLst>
                  <a:ext uri="{FF2B5EF4-FFF2-40B4-BE49-F238E27FC236}">
                    <a16:creationId xmlns:a16="http://schemas.microsoft.com/office/drawing/2014/main" id="{A0E044C0-7B80-A669-677F-BD79A610CB31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43" name="TextBox 6">
                <a:extLst>
                  <a:ext uri="{FF2B5EF4-FFF2-40B4-BE49-F238E27FC236}">
                    <a16:creationId xmlns:a16="http://schemas.microsoft.com/office/drawing/2014/main" id="{5DC97724-41E6-1C88-C479-B7634C8FBC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TextBox 7">
              <a:extLst>
                <a:ext uri="{FF2B5EF4-FFF2-40B4-BE49-F238E27FC236}">
                  <a16:creationId xmlns:a16="http://schemas.microsoft.com/office/drawing/2014/main" id="{A8D0381D-1934-EA38-0532-71DB07C6B4A3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النموذج المقترح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44" name="Google Shape;199;p32">
            <a:extLst>
              <a:ext uri="{FF2B5EF4-FFF2-40B4-BE49-F238E27FC236}">
                <a16:creationId xmlns:a16="http://schemas.microsoft.com/office/drawing/2014/main" id="{A758E164-74D2-4668-F0B8-A16A87FB6B37}"/>
              </a:ext>
            </a:extLst>
          </p:cNvPr>
          <p:cNvSpPr txBox="1">
            <a:spLocks/>
          </p:cNvSpPr>
          <p:nvPr/>
        </p:nvSpPr>
        <p:spPr>
          <a:xfrm>
            <a:off x="7391400" y="417273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45" name="Group 3">
            <a:extLst>
              <a:ext uri="{FF2B5EF4-FFF2-40B4-BE49-F238E27FC236}">
                <a16:creationId xmlns:a16="http://schemas.microsoft.com/office/drawing/2014/main" id="{785AF5BA-8AF0-9726-38B9-8D202B76D12C}"/>
              </a:ext>
            </a:extLst>
          </p:cNvPr>
          <p:cNvGrpSpPr/>
          <p:nvPr/>
        </p:nvGrpSpPr>
        <p:grpSpPr>
          <a:xfrm>
            <a:off x="4080446" y="5601151"/>
            <a:ext cx="3142129" cy="931128"/>
            <a:chOff x="0" y="0"/>
            <a:chExt cx="8868713" cy="3287792"/>
          </a:xfrm>
        </p:grpSpPr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AE17EF79-0E0C-628A-420C-8C4438C0AFA4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69C4F69F-B06B-2156-B70E-86C3B74381A7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55" name="TextBox 6">
                <a:extLst>
                  <a:ext uri="{FF2B5EF4-FFF2-40B4-BE49-F238E27FC236}">
                    <a16:creationId xmlns:a16="http://schemas.microsoft.com/office/drawing/2014/main" id="{8A85B419-E851-1B31-32F4-7D8EB95C28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3" name="TextBox 7">
              <a:extLst>
                <a:ext uri="{FF2B5EF4-FFF2-40B4-BE49-F238E27FC236}">
                  <a16:creationId xmlns:a16="http://schemas.microsoft.com/office/drawing/2014/main" id="{51BEA258-9A5D-B073-450E-8E6D6F3BB36D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التجارب والنتائج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56" name="Google Shape;199;p32">
            <a:extLst>
              <a:ext uri="{FF2B5EF4-FFF2-40B4-BE49-F238E27FC236}">
                <a16:creationId xmlns:a16="http://schemas.microsoft.com/office/drawing/2014/main" id="{C6738240-6AC2-34B9-A77F-7149D1E0678F}"/>
              </a:ext>
            </a:extLst>
          </p:cNvPr>
          <p:cNvSpPr txBox="1">
            <a:spLocks/>
          </p:cNvSpPr>
          <p:nvPr/>
        </p:nvSpPr>
        <p:spPr>
          <a:xfrm>
            <a:off x="7391400" y="555196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7" name="Group 3">
            <a:extLst>
              <a:ext uri="{FF2B5EF4-FFF2-40B4-BE49-F238E27FC236}">
                <a16:creationId xmlns:a16="http://schemas.microsoft.com/office/drawing/2014/main" id="{0BCA0D06-472A-AA6B-A1A1-4F96AA20B2F2}"/>
              </a:ext>
            </a:extLst>
          </p:cNvPr>
          <p:cNvGrpSpPr/>
          <p:nvPr/>
        </p:nvGrpSpPr>
        <p:grpSpPr>
          <a:xfrm>
            <a:off x="4080446" y="7017386"/>
            <a:ext cx="3142129" cy="931128"/>
            <a:chOff x="0" y="0"/>
            <a:chExt cx="8868713" cy="3287792"/>
          </a:xfrm>
        </p:grpSpPr>
        <p:grpSp>
          <p:nvGrpSpPr>
            <p:cNvPr id="59" name="Group 4">
              <a:extLst>
                <a:ext uri="{FF2B5EF4-FFF2-40B4-BE49-F238E27FC236}">
                  <a16:creationId xmlns:a16="http://schemas.microsoft.com/office/drawing/2014/main" id="{6C4D55A1-312A-F203-CBF1-0B4C9EFAB4B0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7F5B2F55-EE5B-A4D5-33B5-9EB3BA864992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1556D4D6-ADA0-9249-056E-53B4079D4B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0" name="TextBox 7">
              <a:extLst>
                <a:ext uri="{FF2B5EF4-FFF2-40B4-BE49-F238E27FC236}">
                  <a16:creationId xmlns:a16="http://schemas.microsoft.com/office/drawing/2014/main" id="{E650EF92-DFB8-3910-17F1-3F475E9EE624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القسم البرمجي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63" name="Google Shape;199;p32">
            <a:extLst>
              <a:ext uri="{FF2B5EF4-FFF2-40B4-BE49-F238E27FC236}">
                <a16:creationId xmlns:a16="http://schemas.microsoft.com/office/drawing/2014/main" id="{42AC2632-9296-40F9-B77E-18FA02BECFD8}"/>
              </a:ext>
            </a:extLst>
          </p:cNvPr>
          <p:cNvSpPr txBox="1">
            <a:spLocks/>
          </p:cNvSpPr>
          <p:nvPr/>
        </p:nvSpPr>
        <p:spPr>
          <a:xfrm>
            <a:off x="7391400" y="6968204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83" name="Group 3">
            <a:extLst>
              <a:ext uri="{FF2B5EF4-FFF2-40B4-BE49-F238E27FC236}">
                <a16:creationId xmlns:a16="http://schemas.microsoft.com/office/drawing/2014/main" id="{57F376BA-0B85-97A9-1629-F33E0E52C3F2}"/>
              </a:ext>
            </a:extLst>
          </p:cNvPr>
          <p:cNvGrpSpPr/>
          <p:nvPr/>
        </p:nvGrpSpPr>
        <p:grpSpPr>
          <a:xfrm>
            <a:off x="11698457" y="6579011"/>
            <a:ext cx="3142129" cy="931128"/>
            <a:chOff x="0" y="0"/>
            <a:chExt cx="8868713" cy="3287792"/>
          </a:xfrm>
        </p:grpSpPr>
        <p:grpSp>
          <p:nvGrpSpPr>
            <p:cNvPr id="84" name="Group 4">
              <a:extLst>
                <a:ext uri="{FF2B5EF4-FFF2-40B4-BE49-F238E27FC236}">
                  <a16:creationId xmlns:a16="http://schemas.microsoft.com/office/drawing/2014/main" id="{AC954C44-44A0-66B6-CA68-E65115411A06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86" name="Freeform 5">
                <a:extLst>
                  <a:ext uri="{FF2B5EF4-FFF2-40B4-BE49-F238E27FC236}">
                    <a16:creationId xmlns:a16="http://schemas.microsoft.com/office/drawing/2014/main" id="{4CCFE5C0-F5D8-E2A5-67E7-274477B8E491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7" name="TextBox 6">
                <a:extLst>
                  <a:ext uri="{FF2B5EF4-FFF2-40B4-BE49-F238E27FC236}">
                    <a16:creationId xmlns:a16="http://schemas.microsoft.com/office/drawing/2014/main" id="{21C858BE-C816-078D-EA5B-6772776D92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 rtl="1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5" name="TextBox 7">
              <a:extLst>
                <a:ext uri="{FF2B5EF4-FFF2-40B4-BE49-F238E27FC236}">
                  <a16:creationId xmlns:a16="http://schemas.microsoft.com/office/drawing/2014/main" id="{BA5FD279-3690-6B10-AA5F-76C502BD9613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الخاتمة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8" name="Google Shape;199;p32">
            <a:extLst>
              <a:ext uri="{FF2B5EF4-FFF2-40B4-BE49-F238E27FC236}">
                <a16:creationId xmlns:a16="http://schemas.microsoft.com/office/drawing/2014/main" id="{8BC850DD-75C2-CA2F-F696-284BDA8EE4BE}"/>
              </a:ext>
            </a:extLst>
          </p:cNvPr>
          <p:cNvSpPr txBox="1">
            <a:spLocks/>
          </p:cNvSpPr>
          <p:nvPr/>
        </p:nvSpPr>
        <p:spPr>
          <a:xfrm>
            <a:off x="15009411" y="652982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03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89" name="Group 3">
            <a:extLst>
              <a:ext uri="{FF2B5EF4-FFF2-40B4-BE49-F238E27FC236}">
                <a16:creationId xmlns:a16="http://schemas.microsoft.com/office/drawing/2014/main" id="{18640C01-958E-204E-B7FF-AA2D1936989E}"/>
              </a:ext>
            </a:extLst>
          </p:cNvPr>
          <p:cNvGrpSpPr/>
          <p:nvPr/>
        </p:nvGrpSpPr>
        <p:grpSpPr>
          <a:xfrm>
            <a:off x="4080446" y="2831765"/>
            <a:ext cx="3142129" cy="931128"/>
            <a:chOff x="0" y="0"/>
            <a:chExt cx="8868713" cy="3287792"/>
          </a:xfrm>
        </p:grpSpPr>
        <p:grpSp>
          <p:nvGrpSpPr>
            <p:cNvPr id="90" name="Group 4">
              <a:extLst>
                <a:ext uri="{FF2B5EF4-FFF2-40B4-BE49-F238E27FC236}">
                  <a16:creationId xmlns:a16="http://schemas.microsoft.com/office/drawing/2014/main" id="{4E92CA66-643C-5531-B7CA-91B6B5B82148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92" name="Freeform 5">
                <a:extLst>
                  <a:ext uri="{FF2B5EF4-FFF2-40B4-BE49-F238E27FC236}">
                    <a16:creationId xmlns:a16="http://schemas.microsoft.com/office/drawing/2014/main" id="{630832DC-21B1-9D15-494B-9B4523F308F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93" name="TextBox 6">
                <a:extLst>
                  <a:ext uri="{FF2B5EF4-FFF2-40B4-BE49-F238E27FC236}">
                    <a16:creationId xmlns:a16="http://schemas.microsoft.com/office/drawing/2014/main" id="{5317ECEF-9EE9-34A3-9352-949FD13DD91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1" name="TextBox 7">
              <a:extLst>
                <a:ext uri="{FF2B5EF4-FFF2-40B4-BE49-F238E27FC236}">
                  <a16:creationId xmlns:a16="http://schemas.microsoft.com/office/drawing/2014/main" id="{D0A10D2D-F80F-6456-9506-8F6141371B3F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مجموعة البيانات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94" name="Google Shape;199;p32">
            <a:extLst>
              <a:ext uri="{FF2B5EF4-FFF2-40B4-BE49-F238E27FC236}">
                <a16:creationId xmlns:a16="http://schemas.microsoft.com/office/drawing/2014/main" id="{12666CCB-A54C-A3CE-DFA4-2F7754D4C49D}"/>
              </a:ext>
            </a:extLst>
          </p:cNvPr>
          <p:cNvSpPr txBox="1">
            <a:spLocks/>
          </p:cNvSpPr>
          <p:nvPr/>
        </p:nvSpPr>
        <p:spPr>
          <a:xfrm>
            <a:off x="7391400" y="2782583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8959075F-B21C-C217-2710-A4FDAD5538DA}"/>
              </a:ext>
            </a:extLst>
          </p:cNvPr>
          <p:cNvCxnSpPr>
            <a:stCxn id="35" idx="1"/>
          </p:cNvCxnSpPr>
          <p:nvPr/>
        </p:nvCxnSpPr>
        <p:spPr>
          <a:xfrm rot="10800000">
            <a:off x="8840612" y="3213567"/>
            <a:ext cx="3059164" cy="2208256"/>
          </a:xfrm>
          <a:prstGeom prst="bentConnector3">
            <a:avLst/>
          </a:prstGeom>
          <a:ln>
            <a:solidFill>
              <a:srgbClr val="FF66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5A633A94-E478-F277-B871-B7CE49F4D43C}"/>
              </a:ext>
            </a:extLst>
          </p:cNvPr>
          <p:cNvCxnSpPr>
            <a:endCxn id="44" idx="3"/>
          </p:cNvCxnSpPr>
          <p:nvPr/>
        </p:nvCxnSpPr>
        <p:spPr>
          <a:xfrm rot="10800000">
            <a:off x="8840613" y="4665610"/>
            <a:ext cx="3058587" cy="756215"/>
          </a:xfrm>
          <a:prstGeom prst="bentConnector3">
            <a:avLst/>
          </a:prstGeom>
          <a:ln>
            <a:solidFill>
              <a:srgbClr val="F159B3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C09637A7-4D4B-DB08-3682-00422D2D8FDA}"/>
              </a:ext>
            </a:extLst>
          </p:cNvPr>
          <p:cNvCxnSpPr>
            <a:stCxn id="35" idx="1"/>
            <a:endCxn id="56" idx="3"/>
          </p:cNvCxnSpPr>
          <p:nvPr/>
        </p:nvCxnSpPr>
        <p:spPr>
          <a:xfrm rot="10800000" flipV="1">
            <a:off x="8840612" y="5421822"/>
            <a:ext cx="3059164" cy="623023"/>
          </a:xfrm>
          <a:prstGeom prst="bentConnector3">
            <a:avLst/>
          </a:prstGeom>
          <a:ln>
            <a:solidFill>
              <a:srgbClr val="EC2099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1B57E7CE-643D-3687-CE67-46F5206DAE1F}"/>
              </a:ext>
            </a:extLst>
          </p:cNvPr>
          <p:cNvCxnSpPr>
            <a:endCxn id="63" idx="3"/>
          </p:cNvCxnSpPr>
          <p:nvPr/>
        </p:nvCxnSpPr>
        <p:spPr>
          <a:xfrm rot="10800000" flipV="1">
            <a:off x="8840613" y="5421821"/>
            <a:ext cx="3058587" cy="2039259"/>
          </a:xfrm>
          <a:prstGeom prst="bentConnector3">
            <a:avLst/>
          </a:prstGeom>
          <a:ln>
            <a:solidFill>
              <a:srgbClr val="EE1EC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AE268052-E20B-3950-B5FB-487CEC8FAC13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</p:spTree>
    <p:extLst>
      <p:ext uri="{BB962C8B-B14F-4D97-AF65-F5344CB8AC3E}">
        <p14:creationId xmlns:p14="http://schemas.microsoft.com/office/powerpoint/2010/main" val="263084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53F90-54FE-495C-5CCF-396036D4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376E74D-977B-DADB-A9C5-252DA22D165F}"/>
              </a:ext>
            </a:extLst>
          </p:cNvPr>
          <p:cNvSpPr txBox="1"/>
          <p:nvPr/>
        </p:nvSpPr>
        <p:spPr>
          <a:xfrm>
            <a:off x="1028700" y="286484"/>
            <a:ext cx="16230600" cy="286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kumimoji="0" lang="en-US" sz="7000" b="1" i="0" u="none" strike="noStrike" kern="1200" cap="none" spc="0" normalizeH="0" baseline="0" noProof="0" dirty="0" err="1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medCLIP</a:t>
            </a:r>
            <a:endParaRPr kumimoji="0" lang="ar-SY" sz="7000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  <a:p>
            <a:pPr algn="ctr">
              <a:defRPr/>
            </a:pPr>
            <a:r>
              <a:rPr lang="en-US" sz="3500" dirty="0">
                <a:solidFill>
                  <a:srgbClr val="1A1C1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Contrastive Language–Image Pretraining</a:t>
            </a:r>
          </a:p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00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8355746-A846-B9E4-60D2-B9BAE058D2F7}"/>
              </a:ext>
            </a:extLst>
          </p:cNvPr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C7B3D10-3510-D28F-5CCD-5D80B2A5AF3D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1AAF1C6A-B66A-FD4E-7CB7-C6D627E813DA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5" name="Freeform 25">
                <a:extLst>
                  <a:ext uri="{FF2B5EF4-FFF2-40B4-BE49-F238E27FC236}">
                    <a16:creationId xmlns:a16="http://schemas.microsoft.com/office/drawing/2014/main" id="{DC03412A-8E7B-2FB2-A26E-23A30C79B3BE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6" name="TextBox 26">
                <a:extLst>
                  <a:ext uri="{FF2B5EF4-FFF2-40B4-BE49-F238E27FC236}">
                    <a16:creationId xmlns:a16="http://schemas.microsoft.com/office/drawing/2014/main" id="{7EAB55DA-F8C0-6C6A-D527-5002DE1665C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92455943-C221-F01D-C965-DD066BBF6EAA}"/>
                </a:ext>
              </a:extLst>
            </p:cNvPr>
            <p:cNvSpPr txBox="1"/>
            <p:nvPr/>
          </p:nvSpPr>
          <p:spPr>
            <a:xfrm>
              <a:off x="0" y="437581"/>
              <a:ext cx="2083482" cy="1246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  <a:endParaRPr kumimoji="0" lang="ar-SY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C7EC8C1C-6182-57E9-857A-FF294B2F3E20}"/>
              </a:ext>
            </a:extLst>
          </p:cNvPr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6B25F9B-E663-D3CB-5485-B14829C55130}"/>
              </a:ext>
            </a:extLst>
          </p:cNvPr>
          <p:cNvSpPr txBox="1"/>
          <p:nvPr/>
        </p:nvSpPr>
        <p:spPr>
          <a:xfrm>
            <a:off x="2095499" y="3400449"/>
            <a:ext cx="1409700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1A1C1F"/>
                </a:solidFill>
                <a:latin typeface="Montserrat"/>
                <a:ea typeface="Montserrat"/>
                <a:cs typeface="Montserrat"/>
                <a:sym typeface="Montserrat"/>
              </a:rPr>
              <a:t>1- vision encoder: SWIN</a:t>
            </a:r>
          </a:p>
          <a:p>
            <a:pPr algn="ctr"/>
            <a:r>
              <a:rPr lang="en-US" sz="4400" dirty="0">
                <a:solidFill>
                  <a:srgbClr val="1A1C1F"/>
                </a:solidFill>
                <a:latin typeface="Montserrat"/>
                <a:ea typeface="Montserrat"/>
                <a:cs typeface="Montserrat"/>
                <a:sym typeface="Montserrat"/>
              </a:rPr>
              <a:t>Shifted Window Transformer</a:t>
            </a:r>
          </a:p>
          <a:p>
            <a:pPr algn="ctr"/>
            <a:endParaRPr lang="en-US" sz="44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algn="ctr" rtl="0" eaLnBrk="1" latinLnBrk="0" hangingPunct="1"/>
            <a:r>
              <a:rPr lang="en-US" sz="4400" dirty="0">
                <a:solidFill>
                  <a:srgbClr val="1A1C1F"/>
                </a:solidFill>
                <a:latin typeface="Montserrat"/>
                <a:ea typeface="Montserrat"/>
                <a:cs typeface="Montserrat"/>
                <a:sym typeface="Montserrat"/>
              </a:rPr>
              <a:t>2-</a:t>
            </a:r>
            <a:r>
              <a:rPr lang="en-US" sz="4400" dirty="0">
                <a:solidFill>
                  <a:srgbClr val="1A1C1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Text encoder: </a:t>
            </a:r>
            <a:r>
              <a:rPr lang="en-US" sz="4400" dirty="0" err="1">
                <a:solidFill>
                  <a:srgbClr val="1A1C1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BioClinicalBERT</a:t>
            </a:r>
            <a:endParaRPr lang="en-US" sz="4400" dirty="0">
              <a:solidFill>
                <a:srgbClr val="1A1C1F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algn="ctr" rtl="0" eaLnBrk="1" latinLnBrk="0" hangingPunct="1"/>
            <a:r>
              <a:rPr lang="en-US" sz="4400" dirty="0">
                <a:solidFill>
                  <a:srgbClr val="1A1C1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Bidirectional Encoder Representations from Transformers</a:t>
            </a:r>
          </a:p>
          <a:p>
            <a:pPr marL="0" algn="ctr" rtl="0" eaLnBrk="1" latinLnBrk="0" hangingPunct="1"/>
            <a:r>
              <a:rPr lang="en-US" sz="4400" kern="1200" dirty="0"/>
              <a:t> </a:t>
            </a:r>
            <a:endParaRPr lang="ar-SY" sz="4400" dirty="0">
              <a:solidFill>
                <a:srgbClr val="1A1C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1253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3B6D3-4C45-527E-A34A-331A08AF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6752520-A31B-1897-0D5E-E5BAE98FC6D4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39DDED6-5FB9-C698-B698-D09181A87118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مخطط التعلم العميق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EB3EE9B-490D-A539-BFFA-FD935C6C692B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24884B79-3086-145E-340A-50AE4A877075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C370022-DD18-2BE9-8B58-CE3AA861113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CF8351A-22BE-98E1-6D5A-25E30DC069B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5871BF3-DF41-EE72-CC3A-BF9DA6DEDBAA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8B7F4AED-483F-D864-7427-C53E09ECBCB0}"/>
              </a:ext>
            </a:extLst>
          </p:cNvPr>
          <p:cNvSpPr/>
          <p:nvPr/>
        </p:nvSpPr>
        <p:spPr>
          <a:xfrm>
            <a:off x="-3542020" y="-56608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D2027D-8C54-8A5B-A2AE-126F3A775D94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Canvas 8">
            <a:extLst>
              <a:ext uri="{FF2B5EF4-FFF2-40B4-BE49-F238E27FC236}">
                <a16:creationId xmlns:a16="http://schemas.microsoft.com/office/drawing/2014/main" id="{196E46A6-B248-503D-41CB-6C0C57D1C72F}"/>
              </a:ext>
            </a:extLst>
          </p:cNvPr>
          <p:cNvGrpSpPr/>
          <p:nvPr/>
        </p:nvGrpSpPr>
        <p:grpSpPr>
          <a:xfrm>
            <a:off x="76200" y="2267591"/>
            <a:ext cx="18135600" cy="7524750"/>
            <a:chOff x="-629854" y="0"/>
            <a:chExt cx="6825695" cy="2682240"/>
          </a:xfrm>
          <a:solidFill>
            <a:schemeClr val="bg1">
              <a:lumMod val="95000"/>
            </a:schemeClr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A5922B0-301D-62AF-B760-0FFD0BC32FEC}"/>
                </a:ext>
              </a:extLst>
            </p:cNvPr>
            <p:cNvSpPr/>
            <p:nvPr/>
          </p:nvSpPr>
          <p:spPr>
            <a:xfrm>
              <a:off x="-629854" y="0"/>
              <a:ext cx="6825695" cy="2682240"/>
            </a:xfrm>
            <a:prstGeom prst="rect">
              <a:avLst/>
            </a:pr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401A334-465B-7150-4B09-3E790054DC64}"/>
                </a:ext>
              </a:extLst>
            </p:cNvPr>
            <p:cNvSpPr/>
            <p:nvPr/>
          </p:nvSpPr>
          <p:spPr>
            <a:xfrm>
              <a:off x="-228329" y="136071"/>
              <a:ext cx="867496" cy="2237016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 Box 402162206">
              <a:extLst>
                <a:ext uri="{FF2B5EF4-FFF2-40B4-BE49-F238E27FC236}">
                  <a16:creationId xmlns:a16="http://schemas.microsoft.com/office/drawing/2014/main" id="{016BEA73-4F5C-AE4D-6155-0B3152193401}"/>
                </a:ext>
              </a:extLst>
            </p:cNvPr>
            <p:cNvSpPr txBox="1"/>
            <p:nvPr/>
          </p:nvSpPr>
          <p:spPr>
            <a:xfrm>
              <a:off x="51339" y="59539"/>
              <a:ext cx="549729" cy="272143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Inputs</a:t>
              </a:r>
            </a:p>
          </p:txBody>
        </p:sp>
        <p:sp>
          <p:nvSpPr>
            <p:cNvPr id="42" name="Frame 41">
              <a:extLst>
                <a:ext uri="{FF2B5EF4-FFF2-40B4-BE49-F238E27FC236}">
                  <a16:creationId xmlns:a16="http://schemas.microsoft.com/office/drawing/2014/main" id="{EB1260D9-D555-FB1C-E93F-5123E0449277}"/>
                </a:ext>
              </a:extLst>
            </p:cNvPr>
            <p:cNvSpPr/>
            <p:nvPr/>
          </p:nvSpPr>
          <p:spPr>
            <a:xfrm>
              <a:off x="-106503" y="500743"/>
              <a:ext cx="587829" cy="440871"/>
            </a:xfrm>
            <a:prstGeom prst="frame">
              <a:avLst>
                <a:gd name="adj1" fmla="val 3858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 Box 1312529907">
              <a:extLst>
                <a:ext uri="{FF2B5EF4-FFF2-40B4-BE49-F238E27FC236}">
                  <a16:creationId xmlns:a16="http://schemas.microsoft.com/office/drawing/2014/main" id="{4E17A605-7F9E-06A4-EEB9-4DD937BDB7DB}"/>
                </a:ext>
              </a:extLst>
            </p:cNvPr>
            <p:cNvSpPr txBox="1"/>
            <p:nvPr/>
          </p:nvSpPr>
          <p:spPr>
            <a:xfrm>
              <a:off x="-68403" y="544286"/>
              <a:ext cx="506186" cy="364671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MRI image</a:t>
              </a:r>
            </a:p>
          </p:txBody>
        </p:sp>
        <p:sp>
          <p:nvSpPr>
            <p:cNvPr id="44" name="Scroll: Vertical 43">
              <a:extLst>
                <a:ext uri="{FF2B5EF4-FFF2-40B4-BE49-F238E27FC236}">
                  <a16:creationId xmlns:a16="http://schemas.microsoft.com/office/drawing/2014/main" id="{A7A04CA1-162F-1549-1A21-D1833C41D8A7}"/>
                </a:ext>
              </a:extLst>
            </p:cNvPr>
            <p:cNvSpPr/>
            <p:nvPr/>
          </p:nvSpPr>
          <p:spPr>
            <a:xfrm>
              <a:off x="-129363" y="1420570"/>
              <a:ext cx="730431" cy="691240"/>
            </a:xfrm>
            <a:prstGeom prst="verticalScroll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 Box 1">
              <a:extLst>
                <a:ext uri="{FF2B5EF4-FFF2-40B4-BE49-F238E27FC236}">
                  <a16:creationId xmlns:a16="http://schemas.microsoft.com/office/drawing/2014/main" id="{2C2FDF4F-4E5E-73A3-A97F-090E8DC144DE}"/>
                </a:ext>
              </a:extLst>
            </p:cNvPr>
            <p:cNvSpPr txBox="1"/>
            <p:nvPr/>
          </p:nvSpPr>
          <p:spPr>
            <a:xfrm>
              <a:off x="-16526" y="1565658"/>
              <a:ext cx="533848" cy="464468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Disease Descriptions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</p:grpSp>
      <p:sp>
        <p:nvSpPr>
          <p:cNvPr id="65" name="Freeform 5">
            <a:extLst>
              <a:ext uri="{FF2B5EF4-FFF2-40B4-BE49-F238E27FC236}">
                <a16:creationId xmlns:a16="http://schemas.microsoft.com/office/drawing/2014/main" id="{F6B0467C-EAF5-FE59-541B-BD2A14CE3303}"/>
              </a:ext>
            </a:extLst>
          </p:cNvPr>
          <p:cNvSpPr/>
          <p:nvPr/>
        </p:nvSpPr>
        <p:spPr>
          <a:xfrm>
            <a:off x="603811" y="9521483"/>
            <a:ext cx="1878686" cy="469671"/>
          </a:xfrm>
          <a:custGeom>
            <a:avLst/>
            <a:gdLst/>
            <a:ahLst/>
            <a:cxnLst/>
            <a:rect l="l" t="t" r="r" b="b"/>
            <a:pathLst>
              <a:path w="1878686" h="469671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579F6A5-D9A8-BBCA-BE3F-99D42CB138E4}"/>
              </a:ext>
            </a:extLst>
          </p:cNvPr>
          <p:cNvCxnSpPr>
            <a:cxnSpLocks/>
          </p:cNvCxnSpPr>
          <p:nvPr/>
        </p:nvCxnSpPr>
        <p:spPr>
          <a:xfrm>
            <a:off x="3028561" y="4290785"/>
            <a:ext cx="2966371" cy="3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Box 1">
            <a:extLst>
              <a:ext uri="{FF2B5EF4-FFF2-40B4-BE49-F238E27FC236}">
                <a16:creationId xmlns:a16="http://schemas.microsoft.com/office/drawing/2014/main" id="{5C2D8092-4837-E58D-A0D6-85F111B0F461}"/>
              </a:ext>
            </a:extLst>
          </p:cNvPr>
          <p:cNvSpPr txBox="1"/>
          <p:nvPr/>
        </p:nvSpPr>
        <p:spPr>
          <a:xfrm>
            <a:off x="3630812" y="4076699"/>
            <a:ext cx="1937253" cy="71978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Preprocessing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107EB2-B225-850D-F2BA-F5C5C2645614}"/>
              </a:ext>
            </a:extLst>
          </p:cNvPr>
          <p:cNvSpPr/>
          <p:nvPr/>
        </p:nvSpPr>
        <p:spPr>
          <a:xfrm>
            <a:off x="5994932" y="3718184"/>
            <a:ext cx="1801884" cy="11452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Vision Encoder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184C61-EEC9-4597-D913-3AE6325D0689}"/>
              </a:ext>
            </a:extLst>
          </p:cNvPr>
          <p:cNvSpPr/>
          <p:nvPr/>
        </p:nvSpPr>
        <p:spPr>
          <a:xfrm>
            <a:off x="8557022" y="3740829"/>
            <a:ext cx="1933057" cy="1097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Image Embedding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5F99ED7-126F-730A-2B4E-06A2AF2D4BAC}"/>
              </a:ext>
            </a:extLst>
          </p:cNvPr>
          <p:cNvCxnSpPr>
            <a:endCxn id="6" idx="1"/>
          </p:cNvCxnSpPr>
          <p:nvPr/>
        </p:nvCxnSpPr>
        <p:spPr>
          <a:xfrm flipV="1">
            <a:off x="7796816" y="4289764"/>
            <a:ext cx="760206" cy="1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937AE3A-2F44-85C4-B04D-338809518540}"/>
              </a:ext>
            </a:extLst>
          </p:cNvPr>
          <p:cNvSpPr/>
          <p:nvPr/>
        </p:nvSpPr>
        <p:spPr>
          <a:xfrm>
            <a:off x="10966349" y="371818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4D9736-6C78-130C-B126-9C9420F8AE6F}"/>
              </a:ext>
            </a:extLst>
          </p:cNvPr>
          <p:cNvCxnSpPr/>
          <p:nvPr/>
        </p:nvCxnSpPr>
        <p:spPr>
          <a:xfrm>
            <a:off x="10490079" y="4289764"/>
            <a:ext cx="476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72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40AF9-E825-A2C6-B0C0-A43A361E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2309EE2-B41A-A05F-211F-2ACE79B9D283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E92C45C-6B38-61E8-27EA-BDED0C684927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رأس الإسقاط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0E163A0F-C8F1-4E75-EF71-611EB9BAF0E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33DFF92D-697C-96CC-87C6-DEFF4E9AE08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C07B9A44-EBFB-1773-1502-F65DDDFCAFE0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EE80264-46A7-C5C8-7318-9E77C1BC115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A1C9230-D05A-097A-5EA1-2F743B6521DC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D388A855-E111-AD78-9CD7-CABAAA0A04E1}"/>
              </a:ext>
            </a:extLst>
          </p:cNvPr>
          <p:cNvSpPr/>
          <p:nvPr/>
        </p:nvSpPr>
        <p:spPr>
          <a:xfrm>
            <a:off x="-3542020" y="-56608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33B190-99AD-159D-FF4E-29E5E0952C08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Canvas 8">
            <a:extLst>
              <a:ext uri="{FF2B5EF4-FFF2-40B4-BE49-F238E27FC236}">
                <a16:creationId xmlns:a16="http://schemas.microsoft.com/office/drawing/2014/main" id="{441F3DF1-3326-633C-1370-B2B8550FCD18}"/>
              </a:ext>
            </a:extLst>
          </p:cNvPr>
          <p:cNvGrpSpPr/>
          <p:nvPr/>
        </p:nvGrpSpPr>
        <p:grpSpPr>
          <a:xfrm>
            <a:off x="1066798" y="2247900"/>
            <a:ext cx="15773401" cy="6007934"/>
            <a:chOff x="-437919" y="0"/>
            <a:chExt cx="6538991" cy="2682240"/>
          </a:xfrm>
          <a:solidFill>
            <a:schemeClr val="bg1">
              <a:lumMod val="95000"/>
            </a:schemeClr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B1D146-ABDC-B9B5-6125-E202ABAAEBEB}"/>
                </a:ext>
              </a:extLst>
            </p:cNvPr>
            <p:cNvSpPr/>
            <p:nvPr/>
          </p:nvSpPr>
          <p:spPr>
            <a:xfrm>
              <a:off x="-437919" y="0"/>
              <a:ext cx="6538991" cy="2682240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ame 41">
              <a:extLst>
                <a:ext uri="{FF2B5EF4-FFF2-40B4-BE49-F238E27FC236}">
                  <a16:creationId xmlns:a16="http://schemas.microsoft.com/office/drawing/2014/main" id="{CA62FDA7-13E1-5CA9-801B-8BE24030F9C0}"/>
                </a:ext>
              </a:extLst>
            </p:cNvPr>
            <p:cNvSpPr/>
            <p:nvPr/>
          </p:nvSpPr>
          <p:spPr>
            <a:xfrm>
              <a:off x="26981" y="1260102"/>
              <a:ext cx="767084" cy="440871"/>
            </a:xfrm>
            <a:prstGeom prst="frame">
              <a:avLst>
                <a:gd name="adj1" fmla="val 3858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" name="Text Box 1312529907">
              <a:extLst>
                <a:ext uri="{FF2B5EF4-FFF2-40B4-BE49-F238E27FC236}">
                  <a16:creationId xmlns:a16="http://schemas.microsoft.com/office/drawing/2014/main" id="{87D5E42F-58D3-88D7-B676-3F9F6D4802B2}"/>
                </a:ext>
              </a:extLst>
            </p:cNvPr>
            <p:cNvSpPr txBox="1"/>
            <p:nvPr/>
          </p:nvSpPr>
          <p:spPr>
            <a:xfrm>
              <a:off x="109058" y="1322587"/>
              <a:ext cx="621829" cy="310347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Embedded vector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2930CB7-F7D1-FFAC-EFDB-1405E59FF5B2}"/>
                </a:ext>
              </a:extLst>
            </p:cNvPr>
            <p:cNvSpPr/>
            <p:nvPr/>
          </p:nvSpPr>
          <p:spPr>
            <a:xfrm>
              <a:off x="1236316" y="1258740"/>
              <a:ext cx="678175" cy="40821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Linear layer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ADBE3E3-4C9A-7EE5-F782-0A97DA0B8BDE}"/>
                </a:ext>
              </a:extLst>
            </p:cNvPr>
            <p:cNvCxnSpPr>
              <a:cxnSpLocks/>
              <a:stCxn id="42" idx="3"/>
              <a:endCxn id="46" idx="1"/>
            </p:cNvCxnSpPr>
            <p:nvPr/>
          </p:nvCxnSpPr>
          <p:spPr>
            <a:xfrm flipV="1">
              <a:off x="794065" y="1462847"/>
              <a:ext cx="442251" cy="1769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A91A780-5790-D886-06EE-04F98D4F2CC6}"/>
                </a:ext>
              </a:extLst>
            </p:cNvPr>
            <p:cNvSpPr/>
            <p:nvPr/>
          </p:nvSpPr>
          <p:spPr>
            <a:xfrm>
              <a:off x="4774321" y="1241592"/>
              <a:ext cx="797952" cy="3913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Dropout (0.4)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</p:grpSp>
      <p:sp>
        <p:nvSpPr>
          <p:cNvPr id="65" name="Freeform 5">
            <a:extLst>
              <a:ext uri="{FF2B5EF4-FFF2-40B4-BE49-F238E27FC236}">
                <a16:creationId xmlns:a16="http://schemas.microsoft.com/office/drawing/2014/main" id="{70C86DB9-AD17-0411-8C2C-026032EA68E1}"/>
              </a:ext>
            </a:extLst>
          </p:cNvPr>
          <p:cNvSpPr/>
          <p:nvPr/>
        </p:nvSpPr>
        <p:spPr>
          <a:xfrm>
            <a:off x="603811" y="9521483"/>
            <a:ext cx="1878686" cy="469671"/>
          </a:xfrm>
          <a:custGeom>
            <a:avLst/>
            <a:gdLst/>
            <a:ahLst/>
            <a:cxnLst/>
            <a:rect l="l" t="t" r="r" b="b"/>
            <a:pathLst>
              <a:path w="1878686" h="469671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F481FD-B9EA-7093-5ACC-676B5DCEA383}"/>
              </a:ext>
            </a:extLst>
          </p:cNvPr>
          <p:cNvSpPr/>
          <p:nvPr/>
        </p:nvSpPr>
        <p:spPr>
          <a:xfrm>
            <a:off x="11028635" y="4914900"/>
            <a:ext cx="1933057" cy="11436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Normalization Layer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BAE651-1589-B565-51CD-ED0EB63CB21A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12961692" y="5467218"/>
            <a:ext cx="678109" cy="19520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4FFCBBD-FF10-E8D3-0096-73917E74AC08}"/>
              </a:ext>
            </a:extLst>
          </p:cNvPr>
          <p:cNvSpPr/>
          <p:nvPr/>
        </p:nvSpPr>
        <p:spPr>
          <a:xfrm>
            <a:off x="8153400" y="4991100"/>
            <a:ext cx="1933057" cy="10314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ReLU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B96D55-0FDC-AEF3-35CC-A598FA7818DE}"/>
              </a:ext>
            </a:extLst>
          </p:cNvPr>
          <p:cNvCxnSpPr>
            <a:cxnSpLocks/>
            <a:stCxn id="46" idx="3"/>
            <a:endCxn id="25" idx="1"/>
          </p:cNvCxnSpPr>
          <p:nvPr/>
        </p:nvCxnSpPr>
        <p:spPr>
          <a:xfrm flipV="1">
            <a:off x="6741299" y="5506807"/>
            <a:ext cx="1412101" cy="1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E8BC375-9D31-CAB0-7780-885C34E2CD22}"/>
              </a:ext>
            </a:extLst>
          </p:cNvPr>
          <p:cNvCxnSpPr>
            <a:cxnSpLocks/>
            <a:stCxn id="25" idx="3"/>
            <a:endCxn id="7" idx="1"/>
          </p:cNvCxnSpPr>
          <p:nvPr/>
        </p:nvCxnSpPr>
        <p:spPr>
          <a:xfrm flipV="1">
            <a:off x="10086457" y="5486738"/>
            <a:ext cx="942178" cy="20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A4A2B10-DB00-D9C5-4FD4-B2BA73E3B83F}"/>
              </a:ext>
            </a:extLst>
          </p:cNvPr>
          <p:cNvSpPr txBox="1"/>
          <p:nvPr/>
        </p:nvSpPr>
        <p:spPr>
          <a:xfrm>
            <a:off x="6705600" y="5062835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106040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9045-6475-FCF4-B9D0-226787E1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B7AE55A-769A-0763-4582-20E2244D74C6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8678FFD-F6C5-1FD9-C2C6-0303930E9C9F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مخطط التعلم العميق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BF498B1A-3A65-CC5E-81D4-7783DF1E83B2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6920FCC3-F2E6-8955-3ABB-C911B622222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1D6B06FD-D1B3-F9B8-160B-EB75346C9BE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A1BAE43A-972D-27E5-D923-049F14ABB74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749E0E6-997B-5792-FD17-4E049BCDF3FC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BACC5FB7-720A-9880-3D63-C9B6A6F3C138}"/>
              </a:ext>
            </a:extLst>
          </p:cNvPr>
          <p:cNvSpPr/>
          <p:nvPr/>
        </p:nvSpPr>
        <p:spPr>
          <a:xfrm>
            <a:off x="-3542020" y="-56608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AE0CB8-24BA-575A-06AB-EA18D7519AFA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Canvas 8">
            <a:extLst>
              <a:ext uri="{FF2B5EF4-FFF2-40B4-BE49-F238E27FC236}">
                <a16:creationId xmlns:a16="http://schemas.microsoft.com/office/drawing/2014/main" id="{11D04941-7DAD-2FB3-63A5-24E211A18A45}"/>
              </a:ext>
            </a:extLst>
          </p:cNvPr>
          <p:cNvGrpSpPr/>
          <p:nvPr/>
        </p:nvGrpSpPr>
        <p:grpSpPr>
          <a:xfrm>
            <a:off x="76200" y="2266949"/>
            <a:ext cx="18135600" cy="7524750"/>
            <a:chOff x="-629854" y="-229"/>
            <a:chExt cx="6825695" cy="2682240"/>
          </a:xfrm>
          <a:solidFill>
            <a:schemeClr val="bg1">
              <a:lumMod val="95000"/>
            </a:schemeClr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C8E84A7-0603-A71D-A0E3-19F6249F6B6C}"/>
                </a:ext>
              </a:extLst>
            </p:cNvPr>
            <p:cNvSpPr/>
            <p:nvPr/>
          </p:nvSpPr>
          <p:spPr>
            <a:xfrm>
              <a:off x="-629854" y="-229"/>
              <a:ext cx="6825695" cy="2682240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1FE0CC9-E318-1D2E-6EC5-0E0FA907B74F}"/>
                </a:ext>
              </a:extLst>
            </p:cNvPr>
            <p:cNvSpPr/>
            <p:nvPr/>
          </p:nvSpPr>
          <p:spPr>
            <a:xfrm>
              <a:off x="-228329" y="136071"/>
              <a:ext cx="867496" cy="2237016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Text Box 402162206">
              <a:extLst>
                <a:ext uri="{FF2B5EF4-FFF2-40B4-BE49-F238E27FC236}">
                  <a16:creationId xmlns:a16="http://schemas.microsoft.com/office/drawing/2014/main" id="{042F4027-3836-8E31-5804-478D965DA726}"/>
                </a:ext>
              </a:extLst>
            </p:cNvPr>
            <p:cNvSpPr txBox="1"/>
            <p:nvPr/>
          </p:nvSpPr>
          <p:spPr>
            <a:xfrm>
              <a:off x="51339" y="59539"/>
              <a:ext cx="549729" cy="272143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Inputs</a:t>
              </a:r>
            </a:p>
          </p:txBody>
        </p:sp>
        <p:sp>
          <p:nvSpPr>
            <p:cNvPr id="42" name="Frame 41">
              <a:extLst>
                <a:ext uri="{FF2B5EF4-FFF2-40B4-BE49-F238E27FC236}">
                  <a16:creationId xmlns:a16="http://schemas.microsoft.com/office/drawing/2014/main" id="{07BD156E-D8F7-8BBA-4228-980E322057A0}"/>
                </a:ext>
              </a:extLst>
            </p:cNvPr>
            <p:cNvSpPr/>
            <p:nvPr/>
          </p:nvSpPr>
          <p:spPr>
            <a:xfrm>
              <a:off x="-106503" y="500743"/>
              <a:ext cx="587829" cy="440871"/>
            </a:xfrm>
            <a:prstGeom prst="frame">
              <a:avLst>
                <a:gd name="adj1" fmla="val 3858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" name="Text Box 1312529907">
              <a:extLst>
                <a:ext uri="{FF2B5EF4-FFF2-40B4-BE49-F238E27FC236}">
                  <a16:creationId xmlns:a16="http://schemas.microsoft.com/office/drawing/2014/main" id="{307D9EF1-3BE3-0836-76DD-8808082B037C}"/>
                </a:ext>
              </a:extLst>
            </p:cNvPr>
            <p:cNvSpPr txBox="1"/>
            <p:nvPr/>
          </p:nvSpPr>
          <p:spPr>
            <a:xfrm>
              <a:off x="-68403" y="544286"/>
              <a:ext cx="506186" cy="364671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MRI image</a:t>
              </a:r>
            </a:p>
          </p:txBody>
        </p:sp>
        <p:sp>
          <p:nvSpPr>
            <p:cNvPr id="44" name="Scroll: Vertical 43">
              <a:extLst>
                <a:ext uri="{FF2B5EF4-FFF2-40B4-BE49-F238E27FC236}">
                  <a16:creationId xmlns:a16="http://schemas.microsoft.com/office/drawing/2014/main" id="{D5635E44-6088-65F8-7333-4A6DB855E5A4}"/>
                </a:ext>
              </a:extLst>
            </p:cNvPr>
            <p:cNvSpPr/>
            <p:nvPr/>
          </p:nvSpPr>
          <p:spPr>
            <a:xfrm>
              <a:off x="-129363" y="1420570"/>
              <a:ext cx="730431" cy="636656"/>
            </a:xfrm>
            <a:prstGeom prst="verticalScroll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" name="Text Box 1">
              <a:extLst>
                <a:ext uri="{FF2B5EF4-FFF2-40B4-BE49-F238E27FC236}">
                  <a16:creationId xmlns:a16="http://schemas.microsoft.com/office/drawing/2014/main" id="{F0192B4E-E896-F116-08BB-1201FBEB4F0E}"/>
                </a:ext>
              </a:extLst>
            </p:cNvPr>
            <p:cNvSpPr txBox="1"/>
            <p:nvPr/>
          </p:nvSpPr>
          <p:spPr>
            <a:xfrm>
              <a:off x="13587" y="1595127"/>
              <a:ext cx="503735" cy="395602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US" dirty="0"/>
                <a:t>Disease Descriptions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999393D-F135-1523-0C02-4DF51003938B}"/>
                </a:ext>
              </a:extLst>
            </p:cNvPr>
            <p:cNvSpPr/>
            <p:nvPr/>
          </p:nvSpPr>
          <p:spPr>
            <a:xfrm>
              <a:off x="1597779" y="517072"/>
              <a:ext cx="678175" cy="40821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Vision Encoder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8568577-707E-4590-6012-DF749D3EC957}"/>
                </a:ext>
              </a:extLst>
            </p:cNvPr>
            <p:cNvCxnSpPr>
              <a:cxnSpLocks/>
              <a:stCxn id="42" idx="3"/>
              <a:endCxn id="46" idx="1"/>
            </p:cNvCxnSpPr>
            <p:nvPr/>
          </p:nvCxnSpPr>
          <p:spPr>
            <a:xfrm>
              <a:off x="481326" y="721179"/>
              <a:ext cx="1116453" cy="1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 Box 1">
              <a:extLst>
                <a:ext uri="{FF2B5EF4-FFF2-40B4-BE49-F238E27FC236}">
                  <a16:creationId xmlns:a16="http://schemas.microsoft.com/office/drawing/2014/main" id="{75731A7F-9D57-0DC9-8B1B-F28433C8E02C}"/>
                </a:ext>
              </a:extLst>
            </p:cNvPr>
            <p:cNvSpPr txBox="1"/>
            <p:nvPr/>
          </p:nvSpPr>
          <p:spPr>
            <a:xfrm>
              <a:off x="707995" y="644867"/>
              <a:ext cx="729124" cy="25657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Preprocessing</a:t>
              </a:r>
            </a:p>
          </p:txBody>
        </p:sp>
      </p:grpSp>
      <p:sp>
        <p:nvSpPr>
          <p:cNvPr id="65" name="Freeform 5">
            <a:extLst>
              <a:ext uri="{FF2B5EF4-FFF2-40B4-BE49-F238E27FC236}">
                <a16:creationId xmlns:a16="http://schemas.microsoft.com/office/drawing/2014/main" id="{8408D318-3A32-AA95-A020-1F3E33B09434}"/>
              </a:ext>
            </a:extLst>
          </p:cNvPr>
          <p:cNvSpPr/>
          <p:nvPr/>
        </p:nvSpPr>
        <p:spPr>
          <a:xfrm>
            <a:off x="603811" y="9521483"/>
            <a:ext cx="1878686" cy="469671"/>
          </a:xfrm>
          <a:custGeom>
            <a:avLst/>
            <a:gdLst/>
            <a:ahLst/>
            <a:cxnLst/>
            <a:rect l="l" t="t" r="r" b="b"/>
            <a:pathLst>
              <a:path w="1878686" h="469671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EAC917-6C37-740F-5C7A-7D98592C5B1E}"/>
              </a:ext>
            </a:extLst>
          </p:cNvPr>
          <p:cNvSpPr/>
          <p:nvPr/>
        </p:nvSpPr>
        <p:spPr>
          <a:xfrm>
            <a:off x="10966349" y="371818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8B3660-2D5B-4971-236F-3AD37487E5FE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2725400" y="4289764"/>
            <a:ext cx="393225" cy="258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3753571-A1A5-E1F4-4D88-6C33370AA572}"/>
              </a:ext>
            </a:extLst>
          </p:cNvPr>
          <p:cNvSpPr/>
          <p:nvPr/>
        </p:nvSpPr>
        <p:spPr>
          <a:xfrm>
            <a:off x="8557022" y="3740829"/>
            <a:ext cx="1933057" cy="1097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Image Embedding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C1F6BE4-890F-FAFD-CC8F-4C9BB412A622}"/>
              </a:ext>
            </a:extLst>
          </p:cNvPr>
          <p:cNvCxnSpPr>
            <a:stCxn id="46" idx="3"/>
            <a:endCxn id="25" idx="1"/>
          </p:cNvCxnSpPr>
          <p:nvPr/>
        </p:nvCxnSpPr>
        <p:spPr>
          <a:xfrm flipV="1">
            <a:off x="7796816" y="4289764"/>
            <a:ext cx="760206" cy="1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2F85AC-7F58-45FF-EDD6-E159FDE77F41}"/>
              </a:ext>
            </a:extLst>
          </p:cNvPr>
          <p:cNvCxnSpPr>
            <a:stCxn id="25" idx="3"/>
          </p:cNvCxnSpPr>
          <p:nvPr/>
        </p:nvCxnSpPr>
        <p:spPr>
          <a:xfrm>
            <a:off x="10490079" y="4289764"/>
            <a:ext cx="476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BA789A9-8650-58BA-A3BC-8B08403F30B1}"/>
              </a:ext>
            </a:extLst>
          </p:cNvPr>
          <p:cNvSpPr/>
          <p:nvPr/>
        </p:nvSpPr>
        <p:spPr>
          <a:xfrm>
            <a:off x="13118625" y="3740829"/>
            <a:ext cx="2120127" cy="1097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Image Embedding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14650F-A3E4-D200-B216-E6A6B8AE7DC4}"/>
              </a:ext>
            </a:extLst>
          </p:cNvPr>
          <p:cNvSpPr/>
          <p:nvPr/>
        </p:nvSpPr>
        <p:spPr>
          <a:xfrm>
            <a:off x="3642614" y="6895252"/>
            <a:ext cx="1762346" cy="11436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Tokenizer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7F3781-76EB-FC77-F8E0-8CD4A91105DE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2986366" y="7467090"/>
            <a:ext cx="656248" cy="222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BF4042A-709C-BAA9-B94C-4590F4E3109B}"/>
              </a:ext>
            </a:extLst>
          </p:cNvPr>
          <p:cNvSpPr/>
          <p:nvPr/>
        </p:nvSpPr>
        <p:spPr>
          <a:xfrm>
            <a:off x="5843169" y="6895252"/>
            <a:ext cx="1994654" cy="11436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Text Encoder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CC1DFC-9AA6-A143-6F16-DDFEB6C81402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404960" y="7467090"/>
            <a:ext cx="438210" cy="0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FC516BDF-3CAD-8A04-1BA8-CE916B192D8A}"/>
              </a:ext>
            </a:extLst>
          </p:cNvPr>
          <p:cNvSpPr/>
          <p:nvPr/>
        </p:nvSpPr>
        <p:spPr>
          <a:xfrm>
            <a:off x="8509920" y="6941741"/>
            <a:ext cx="2158080" cy="1097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Text Embedding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4EA5299-8D4D-A6FB-5A56-016E53D1994C}"/>
              </a:ext>
            </a:extLst>
          </p:cNvPr>
          <p:cNvCxnSpPr>
            <a:cxnSpLocks/>
          </p:cNvCxnSpPr>
          <p:nvPr/>
        </p:nvCxnSpPr>
        <p:spPr>
          <a:xfrm>
            <a:off x="7837824" y="7467090"/>
            <a:ext cx="672097" cy="23330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54E34D32-F2D9-BFF6-E730-2E28955DEB50}"/>
              </a:ext>
            </a:extLst>
          </p:cNvPr>
          <p:cNvSpPr/>
          <p:nvPr/>
        </p:nvSpPr>
        <p:spPr>
          <a:xfrm>
            <a:off x="11118749" y="689542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CF1FCD2-C5F5-1CF6-2236-E8E648741F84}"/>
              </a:ext>
            </a:extLst>
          </p:cNvPr>
          <p:cNvCxnSpPr>
            <a:cxnSpLocks/>
            <a:endCxn id="78" idx="1"/>
          </p:cNvCxnSpPr>
          <p:nvPr/>
        </p:nvCxnSpPr>
        <p:spPr>
          <a:xfrm flipV="1">
            <a:off x="10668000" y="7467262"/>
            <a:ext cx="450749" cy="23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4319278-A6CC-8804-5EBD-E06F693E46CE}"/>
              </a:ext>
            </a:extLst>
          </p:cNvPr>
          <p:cNvCxnSpPr>
            <a:cxnSpLocks/>
          </p:cNvCxnSpPr>
          <p:nvPr/>
        </p:nvCxnSpPr>
        <p:spPr>
          <a:xfrm>
            <a:off x="12877800" y="7467262"/>
            <a:ext cx="249962" cy="7209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B6FE8A93-13E2-37A5-FB2F-EF6A55A380A2}"/>
              </a:ext>
            </a:extLst>
          </p:cNvPr>
          <p:cNvSpPr/>
          <p:nvPr/>
        </p:nvSpPr>
        <p:spPr>
          <a:xfrm>
            <a:off x="13127762" y="6925791"/>
            <a:ext cx="2149050" cy="1097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Text Embedding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C5073781-F208-2979-9A67-B351C08F1521}"/>
              </a:ext>
            </a:extLst>
          </p:cNvPr>
          <p:cNvSpPr/>
          <p:nvPr/>
        </p:nvSpPr>
        <p:spPr>
          <a:xfrm>
            <a:off x="15507394" y="2909477"/>
            <a:ext cx="2344297" cy="62741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941BC09-F451-D655-BF3C-4B766809EFC1}"/>
              </a:ext>
            </a:extLst>
          </p:cNvPr>
          <p:cNvSpPr/>
          <p:nvPr/>
        </p:nvSpPr>
        <p:spPr>
          <a:xfrm>
            <a:off x="15718150" y="5306196"/>
            <a:ext cx="1946510" cy="112993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Similarity Calculation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2FB3BFBB-D38F-E956-3F6A-28D3AF4E368E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15238752" y="4289764"/>
            <a:ext cx="1452653" cy="1016432"/>
          </a:xfrm>
          <a:prstGeom prst="bentConnector2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639E2953-2253-961F-28E3-99C68EA87153}"/>
              </a:ext>
            </a:extLst>
          </p:cNvPr>
          <p:cNvCxnSpPr>
            <a:cxnSpLocks/>
            <a:endCxn id="90" idx="2"/>
          </p:cNvCxnSpPr>
          <p:nvPr/>
        </p:nvCxnSpPr>
        <p:spPr>
          <a:xfrm flipV="1">
            <a:off x="15276813" y="6436131"/>
            <a:ext cx="1414592" cy="1038339"/>
          </a:xfrm>
          <a:prstGeom prst="bentConnector2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 Box 2">
            <a:extLst>
              <a:ext uri="{FF2B5EF4-FFF2-40B4-BE49-F238E27FC236}">
                <a16:creationId xmlns:a16="http://schemas.microsoft.com/office/drawing/2014/main" id="{539C1F81-D5B4-7AB5-2A23-C007A7B2EDEC}"/>
              </a:ext>
            </a:extLst>
          </p:cNvPr>
          <p:cNvSpPr txBox="1"/>
          <p:nvPr/>
        </p:nvSpPr>
        <p:spPr>
          <a:xfrm>
            <a:off x="15718150" y="2528252"/>
            <a:ext cx="1606425" cy="7624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15185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9" grpId="0" animBg="1"/>
      <p:bldP spid="76" grpId="0" animBg="1"/>
      <p:bldP spid="78" grpId="0" animBg="1"/>
      <p:bldP spid="81" grpId="0" animBg="1"/>
      <p:bldP spid="89" grpId="0" animBg="1"/>
      <p:bldP spid="90" grpId="0" animBg="1"/>
      <p:bldP spid="9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93FFE-6B8D-06A3-B024-CE6A36D88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3F17D319-E475-A903-BEB5-D115290EB662}"/>
              </a:ext>
            </a:extLst>
          </p:cNvPr>
          <p:cNvSpPr/>
          <p:nvPr/>
        </p:nvSpPr>
        <p:spPr>
          <a:xfrm>
            <a:off x="-5334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EC2783B-66BC-2DC3-4EE0-17921706057A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9397E43-CEDA-9112-BB76-9B48A71AE83F}"/>
              </a:ext>
            </a:extLst>
          </p:cNvPr>
          <p:cNvSpPr/>
          <p:nvPr/>
        </p:nvSpPr>
        <p:spPr>
          <a:xfrm>
            <a:off x="11716136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DBDD4EE-1B40-1B2A-A298-A4551A9DD4C0}"/>
              </a:ext>
            </a:extLst>
          </p:cNvPr>
          <p:cNvSpPr txBox="1"/>
          <p:nvPr/>
        </p:nvSpPr>
        <p:spPr>
          <a:xfrm>
            <a:off x="2553980" y="866775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محتويات العرض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60CD75D-E23C-7084-C753-71A5E54767A6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2D3E54A-F387-FF45-6C41-9FA558929E6A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3A1C4D4-3C10-C960-4F2E-3558F85D4435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2CA71C4-58C6-4049-A72F-E8BD23D334A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60CDC94-1A90-938F-D7ED-244CBBC9549D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C476C5DC-584B-EF0C-5C86-4A6BDF829258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3">
            <a:extLst>
              <a:ext uri="{FF2B5EF4-FFF2-40B4-BE49-F238E27FC236}">
                <a16:creationId xmlns:a16="http://schemas.microsoft.com/office/drawing/2014/main" id="{4AA40919-23BC-2DD7-91A1-D5BABE813393}"/>
              </a:ext>
            </a:extLst>
          </p:cNvPr>
          <p:cNvGrpSpPr/>
          <p:nvPr/>
        </p:nvGrpSpPr>
        <p:grpSpPr>
          <a:xfrm>
            <a:off x="11698459" y="3268192"/>
            <a:ext cx="3142129" cy="931128"/>
            <a:chOff x="0" y="0"/>
            <a:chExt cx="8868713" cy="3287792"/>
          </a:xfrm>
        </p:grpSpPr>
        <p:grpSp>
          <p:nvGrpSpPr>
            <p:cNvPr id="29" name="Group 4">
              <a:extLst>
                <a:ext uri="{FF2B5EF4-FFF2-40B4-BE49-F238E27FC236}">
                  <a16:creationId xmlns:a16="http://schemas.microsoft.com/office/drawing/2014/main" id="{FD666670-299A-E1C3-5513-62ECBA000FD4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AB7BA08F-51C1-D077-C330-DD6428683EC7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2" name="TextBox 6">
                <a:extLst>
                  <a:ext uri="{FF2B5EF4-FFF2-40B4-BE49-F238E27FC236}">
                    <a16:creationId xmlns:a16="http://schemas.microsoft.com/office/drawing/2014/main" id="{69F2CE6D-A63B-33F9-ED37-B6A57DDD60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5B315A31-A203-E591-8F5C-C6E6B11D6737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8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الدراسة المرجعية</a:t>
              </a:r>
              <a:endParaRPr lang="en-US" sz="38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3" name="Google Shape;199;p32">
            <a:extLst>
              <a:ext uri="{FF2B5EF4-FFF2-40B4-BE49-F238E27FC236}">
                <a16:creationId xmlns:a16="http://schemas.microsoft.com/office/drawing/2014/main" id="{96F8F267-06EC-03C1-AD3C-AB866D6A45F7}"/>
              </a:ext>
            </a:extLst>
          </p:cNvPr>
          <p:cNvSpPr txBox="1">
            <a:spLocks/>
          </p:cNvSpPr>
          <p:nvPr/>
        </p:nvSpPr>
        <p:spPr>
          <a:xfrm>
            <a:off x="15009413" y="3219010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01</a:t>
            </a: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4EEC374E-1E7C-C125-4F5A-4BC7C581D10B}"/>
              </a:ext>
            </a:extLst>
          </p:cNvPr>
          <p:cNvGrpSpPr/>
          <p:nvPr/>
        </p:nvGrpSpPr>
        <p:grpSpPr>
          <a:xfrm>
            <a:off x="11699034" y="4945304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35" name="Group 4">
              <a:extLst>
                <a:ext uri="{FF2B5EF4-FFF2-40B4-BE49-F238E27FC236}">
                  <a16:creationId xmlns:a16="http://schemas.microsoft.com/office/drawing/2014/main" id="{D512A132-4274-2768-AE17-C215CE35911D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37" name="Freeform 5">
                <a:extLst>
                  <a:ext uri="{FF2B5EF4-FFF2-40B4-BE49-F238E27FC236}">
                    <a16:creationId xmlns:a16="http://schemas.microsoft.com/office/drawing/2014/main" id="{C7356263-FBDF-B3BB-6B2D-11A16826A1FB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8" name="TextBox 6">
                <a:extLst>
                  <a:ext uri="{FF2B5EF4-FFF2-40B4-BE49-F238E27FC236}">
                    <a16:creationId xmlns:a16="http://schemas.microsoft.com/office/drawing/2014/main" id="{F3180A34-FD96-AF1C-E2C4-FDEA486E32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86E22618-4B2D-E7AC-1ACA-EB671C05DEA3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6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شرح العمل المنجز</a:t>
              </a:r>
              <a:endParaRPr lang="en-US" sz="3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9" name="Google Shape;199;p32">
            <a:extLst>
              <a:ext uri="{FF2B5EF4-FFF2-40B4-BE49-F238E27FC236}">
                <a16:creationId xmlns:a16="http://schemas.microsoft.com/office/drawing/2014/main" id="{EBA685B7-6979-94CB-A7DE-EF74D48F1867}"/>
              </a:ext>
            </a:extLst>
          </p:cNvPr>
          <p:cNvSpPr txBox="1">
            <a:spLocks/>
          </p:cNvSpPr>
          <p:nvPr/>
        </p:nvSpPr>
        <p:spPr>
          <a:xfrm>
            <a:off x="15009988" y="489612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40" name="Group 3">
            <a:extLst>
              <a:ext uri="{FF2B5EF4-FFF2-40B4-BE49-F238E27FC236}">
                <a16:creationId xmlns:a16="http://schemas.microsoft.com/office/drawing/2014/main" id="{1C2C0507-43B8-1277-7DAA-33B58C0AB067}"/>
              </a:ext>
            </a:extLst>
          </p:cNvPr>
          <p:cNvGrpSpPr/>
          <p:nvPr/>
        </p:nvGrpSpPr>
        <p:grpSpPr>
          <a:xfrm>
            <a:off x="4080446" y="4221914"/>
            <a:ext cx="3142129" cy="931128"/>
            <a:chOff x="0" y="0"/>
            <a:chExt cx="8868713" cy="3287792"/>
          </a:xfrm>
        </p:grpSpPr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C0C72C1E-11CC-CA1C-A664-ACD1B3F0E725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43" name="Freeform 5">
                <a:extLst>
                  <a:ext uri="{FF2B5EF4-FFF2-40B4-BE49-F238E27FC236}">
                    <a16:creationId xmlns:a16="http://schemas.microsoft.com/office/drawing/2014/main" id="{B2253794-F629-AD78-84DD-6EFB52BBCAA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44" name="TextBox 6">
                <a:extLst>
                  <a:ext uri="{FF2B5EF4-FFF2-40B4-BE49-F238E27FC236}">
                    <a16:creationId xmlns:a16="http://schemas.microsoft.com/office/drawing/2014/main" id="{B38EC663-9A1E-D294-E1B5-498B38015D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7">
              <a:extLst>
                <a:ext uri="{FF2B5EF4-FFF2-40B4-BE49-F238E27FC236}">
                  <a16:creationId xmlns:a16="http://schemas.microsoft.com/office/drawing/2014/main" id="{566AB9D8-ABF8-F833-6644-EC444340978B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النموذج المقترح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45" name="Google Shape;199;p32">
            <a:extLst>
              <a:ext uri="{FF2B5EF4-FFF2-40B4-BE49-F238E27FC236}">
                <a16:creationId xmlns:a16="http://schemas.microsoft.com/office/drawing/2014/main" id="{1EA78851-19C9-3CD6-2171-2D20949AA468}"/>
              </a:ext>
            </a:extLst>
          </p:cNvPr>
          <p:cNvSpPr txBox="1">
            <a:spLocks/>
          </p:cNvSpPr>
          <p:nvPr/>
        </p:nvSpPr>
        <p:spPr>
          <a:xfrm>
            <a:off x="7391400" y="417273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1" name="Group 3">
            <a:extLst>
              <a:ext uri="{FF2B5EF4-FFF2-40B4-BE49-F238E27FC236}">
                <a16:creationId xmlns:a16="http://schemas.microsoft.com/office/drawing/2014/main" id="{91D95783-E991-D211-88EA-9BB9E17AEFF0}"/>
              </a:ext>
            </a:extLst>
          </p:cNvPr>
          <p:cNvGrpSpPr/>
          <p:nvPr/>
        </p:nvGrpSpPr>
        <p:grpSpPr>
          <a:xfrm>
            <a:off x="4080446" y="5601151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53" name="Group 4">
              <a:extLst>
                <a:ext uri="{FF2B5EF4-FFF2-40B4-BE49-F238E27FC236}">
                  <a16:creationId xmlns:a16="http://schemas.microsoft.com/office/drawing/2014/main" id="{1899DA7F-7C94-20BF-30BE-37D950002716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0BD733C5-3BE0-F1D5-FABD-F3547BE01C06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56" name="TextBox 6">
                <a:extLst>
                  <a:ext uri="{FF2B5EF4-FFF2-40B4-BE49-F238E27FC236}">
                    <a16:creationId xmlns:a16="http://schemas.microsoft.com/office/drawing/2014/main" id="{1BD77B7F-0D70-01E2-C7F4-FDE6557130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4" name="TextBox 7">
              <a:extLst>
                <a:ext uri="{FF2B5EF4-FFF2-40B4-BE49-F238E27FC236}">
                  <a16:creationId xmlns:a16="http://schemas.microsoft.com/office/drawing/2014/main" id="{F7472C57-AA35-ED82-7CA6-A4046115F9A3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التجارب والنتائج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57" name="Google Shape;199;p32">
            <a:extLst>
              <a:ext uri="{FF2B5EF4-FFF2-40B4-BE49-F238E27FC236}">
                <a16:creationId xmlns:a16="http://schemas.microsoft.com/office/drawing/2014/main" id="{DEB2083C-A17C-6D5B-7CD6-14F755028B71}"/>
              </a:ext>
            </a:extLst>
          </p:cNvPr>
          <p:cNvSpPr txBox="1">
            <a:spLocks/>
          </p:cNvSpPr>
          <p:nvPr/>
        </p:nvSpPr>
        <p:spPr>
          <a:xfrm>
            <a:off x="7391400" y="555196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22BE1BC8-1808-EA35-8ABC-1FFF73EC147A}"/>
              </a:ext>
            </a:extLst>
          </p:cNvPr>
          <p:cNvGrpSpPr/>
          <p:nvPr/>
        </p:nvGrpSpPr>
        <p:grpSpPr>
          <a:xfrm>
            <a:off x="4080446" y="7017386"/>
            <a:ext cx="3142129" cy="931128"/>
            <a:chOff x="0" y="0"/>
            <a:chExt cx="8868713" cy="3287792"/>
          </a:xfrm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BEDFD338-1AD5-8A13-DE05-458FB9700794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62" name="Freeform 5">
                <a:extLst>
                  <a:ext uri="{FF2B5EF4-FFF2-40B4-BE49-F238E27FC236}">
                    <a16:creationId xmlns:a16="http://schemas.microsoft.com/office/drawing/2014/main" id="{D381DE16-3D9E-22A5-AFB2-739A48979243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3" name="TextBox 6">
                <a:extLst>
                  <a:ext uri="{FF2B5EF4-FFF2-40B4-BE49-F238E27FC236}">
                    <a16:creationId xmlns:a16="http://schemas.microsoft.com/office/drawing/2014/main" id="{3DA38FDF-2540-FDFB-C9EF-3BEFA26B5F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1" name="TextBox 7">
              <a:extLst>
                <a:ext uri="{FF2B5EF4-FFF2-40B4-BE49-F238E27FC236}">
                  <a16:creationId xmlns:a16="http://schemas.microsoft.com/office/drawing/2014/main" id="{C124251B-B156-55D9-083A-047D872E7617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القسم البرمجي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71" name="Google Shape;199;p32">
            <a:extLst>
              <a:ext uri="{FF2B5EF4-FFF2-40B4-BE49-F238E27FC236}">
                <a16:creationId xmlns:a16="http://schemas.microsoft.com/office/drawing/2014/main" id="{4EDE92DB-9BDE-982E-F6D5-74C0A234EF6D}"/>
              </a:ext>
            </a:extLst>
          </p:cNvPr>
          <p:cNvSpPr txBox="1">
            <a:spLocks/>
          </p:cNvSpPr>
          <p:nvPr/>
        </p:nvSpPr>
        <p:spPr>
          <a:xfrm>
            <a:off x="7391400" y="6968204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72" name="Group 3">
            <a:extLst>
              <a:ext uri="{FF2B5EF4-FFF2-40B4-BE49-F238E27FC236}">
                <a16:creationId xmlns:a16="http://schemas.microsoft.com/office/drawing/2014/main" id="{CE699BB0-D46E-21FB-F1B5-C0430AFC3282}"/>
              </a:ext>
            </a:extLst>
          </p:cNvPr>
          <p:cNvGrpSpPr/>
          <p:nvPr/>
        </p:nvGrpSpPr>
        <p:grpSpPr>
          <a:xfrm>
            <a:off x="11698457" y="6579011"/>
            <a:ext cx="3142129" cy="931128"/>
            <a:chOff x="0" y="0"/>
            <a:chExt cx="8868713" cy="3287792"/>
          </a:xfrm>
        </p:grpSpPr>
        <p:grpSp>
          <p:nvGrpSpPr>
            <p:cNvPr id="73" name="Group 4">
              <a:extLst>
                <a:ext uri="{FF2B5EF4-FFF2-40B4-BE49-F238E27FC236}">
                  <a16:creationId xmlns:a16="http://schemas.microsoft.com/office/drawing/2014/main" id="{E97F8E98-1304-19DE-6B8C-E4D50A8CFEDB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83FFB3F7-CD72-9D21-3F77-0A029290A49F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3" name="TextBox 6">
                <a:extLst>
                  <a:ext uri="{FF2B5EF4-FFF2-40B4-BE49-F238E27FC236}">
                    <a16:creationId xmlns:a16="http://schemas.microsoft.com/office/drawing/2014/main" id="{BF145B99-7E79-5837-1098-62CEA4F270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 rtl="1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4" name="TextBox 7">
              <a:extLst>
                <a:ext uri="{FF2B5EF4-FFF2-40B4-BE49-F238E27FC236}">
                  <a16:creationId xmlns:a16="http://schemas.microsoft.com/office/drawing/2014/main" id="{3B10BB28-AE7B-35F3-30DC-40D63968C502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الخاتمة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4" name="Google Shape;199;p32">
            <a:extLst>
              <a:ext uri="{FF2B5EF4-FFF2-40B4-BE49-F238E27FC236}">
                <a16:creationId xmlns:a16="http://schemas.microsoft.com/office/drawing/2014/main" id="{194522F4-96E6-2BBA-405F-635B1322FB4E}"/>
              </a:ext>
            </a:extLst>
          </p:cNvPr>
          <p:cNvSpPr txBox="1">
            <a:spLocks/>
          </p:cNvSpPr>
          <p:nvPr/>
        </p:nvSpPr>
        <p:spPr>
          <a:xfrm>
            <a:off x="15009411" y="652982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03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85" name="Group 3">
            <a:extLst>
              <a:ext uri="{FF2B5EF4-FFF2-40B4-BE49-F238E27FC236}">
                <a16:creationId xmlns:a16="http://schemas.microsoft.com/office/drawing/2014/main" id="{CEF62630-A9D2-9D0F-2515-98AC65688FB3}"/>
              </a:ext>
            </a:extLst>
          </p:cNvPr>
          <p:cNvGrpSpPr/>
          <p:nvPr/>
        </p:nvGrpSpPr>
        <p:grpSpPr>
          <a:xfrm>
            <a:off x="4080446" y="2831765"/>
            <a:ext cx="3142129" cy="931128"/>
            <a:chOff x="0" y="0"/>
            <a:chExt cx="8868713" cy="3287792"/>
          </a:xfrm>
        </p:grpSpPr>
        <p:grpSp>
          <p:nvGrpSpPr>
            <p:cNvPr id="86" name="Group 4">
              <a:extLst>
                <a:ext uri="{FF2B5EF4-FFF2-40B4-BE49-F238E27FC236}">
                  <a16:creationId xmlns:a16="http://schemas.microsoft.com/office/drawing/2014/main" id="{1060BCAF-67B4-BAAF-8D79-E32117D54FCF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88" name="Freeform 5">
                <a:extLst>
                  <a:ext uri="{FF2B5EF4-FFF2-40B4-BE49-F238E27FC236}">
                    <a16:creationId xmlns:a16="http://schemas.microsoft.com/office/drawing/2014/main" id="{7586C791-7BAA-2009-BCD8-12DA56643E25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9" name="TextBox 6">
                <a:extLst>
                  <a:ext uri="{FF2B5EF4-FFF2-40B4-BE49-F238E27FC236}">
                    <a16:creationId xmlns:a16="http://schemas.microsoft.com/office/drawing/2014/main" id="{9B4B7170-30F3-C39C-1FC2-4A91ECA27D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7" name="TextBox 7">
              <a:extLst>
                <a:ext uri="{FF2B5EF4-FFF2-40B4-BE49-F238E27FC236}">
                  <a16:creationId xmlns:a16="http://schemas.microsoft.com/office/drawing/2014/main" id="{2FAA5C4F-017A-7007-5171-C7066910B9C7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مجموعة البيانات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90" name="Google Shape;199;p32">
            <a:extLst>
              <a:ext uri="{FF2B5EF4-FFF2-40B4-BE49-F238E27FC236}">
                <a16:creationId xmlns:a16="http://schemas.microsoft.com/office/drawing/2014/main" id="{D61A79B7-C65D-929F-26EA-F4508BC498D9}"/>
              </a:ext>
            </a:extLst>
          </p:cNvPr>
          <p:cNvSpPr txBox="1">
            <a:spLocks/>
          </p:cNvSpPr>
          <p:nvPr/>
        </p:nvSpPr>
        <p:spPr>
          <a:xfrm>
            <a:off x="7391400" y="2782583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F2B3FA5-056A-DB9C-6A73-15C0ABE5A3C2}"/>
              </a:ext>
            </a:extLst>
          </p:cNvPr>
          <p:cNvCxnSpPr>
            <a:stCxn id="36" idx="1"/>
          </p:cNvCxnSpPr>
          <p:nvPr/>
        </p:nvCxnSpPr>
        <p:spPr>
          <a:xfrm rot="10800000">
            <a:off x="8840612" y="3213567"/>
            <a:ext cx="3059164" cy="2208256"/>
          </a:xfrm>
          <a:prstGeom prst="bentConnector3">
            <a:avLst/>
          </a:prstGeom>
          <a:ln>
            <a:solidFill>
              <a:srgbClr val="FF66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523CE231-4A45-DD87-595C-174668BBE532}"/>
              </a:ext>
            </a:extLst>
          </p:cNvPr>
          <p:cNvCxnSpPr>
            <a:endCxn id="45" idx="3"/>
          </p:cNvCxnSpPr>
          <p:nvPr/>
        </p:nvCxnSpPr>
        <p:spPr>
          <a:xfrm rot="10800000">
            <a:off x="8840613" y="4665610"/>
            <a:ext cx="3058587" cy="756215"/>
          </a:xfrm>
          <a:prstGeom prst="bentConnector3">
            <a:avLst/>
          </a:prstGeom>
          <a:ln>
            <a:solidFill>
              <a:srgbClr val="F159B3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DD29CD85-C101-6AE9-CC06-0ABD6D14CB1E}"/>
              </a:ext>
            </a:extLst>
          </p:cNvPr>
          <p:cNvCxnSpPr>
            <a:stCxn id="36" idx="1"/>
            <a:endCxn id="57" idx="3"/>
          </p:cNvCxnSpPr>
          <p:nvPr/>
        </p:nvCxnSpPr>
        <p:spPr>
          <a:xfrm rot="10800000" flipV="1">
            <a:off x="8840612" y="5421822"/>
            <a:ext cx="3059164" cy="623023"/>
          </a:xfrm>
          <a:prstGeom prst="bentConnector3">
            <a:avLst/>
          </a:prstGeom>
          <a:ln>
            <a:solidFill>
              <a:srgbClr val="EC2099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CB16FB8C-1450-A705-4506-E53E967488D1}"/>
              </a:ext>
            </a:extLst>
          </p:cNvPr>
          <p:cNvCxnSpPr>
            <a:endCxn id="71" idx="3"/>
          </p:cNvCxnSpPr>
          <p:nvPr/>
        </p:nvCxnSpPr>
        <p:spPr>
          <a:xfrm rot="10800000" flipV="1">
            <a:off x="8840613" y="5421821"/>
            <a:ext cx="3058587" cy="2039259"/>
          </a:xfrm>
          <a:prstGeom prst="bentConnector3">
            <a:avLst/>
          </a:prstGeom>
          <a:ln>
            <a:solidFill>
              <a:srgbClr val="EE1EC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5476924B-AA0F-10F4-4918-949621830B22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</p:spTree>
    <p:extLst>
      <p:ext uri="{BB962C8B-B14F-4D97-AF65-F5344CB8AC3E}">
        <p14:creationId xmlns:p14="http://schemas.microsoft.com/office/powerpoint/2010/main" val="132740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E71B3-BDA4-A2AA-0B99-778B6D5B6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C50F7C00-31C2-6682-B797-F17B22139CAF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0ED71B9-3FE8-B1A6-5C56-21777DFF684B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تحديد معيار التقييم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8065F7DA-D5E0-87F3-ED85-202023D0310C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7826BD6C-BA45-675A-7C69-B62A4C5B2B7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F149FABB-7210-6C66-BB2D-A73A87A3A98B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759CDA04-E07C-C055-91BD-0B23105E110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C46F404-9352-51AA-925C-C9767DD90911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B767F5A2-54C6-0964-8E27-1088191CFFF5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381776-CFE8-310E-D500-0D2B9D8C3B9D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3" name="Group 3">
            <a:extLst>
              <a:ext uri="{FF2B5EF4-FFF2-40B4-BE49-F238E27FC236}">
                <a16:creationId xmlns:a16="http://schemas.microsoft.com/office/drawing/2014/main" id="{1BC6AFA1-70F3-D5A1-11E5-793594C91569}"/>
              </a:ext>
            </a:extLst>
          </p:cNvPr>
          <p:cNvGrpSpPr/>
          <p:nvPr/>
        </p:nvGrpSpPr>
        <p:grpSpPr>
          <a:xfrm>
            <a:off x="7391396" y="2267591"/>
            <a:ext cx="4572004" cy="1615744"/>
            <a:chOff x="0" y="0"/>
            <a:chExt cx="8868713" cy="4535301"/>
          </a:xfrm>
        </p:grpSpPr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56A67B5C-6769-82B3-6345-31600F61707E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863D0370-F8C2-FAAA-D898-6EF30929D3B7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7" name="TextBox 6">
                <a:extLst>
                  <a:ext uri="{FF2B5EF4-FFF2-40B4-BE49-F238E27FC236}">
                    <a16:creationId xmlns:a16="http://schemas.microsoft.com/office/drawing/2014/main" id="{8D401430-2444-7633-7441-4DF20C9499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5" name="TextBox 7">
              <a:extLst>
                <a:ext uri="{FF2B5EF4-FFF2-40B4-BE49-F238E27FC236}">
                  <a16:creationId xmlns:a16="http://schemas.microsoft.com/office/drawing/2014/main" id="{9356A3D3-9333-9C91-9F46-4D8D554B5CD4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3803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ts val="419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atsi"/>
                  <a:ea typeface="Alatsi"/>
                  <a:cs typeface="Alatsi"/>
                  <a:sym typeface="Alatsi"/>
                </a:rPr>
                <a:t>Top-1 Accuracy</a:t>
              </a:r>
            </a:p>
          </p:txBody>
        </p:sp>
      </p:grpSp>
      <p:grpSp>
        <p:nvGrpSpPr>
          <p:cNvPr id="38" name="Group 3">
            <a:extLst>
              <a:ext uri="{FF2B5EF4-FFF2-40B4-BE49-F238E27FC236}">
                <a16:creationId xmlns:a16="http://schemas.microsoft.com/office/drawing/2014/main" id="{A952FEB5-3EA8-D5AA-8979-9DD884F3ACAA}"/>
              </a:ext>
            </a:extLst>
          </p:cNvPr>
          <p:cNvGrpSpPr/>
          <p:nvPr/>
        </p:nvGrpSpPr>
        <p:grpSpPr>
          <a:xfrm>
            <a:off x="7386316" y="3686862"/>
            <a:ext cx="4572004" cy="1171307"/>
            <a:chOff x="0" y="0"/>
            <a:chExt cx="8868713" cy="3287792"/>
          </a:xfrm>
        </p:grpSpPr>
        <p:grpSp>
          <p:nvGrpSpPr>
            <p:cNvPr id="39" name="Group 4">
              <a:extLst>
                <a:ext uri="{FF2B5EF4-FFF2-40B4-BE49-F238E27FC236}">
                  <a16:creationId xmlns:a16="http://schemas.microsoft.com/office/drawing/2014/main" id="{4ADE7655-2DB1-2875-DED2-ECC0102D47F9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4484B83F-F2E0-92EB-1885-9A9351105675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72F8AD4F-03E8-38EE-AD8A-CB87C89E2D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0" name="TextBox 7">
              <a:extLst>
                <a:ext uri="{FF2B5EF4-FFF2-40B4-BE49-F238E27FC236}">
                  <a16:creationId xmlns:a16="http://schemas.microsoft.com/office/drawing/2014/main" id="{AAD87726-B5E8-C95F-7360-0F885F09EDCF}"/>
                </a:ext>
              </a:extLst>
            </p:cNvPr>
            <p:cNvSpPr txBox="1"/>
            <p:nvPr/>
          </p:nvSpPr>
          <p:spPr>
            <a:xfrm>
              <a:off x="566598" y="731669"/>
              <a:ext cx="7735513" cy="1511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ts val="419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atsi"/>
                  <a:ea typeface="Alatsi"/>
                  <a:cs typeface="Alatsi"/>
                  <a:sym typeface="Alatsi"/>
                </a:rPr>
                <a:t>Top-3 Accuracy</a:t>
              </a:r>
            </a:p>
          </p:txBody>
        </p:sp>
      </p:grpSp>
      <p:grpSp>
        <p:nvGrpSpPr>
          <p:cNvPr id="43" name="Group 3">
            <a:extLst>
              <a:ext uri="{FF2B5EF4-FFF2-40B4-BE49-F238E27FC236}">
                <a16:creationId xmlns:a16="http://schemas.microsoft.com/office/drawing/2014/main" id="{9964E5CE-5A92-6A7C-8FA9-547576E0B14E}"/>
              </a:ext>
            </a:extLst>
          </p:cNvPr>
          <p:cNvGrpSpPr/>
          <p:nvPr/>
        </p:nvGrpSpPr>
        <p:grpSpPr>
          <a:xfrm>
            <a:off x="7386315" y="5037417"/>
            <a:ext cx="4572004" cy="1171307"/>
            <a:chOff x="0" y="0"/>
            <a:chExt cx="8868713" cy="3287792"/>
          </a:xfrm>
        </p:grpSpPr>
        <p:grpSp>
          <p:nvGrpSpPr>
            <p:cNvPr id="44" name="Group 4">
              <a:extLst>
                <a:ext uri="{FF2B5EF4-FFF2-40B4-BE49-F238E27FC236}">
                  <a16:creationId xmlns:a16="http://schemas.microsoft.com/office/drawing/2014/main" id="{1F45AB1F-30C5-90C5-5556-0658EDDD3FA6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AE756B40-7C0E-3FF9-8632-966371CA3D40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47" name="TextBox 6">
                <a:extLst>
                  <a:ext uri="{FF2B5EF4-FFF2-40B4-BE49-F238E27FC236}">
                    <a16:creationId xmlns:a16="http://schemas.microsoft.com/office/drawing/2014/main" id="{A060DCDE-2061-14DB-E8BD-243D7C013A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5" name="TextBox 7">
              <a:extLst>
                <a:ext uri="{FF2B5EF4-FFF2-40B4-BE49-F238E27FC236}">
                  <a16:creationId xmlns:a16="http://schemas.microsoft.com/office/drawing/2014/main" id="{24C34130-0ED0-E5B7-22A7-5CF0CA71BD01}"/>
                </a:ext>
              </a:extLst>
            </p:cNvPr>
            <p:cNvSpPr txBox="1"/>
            <p:nvPr/>
          </p:nvSpPr>
          <p:spPr>
            <a:xfrm>
              <a:off x="566598" y="731669"/>
              <a:ext cx="7735513" cy="1511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ts val="419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atsi"/>
                  <a:ea typeface="Alatsi"/>
                  <a:cs typeface="Alatsi"/>
                  <a:sym typeface="Alatsi"/>
                </a:rPr>
                <a:t>Top-5 Accuracy</a:t>
              </a:r>
            </a:p>
          </p:txBody>
        </p:sp>
      </p:grpSp>
      <p:grpSp>
        <p:nvGrpSpPr>
          <p:cNvPr id="48" name="Group 3">
            <a:extLst>
              <a:ext uri="{FF2B5EF4-FFF2-40B4-BE49-F238E27FC236}">
                <a16:creationId xmlns:a16="http://schemas.microsoft.com/office/drawing/2014/main" id="{3B904E67-C5FD-6B98-D81F-A38A86272BF7}"/>
              </a:ext>
            </a:extLst>
          </p:cNvPr>
          <p:cNvGrpSpPr/>
          <p:nvPr/>
        </p:nvGrpSpPr>
        <p:grpSpPr>
          <a:xfrm>
            <a:off x="7386315" y="6472381"/>
            <a:ext cx="4572004" cy="1171307"/>
            <a:chOff x="0" y="0"/>
            <a:chExt cx="8868713" cy="3287792"/>
          </a:xfrm>
        </p:grpSpPr>
        <p:grpSp>
          <p:nvGrpSpPr>
            <p:cNvPr id="49" name="Group 4">
              <a:extLst>
                <a:ext uri="{FF2B5EF4-FFF2-40B4-BE49-F238E27FC236}">
                  <a16:creationId xmlns:a16="http://schemas.microsoft.com/office/drawing/2014/main" id="{1A91587B-A10A-7588-1897-08725D104217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1" name="Freeform 5">
                <a:extLst>
                  <a:ext uri="{FF2B5EF4-FFF2-40B4-BE49-F238E27FC236}">
                    <a16:creationId xmlns:a16="http://schemas.microsoft.com/office/drawing/2014/main" id="{8C2443DB-1758-D7B5-C54F-9501099EE7E0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52" name="TextBox 6">
                <a:extLst>
                  <a:ext uri="{FF2B5EF4-FFF2-40B4-BE49-F238E27FC236}">
                    <a16:creationId xmlns:a16="http://schemas.microsoft.com/office/drawing/2014/main" id="{3ECCDE09-F6E6-2795-C34A-6B57E53E57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6CC28D04-31A6-F019-A1D0-2547C7CEDD10}"/>
                </a:ext>
              </a:extLst>
            </p:cNvPr>
            <p:cNvSpPr txBox="1"/>
            <p:nvPr/>
          </p:nvSpPr>
          <p:spPr>
            <a:xfrm>
              <a:off x="566598" y="731669"/>
              <a:ext cx="7735513" cy="1511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ts val="419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atsi"/>
                  <a:ea typeface="Alatsi"/>
                  <a:cs typeface="Alatsi"/>
                  <a:sym typeface="Alatsi"/>
                </a:rPr>
                <a:t>Top-10 Accuracy</a:t>
              </a:r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1CBA307-DDF2-8CAB-1316-0C14A222FF51}"/>
              </a:ext>
            </a:extLst>
          </p:cNvPr>
          <p:cNvGrpSpPr/>
          <p:nvPr/>
        </p:nvGrpSpPr>
        <p:grpSpPr>
          <a:xfrm>
            <a:off x="7386315" y="7904352"/>
            <a:ext cx="4572004" cy="1171307"/>
            <a:chOff x="0" y="0"/>
            <a:chExt cx="8868713" cy="3287792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39D892B8-9876-718F-7E13-D8B85CE4E046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95770483-E712-D4E7-9B04-011AB9E48D1E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57" name="TextBox 6">
                <a:extLst>
                  <a:ext uri="{FF2B5EF4-FFF2-40B4-BE49-F238E27FC236}">
                    <a16:creationId xmlns:a16="http://schemas.microsoft.com/office/drawing/2014/main" id="{0A1B0717-48F9-3244-D0F3-9F38F955A3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5" name="TextBox 7">
              <a:extLst>
                <a:ext uri="{FF2B5EF4-FFF2-40B4-BE49-F238E27FC236}">
                  <a16:creationId xmlns:a16="http://schemas.microsoft.com/office/drawing/2014/main" id="{232DA867-8767-4018-4F75-245EBFC12A20}"/>
                </a:ext>
              </a:extLst>
            </p:cNvPr>
            <p:cNvSpPr txBox="1"/>
            <p:nvPr/>
          </p:nvSpPr>
          <p:spPr>
            <a:xfrm>
              <a:off x="566598" y="731669"/>
              <a:ext cx="7735513" cy="1511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ts val="419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atsi"/>
                  <a:ea typeface="Alatsi"/>
                  <a:cs typeface="Alatsi"/>
                  <a:sym typeface="Alatsi"/>
                </a:rPr>
                <a:t>mAP</a:t>
              </a:r>
              <a:endPara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40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8748-0AD0-EE6D-BA42-1676D41F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A94C30C9-D855-619D-BDF1-51579C0F42AC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731CA8-AA7F-A53B-2FA9-94DBCA0790B6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تابع الخسارة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DF39DFD-EFCD-51A8-1CDA-D9172545B313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6DB130CB-BF96-2EDC-1325-CF342AE090FB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EED5060C-2538-F097-AE3C-B16635EC1A67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35D23162-DE28-A667-D385-A85CFA4B1C7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25AB845-A76F-8719-F109-AD69549695EA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17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CE36C7E-B8F9-588A-2CDE-B873D44EBE99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F2F4324-9B38-86F3-7A13-BEA1E19158F5}"/>
              </a:ext>
            </a:extLst>
          </p:cNvPr>
          <p:cNvSpPr txBox="1"/>
          <p:nvPr/>
        </p:nvSpPr>
        <p:spPr>
          <a:xfrm>
            <a:off x="1519861" y="2567837"/>
            <a:ext cx="15085039" cy="677108"/>
          </a:xfrm>
          <a:prstGeom prst="rect">
            <a:avLst/>
          </a:prstGeom>
          <a:noFill/>
          <a:ln w="38100" cap="flat" cmpd="sng" algn="ctr">
            <a:solidFill>
              <a:srgbClr val="EC20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en-US" sz="4400" dirty="0"/>
              <a:t>Instance-level loss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C7E857-127A-E663-666B-BBCE59575993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5">
            <a:extLst>
              <a:ext uri="{FF2B5EF4-FFF2-40B4-BE49-F238E27FC236}">
                <a16:creationId xmlns:a16="http://schemas.microsoft.com/office/drawing/2014/main" id="{9C2A0B42-1420-9F4E-AA6F-FB2CFF2F434C}"/>
              </a:ext>
            </a:extLst>
          </p:cNvPr>
          <p:cNvSpPr txBox="1"/>
          <p:nvPr/>
        </p:nvSpPr>
        <p:spPr>
          <a:xfrm>
            <a:off x="1519860" y="6447592"/>
            <a:ext cx="15085039" cy="677108"/>
          </a:xfrm>
          <a:prstGeom prst="rect">
            <a:avLst/>
          </a:prstGeom>
          <a:noFill/>
          <a:ln w="38100" cap="flat" cmpd="sng" algn="ctr">
            <a:solidFill>
              <a:srgbClr val="EC20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en-US" sz="4400" dirty="0"/>
              <a:t>Category-level loss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767A2-57F5-374A-757D-69A6E4A0D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382705"/>
            <a:ext cx="2486025" cy="2486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7C2B53-C9A5-0A64-0B8D-5D8C43690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5" y="7534275"/>
            <a:ext cx="2486025" cy="248602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7B965D-C814-72BB-BCFB-8B100940BD9F}"/>
              </a:ext>
            </a:extLst>
          </p:cNvPr>
          <p:cNvCxnSpPr>
            <a:cxnSpLocks/>
            <a:stCxn id="4" idx="3"/>
            <a:endCxn id="23" idx="1"/>
          </p:cNvCxnSpPr>
          <p:nvPr/>
        </p:nvCxnSpPr>
        <p:spPr>
          <a:xfrm>
            <a:off x="7743825" y="4625718"/>
            <a:ext cx="2099830" cy="181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34E9971-F79A-043B-2DDA-69BDD7D46533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>
            <a:off x="7772400" y="8777288"/>
            <a:ext cx="2071255" cy="325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15">
            <a:extLst>
              <a:ext uri="{FF2B5EF4-FFF2-40B4-BE49-F238E27FC236}">
                <a16:creationId xmlns:a16="http://schemas.microsoft.com/office/drawing/2014/main" id="{313717D0-62C0-CD2F-7E15-9106FEADC3CE}"/>
              </a:ext>
            </a:extLst>
          </p:cNvPr>
          <p:cNvSpPr txBox="1"/>
          <p:nvPr/>
        </p:nvSpPr>
        <p:spPr>
          <a:xfrm>
            <a:off x="9843655" y="4305300"/>
            <a:ext cx="6213123" cy="677108"/>
          </a:xfrm>
          <a:prstGeom prst="rect">
            <a:avLst/>
          </a:prstGeom>
          <a:noFill/>
          <a:ln w="38100" cap="flat" cmpd="sng" algn="ctr">
            <a:solidFill>
              <a:srgbClr val="EC20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ar-SY" sz="4400" dirty="0"/>
              <a:t>عبارة واحدة موصفة للصورة</a:t>
            </a:r>
            <a:endParaRPr lang="en-US" sz="4400" dirty="0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5FCA953B-7CF9-4C19-138B-C8B014AC6585}"/>
              </a:ext>
            </a:extLst>
          </p:cNvPr>
          <p:cNvSpPr txBox="1"/>
          <p:nvPr/>
        </p:nvSpPr>
        <p:spPr>
          <a:xfrm>
            <a:off x="9843655" y="8132683"/>
            <a:ext cx="6213123" cy="1354217"/>
          </a:xfrm>
          <a:prstGeom prst="rect">
            <a:avLst/>
          </a:prstGeom>
          <a:noFill/>
          <a:ln w="38100" cap="flat" cmpd="sng" algn="ctr">
            <a:solidFill>
              <a:srgbClr val="EC20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ar-SY" sz="4400" dirty="0"/>
              <a:t>عبارة موصفة للفئة (المرض)</a:t>
            </a:r>
          </a:p>
          <a:p>
            <a:pPr algn="ctr" rtl="1"/>
            <a:r>
              <a:rPr lang="ar-SY" sz="4400" dirty="0"/>
              <a:t>وليس مقابلة للصورة تماماً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40995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9423C-F5D1-4A8B-0688-6FF31930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DC2B54A-D8F3-C240-49AC-95BD9DEE1DB0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40E6486-7F2A-7450-7E33-4E021F005448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تابع الخسارة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951773F1-AB7B-F33A-75D6-02F1F5284F5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6A753BDB-7DF3-5AE1-3B40-A7A37B1457E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275B6D14-C707-4973-343F-0C6FB2397A37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A918B33-FF9B-BE08-5D41-B847D4D0955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35EFB3D-A9B1-E9A1-06C7-7E1B8780C7A5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17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F393698C-F858-79E1-830E-964E931FB466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9A301C33-FC26-1BD1-1F20-1FE04AA92134}"/>
                  </a:ext>
                </a:extLst>
              </p:cNvPr>
              <p:cNvSpPr txBox="1"/>
              <p:nvPr/>
            </p:nvSpPr>
            <p:spPr>
              <a:xfrm>
                <a:off x="1519861" y="2567837"/>
                <a:ext cx="15085039" cy="2669064"/>
              </a:xfrm>
              <a:prstGeom prst="rect">
                <a:avLst/>
              </a:prstGeom>
              <a:noFill/>
              <a:ln w="38100" cap="flat" cmpd="sng" algn="ctr">
                <a:solidFill>
                  <a:srgbClr val="EC2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𝑖𝑚𝑔</m:t>
                          </m:r>
                        </m:sub>
                      </m:sSub>
                      <m:r>
                        <a:rPr lang="en-US" sz="4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func>
                            <m:func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4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sz="4400">
                                      <a:latin typeface="Cambria Math" panose="02040503050406030204" pitchFamily="18" charset="0"/>
                                    </a:rPr>
                                    <m:t>⁡</m:t>
                                  </m:r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ar-SY" sz="4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sz="4400" dirty="0"/>
              </a:p>
              <a:p>
                <a:pPr rtl="1"/>
                <a:endParaRPr lang="en-US" sz="4400" dirty="0"/>
              </a:p>
            </p:txBody>
          </p:sp>
        </mc:Choice>
        <mc:Fallback xmlns=""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9A301C33-FC26-1BD1-1F20-1FE04AA92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861" y="2567837"/>
                <a:ext cx="15085039" cy="2669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 cap="flat" cmpd="sng" algn="ctr">
                <a:solidFill>
                  <a:srgbClr val="EC2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3AD11B-4AEA-3759-3F68-0FC49C1CBA1A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5">
                <a:extLst>
                  <a:ext uri="{FF2B5EF4-FFF2-40B4-BE49-F238E27FC236}">
                    <a16:creationId xmlns:a16="http://schemas.microsoft.com/office/drawing/2014/main" id="{D5F53C7C-4412-7EDD-2B3F-73F90160DE18}"/>
                  </a:ext>
                </a:extLst>
              </p:cNvPr>
              <p:cNvSpPr txBox="1"/>
              <p:nvPr/>
            </p:nvSpPr>
            <p:spPr>
              <a:xfrm>
                <a:off x="1519860" y="6090238"/>
                <a:ext cx="15085039" cy="2737160"/>
              </a:xfrm>
              <a:prstGeom prst="rect">
                <a:avLst/>
              </a:prstGeom>
              <a:noFill/>
              <a:ln w="38100" cap="flat" cmpd="sng" algn="ctr">
                <a:solidFill>
                  <a:srgbClr val="EC2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𝑡𝑥𝑡</m:t>
                          </m:r>
                        </m:sub>
                      </m:sSub>
                      <m:r>
                        <a:rPr lang="en-US" sz="4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func>
                            <m:func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4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sz="4400">
                                      <a:latin typeface="Cambria Math" panose="02040503050406030204" pitchFamily="18" charset="0"/>
                                    </a:rPr>
                                    <m:t>⁡</m:t>
                                  </m:r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ar-SY" sz="4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ar-SY" sz="4400" dirty="0"/>
              </a:p>
              <a:p>
                <a:pPr rtl="1"/>
                <a:endParaRPr lang="en-US" sz="4400" dirty="0"/>
              </a:p>
            </p:txBody>
          </p:sp>
        </mc:Choice>
        <mc:Fallback xmlns="">
          <p:sp>
            <p:nvSpPr>
              <p:cNvPr id="2" name="TextBox 15">
                <a:extLst>
                  <a:ext uri="{FF2B5EF4-FFF2-40B4-BE49-F238E27FC236}">
                    <a16:creationId xmlns:a16="http://schemas.microsoft.com/office/drawing/2014/main" id="{D5F53C7C-4412-7EDD-2B3F-73F90160D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860" y="6090238"/>
                <a:ext cx="15085039" cy="27371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 cap="flat" cmpd="sng" algn="ctr">
                <a:solidFill>
                  <a:srgbClr val="EC2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521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585C0-BFD4-7179-0162-A56DBA71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82EA9E3-E2BC-72BB-BE4E-516F5C5D30B3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72F668C-A55A-0B91-47D0-6C5E0ECCB1A4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Y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القسم الأول من التجارب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825E8FF-99CF-71C5-B265-4AB9FD245E03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C39E0A90-4B94-63F1-7985-CFA3FB5ADADB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1C79491C-F5AC-3756-771D-7B7A804415F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0244999-7197-2499-2941-0C9A5104D92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EA67A6B-2A74-D2F1-A8E1-4C7E52B95CBC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18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80CD5D2B-BE52-A555-0008-04A2F28A5BC8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BF84D9A-7BB9-96F6-74CB-2F6EF18D5593}"/>
              </a:ext>
            </a:extLst>
          </p:cNvPr>
          <p:cNvSpPr txBox="1"/>
          <p:nvPr/>
        </p:nvSpPr>
        <p:spPr>
          <a:xfrm>
            <a:off x="3516458" y="3654470"/>
            <a:ext cx="11255082" cy="297805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Y" sz="4180" dirty="0">
                <a:latin typeface="Alatsi"/>
                <a:ea typeface="Alatsi"/>
                <a:cs typeface="Alatsi"/>
                <a:sym typeface="Alatsi"/>
              </a:rPr>
              <a:t>اختيار عبارة واحدة من العبارات العشر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Zero-shot </a:t>
            </a:r>
            <a:r>
              <a:rPr lang="en-US" sz="4180" dirty="0">
                <a:latin typeface="Alatsi"/>
                <a:ea typeface="Alatsi"/>
                <a:cs typeface="Alatsi"/>
                <a:sym typeface="Alatsi"/>
              </a:rPr>
              <a:t>learning </a:t>
            </a:r>
            <a:r>
              <a:rPr lang="ar-SY" sz="4180" dirty="0">
                <a:latin typeface="Alatsi"/>
                <a:ea typeface="Alatsi"/>
                <a:cs typeface="Alatsi"/>
                <a:sym typeface="Alatsi"/>
              </a:rPr>
              <a:t>فقط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Y" sz="4180" dirty="0">
                <a:latin typeface="Alatsi"/>
                <a:ea typeface="Alatsi"/>
                <a:cs typeface="Alatsi"/>
                <a:sym typeface="Alatsi"/>
              </a:rPr>
              <a:t>استخدام تابع الخسارة المشار إليه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Category-level loss</a:t>
            </a:r>
            <a:endParaRPr kumimoji="0" lang="ar-SY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405BCF-664C-F5C2-104C-BC57E0D905D7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764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E5169-B13C-1E97-07E4-E5514289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BD47588-C7A5-05AC-9268-ED62132CF7C3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A5995F-2C23-E8B3-F733-1943AD2527F6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مخطط التعلم العميق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926925A-8101-B35E-4152-BCB14D4C4D29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921688A-F5A4-DE76-AFCE-25EA83AC7AFB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E7256AFE-68CD-6E5D-09AB-848E9514DA90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0D674BA5-C2A2-D029-FB3D-28261F18B10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BD521F5-2C80-B631-BA58-03EE398BFD89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19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074EC948-927E-3B68-2042-809983AA701B}"/>
              </a:ext>
            </a:extLst>
          </p:cNvPr>
          <p:cNvSpPr/>
          <p:nvPr/>
        </p:nvSpPr>
        <p:spPr>
          <a:xfrm>
            <a:off x="-3542020" y="-56608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0E38D0-4E8E-F2C9-B105-60C51F69A6ED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Canvas 8">
            <a:extLst>
              <a:ext uri="{FF2B5EF4-FFF2-40B4-BE49-F238E27FC236}">
                <a16:creationId xmlns:a16="http://schemas.microsoft.com/office/drawing/2014/main" id="{EA127104-B0B4-6A81-912F-192DC73111EA}"/>
              </a:ext>
            </a:extLst>
          </p:cNvPr>
          <p:cNvGrpSpPr/>
          <p:nvPr/>
        </p:nvGrpSpPr>
        <p:grpSpPr>
          <a:xfrm>
            <a:off x="76200" y="2247900"/>
            <a:ext cx="18135600" cy="7524750"/>
            <a:chOff x="-629854" y="0"/>
            <a:chExt cx="6825695" cy="2682240"/>
          </a:xfrm>
          <a:solidFill>
            <a:schemeClr val="bg1">
              <a:lumMod val="95000"/>
            </a:schemeClr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2474AE-33AC-6755-1294-8DD1923D6FB2}"/>
                </a:ext>
              </a:extLst>
            </p:cNvPr>
            <p:cNvSpPr/>
            <p:nvPr/>
          </p:nvSpPr>
          <p:spPr>
            <a:xfrm>
              <a:off x="-629854" y="0"/>
              <a:ext cx="6825695" cy="2682240"/>
            </a:xfrm>
            <a:prstGeom prst="rect">
              <a:avLst/>
            </a:pr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FE08160-14CD-6032-9805-ACF21144DC52}"/>
                </a:ext>
              </a:extLst>
            </p:cNvPr>
            <p:cNvSpPr/>
            <p:nvPr/>
          </p:nvSpPr>
          <p:spPr>
            <a:xfrm>
              <a:off x="5177984" y="228804"/>
              <a:ext cx="882323" cy="2236470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BAF66C2-0435-F541-E9DC-52318CED4F56}"/>
                </a:ext>
              </a:extLst>
            </p:cNvPr>
            <p:cNvSpPr/>
            <p:nvPr/>
          </p:nvSpPr>
          <p:spPr>
            <a:xfrm>
              <a:off x="-228329" y="136071"/>
              <a:ext cx="867496" cy="2237016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 Box 402162206">
              <a:extLst>
                <a:ext uri="{FF2B5EF4-FFF2-40B4-BE49-F238E27FC236}">
                  <a16:creationId xmlns:a16="http://schemas.microsoft.com/office/drawing/2014/main" id="{5C62E4CD-C114-629B-2E63-3C7E88CB702C}"/>
                </a:ext>
              </a:extLst>
            </p:cNvPr>
            <p:cNvSpPr txBox="1"/>
            <p:nvPr/>
          </p:nvSpPr>
          <p:spPr>
            <a:xfrm>
              <a:off x="-129363" y="0"/>
              <a:ext cx="549729" cy="272143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Inputs</a:t>
              </a:r>
            </a:p>
          </p:txBody>
        </p:sp>
        <p:sp>
          <p:nvSpPr>
            <p:cNvPr id="42" name="Frame 41">
              <a:extLst>
                <a:ext uri="{FF2B5EF4-FFF2-40B4-BE49-F238E27FC236}">
                  <a16:creationId xmlns:a16="http://schemas.microsoft.com/office/drawing/2014/main" id="{9865AB78-AF7A-5F96-CD03-2C9816F51CE8}"/>
                </a:ext>
              </a:extLst>
            </p:cNvPr>
            <p:cNvSpPr/>
            <p:nvPr/>
          </p:nvSpPr>
          <p:spPr>
            <a:xfrm>
              <a:off x="-106503" y="500743"/>
              <a:ext cx="587829" cy="440871"/>
            </a:xfrm>
            <a:prstGeom prst="frame">
              <a:avLst>
                <a:gd name="adj1" fmla="val 3858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 Box 1312529907">
              <a:extLst>
                <a:ext uri="{FF2B5EF4-FFF2-40B4-BE49-F238E27FC236}">
                  <a16:creationId xmlns:a16="http://schemas.microsoft.com/office/drawing/2014/main" id="{11DCE709-76DF-635E-276F-997DCF441545}"/>
                </a:ext>
              </a:extLst>
            </p:cNvPr>
            <p:cNvSpPr txBox="1"/>
            <p:nvPr/>
          </p:nvSpPr>
          <p:spPr>
            <a:xfrm>
              <a:off x="-68403" y="544286"/>
              <a:ext cx="506186" cy="364671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MRI image</a:t>
              </a:r>
            </a:p>
          </p:txBody>
        </p:sp>
        <p:sp>
          <p:nvSpPr>
            <p:cNvPr id="44" name="Scroll: Vertical 43">
              <a:extLst>
                <a:ext uri="{FF2B5EF4-FFF2-40B4-BE49-F238E27FC236}">
                  <a16:creationId xmlns:a16="http://schemas.microsoft.com/office/drawing/2014/main" id="{4FAB3843-88F1-97AA-BBC5-0478339671D7}"/>
                </a:ext>
              </a:extLst>
            </p:cNvPr>
            <p:cNvSpPr/>
            <p:nvPr/>
          </p:nvSpPr>
          <p:spPr>
            <a:xfrm>
              <a:off x="-242574" y="1420570"/>
              <a:ext cx="843642" cy="756557"/>
            </a:xfrm>
            <a:prstGeom prst="verticalScroll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 Box 1">
              <a:extLst>
                <a:ext uri="{FF2B5EF4-FFF2-40B4-BE49-F238E27FC236}">
                  <a16:creationId xmlns:a16="http://schemas.microsoft.com/office/drawing/2014/main" id="{E2883B82-F00F-C49D-0CD5-8174BD8BDF05}"/>
                </a:ext>
              </a:extLst>
            </p:cNvPr>
            <p:cNvSpPr txBox="1"/>
            <p:nvPr/>
          </p:nvSpPr>
          <p:spPr>
            <a:xfrm>
              <a:off x="-129363" y="1595127"/>
              <a:ext cx="594808" cy="516686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Disease Descriptions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677A74D-1D1D-D441-B550-6663CD02B419}"/>
                </a:ext>
              </a:extLst>
            </p:cNvPr>
            <p:cNvSpPr/>
            <p:nvPr/>
          </p:nvSpPr>
          <p:spPr>
            <a:xfrm>
              <a:off x="1597779" y="517072"/>
              <a:ext cx="678175" cy="40821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Vision Encoder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B847D59-26BA-35F0-30CA-EAD73611920C}"/>
                </a:ext>
              </a:extLst>
            </p:cNvPr>
            <p:cNvCxnSpPr>
              <a:cxnSpLocks/>
              <a:stCxn id="42" idx="3"/>
              <a:endCxn id="46" idx="1"/>
            </p:cNvCxnSpPr>
            <p:nvPr/>
          </p:nvCxnSpPr>
          <p:spPr>
            <a:xfrm>
              <a:off x="481326" y="721179"/>
              <a:ext cx="1116453" cy="1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 Box 1">
              <a:extLst>
                <a:ext uri="{FF2B5EF4-FFF2-40B4-BE49-F238E27FC236}">
                  <a16:creationId xmlns:a16="http://schemas.microsoft.com/office/drawing/2014/main" id="{88F6B9D2-79D2-5274-CA7B-23B782715768}"/>
                </a:ext>
              </a:extLst>
            </p:cNvPr>
            <p:cNvSpPr txBox="1"/>
            <p:nvPr/>
          </p:nvSpPr>
          <p:spPr>
            <a:xfrm>
              <a:off x="707995" y="644867"/>
              <a:ext cx="729124" cy="25657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Preprocessing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2BDA6F6-C5F6-3E9C-2F69-35E6FE111E2C}"/>
                </a:ext>
              </a:extLst>
            </p:cNvPr>
            <p:cNvSpPr/>
            <p:nvPr/>
          </p:nvSpPr>
          <p:spPr>
            <a:xfrm>
              <a:off x="4278923" y="525144"/>
              <a:ext cx="797952" cy="3913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Image Embedding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301E803-3785-8565-E78D-3DFDA5473C4C}"/>
                </a:ext>
              </a:extLst>
            </p:cNvPr>
            <p:cNvSpPr/>
            <p:nvPr/>
          </p:nvSpPr>
          <p:spPr>
            <a:xfrm>
              <a:off x="712437" y="1649556"/>
              <a:ext cx="663294" cy="40767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Tokenizer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9FF4A1B-F58E-095F-253F-A62FDC92139F}"/>
                </a:ext>
              </a:extLst>
            </p:cNvPr>
            <p:cNvCxnSpPr>
              <a:cxnSpLocks/>
              <a:stCxn id="45" idx="3"/>
              <a:endCxn id="51" idx="1"/>
            </p:cNvCxnSpPr>
            <p:nvPr/>
          </p:nvCxnSpPr>
          <p:spPr>
            <a:xfrm flipV="1">
              <a:off x="465445" y="1853391"/>
              <a:ext cx="246992" cy="79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DEA0C83-6263-8183-1459-2950F80C27E9}"/>
                </a:ext>
              </a:extLst>
            </p:cNvPr>
            <p:cNvSpPr/>
            <p:nvPr/>
          </p:nvSpPr>
          <p:spPr>
            <a:xfrm>
              <a:off x="1540660" y="1649556"/>
              <a:ext cx="750728" cy="40767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Encoder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CD70627-D514-0110-E4A4-9E682E79FFDD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>
            <a:xfrm>
              <a:off x="1375731" y="1853391"/>
              <a:ext cx="164929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F97D45C-5BDF-5B7B-B167-7371325CE5EC}"/>
                </a:ext>
              </a:extLst>
            </p:cNvPr>
            <p:cNvSpPr/>
            <p:nvPr/>
          </p:nvSpPr>
          <p:spPr>
            <a:xfrm>
              <a:off x="4282362" y="1660442"/>
              <a:ext cx="808838" cy="3911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Embedding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1E7F524-E748-3B28-DBF5-C3A3B72AA05E}"/>
                </a:ext>
              </a:extLst>
            </p:cNvPr>
            <p:cNvCxnSpPr>
              <a:cxnSpLocks/>
              <a:stCxn id="53" idx="3"/>
              <a:endCxn id="33" idx="1"/>
            </p:cNvCxnSpPr>
            <p:nvPr/>
          </p:nvCxnSpPr>
          <p:spPr>
            <a:xfrm>
              <a:off x="2291388" y="1853391"/>
              <a:ext cx="182557" cy="8316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13E7E78-D7D4-306C-C1FC-36EFFEE27E40}"/>
                </a:ext>
              </a:extLst>
            </p:cNvPr>
            <p:cNvSpPr/>
            <p:nvPr/>
          </p:nvSpPr>
          <p:spPr>
            <a:xfrm>
              <a:off x="5257306" y="1083128"/>
              <a:ext cx="732608" cy="402772"/>
            </a:xfrm>
            <a:prstGeom prst="round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Similarity Calculation</a:t>
              </a: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27D79AB5-8CE7-F2B5-BE8D-2F2DEF585DE4}"/>
                </a:ext>
              </a:extLst>
            </p:cNvPr>
            <p:cNvCxnSpPr>
              <a:cxnSpLocks/>
              <a:stCxn id="49" idx="3"/>
              <a:endCxn id="57" idx="0"/>
            </p:cNvCxnSpPr>
            <p:nvPr/>
          </p:nvCxnSpPr>
          <p:spPr>
            <a:xfrm>
              <a:off x="5076875" y="720815"/>
              <a:ext cx="546735" cy="362313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949150B6-1F10-D715-9985-64F64E7F8CE2}"/>
                </a:ext>
              </a:extLst>
            </p:cNvPr>
            <p:cNvCxnSpPr>
              <a:cxnSpLocks/>
              <a:stCxn id="55" idx="3"/>
              <a:endCxn id="57" idx="2"/>
            </p:cNvCxnSpPr>
            <p:nvPr/>
          </p:nvCxnSpPr>
          <p:spPr>
            <a:xfrm flipV="1">
              <a:off x="5091200" y="1485900"/>
              <a:ext cx="532410" cy="370122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 Box 2">
              <a:extLst>
                <a:ext uri="{FF2B5EF4-FFF2-40B4-BE49-F238E27FC236}">
                  <a16:creationId xmlns:a16="http://schemas.microsoft.com/office/drawing/2014/main" id="{5087E888-66D2-EFF3-EA5C-285E0FDB1FF1}"/>
                </a:ext>
              </a:extLst>
            </p:cNvPr>
            <p:cNvSpPr txBox="1"/>
            <p:nvPr/>
          </p:nvSpPr>
          <p:spPr>
            <a:xfrm>
              <a:off x="5257306" y="92914"/>
              <a:ext cx="604610" cy="27178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Outputs</a:t>
              </a:r>
            </a:p>
          </p:txBody>
        </p:sp>
      </p:grpSp>
      <p:sp>
        <p:nvSpPr>
          <p:cNvPr id="65" name="Freeform 5">
            <a:extLst>
              <a:ext uri="{FF2B5EF4-FFF2-40B4-BE49-F238E27FC236}">
                <a16:creationId xmlns:a16="http://schemas.microsoft.com/office/drawing/2014/main" id="{CA5F9EC2-22CC-9A61-3EE7-DDD9EEE5D197}"/>
              </a:ext>
            </a:extLst>
          </p:cNvPr>
          <p:cNvSpPr/>
          <p:nvPr/>
        </p:nvSpPr>
        <p:spPr>
          <a:xfrm>
            <a:off x="603811" y="9521483"/>
            <a:ext cx="1878686" cy="469671"/>
          </a:xfrm>
          <a:custGeom>
            <a:avLst/>
            <a:gdLst/>
            <a:ahLst/>
            <a:cxnLst/>
            <a:rect l="l" t="t" r="r" b="b"/>
            <a:pathLst>
              <a:path w="1878686" h="469671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2751BB-01D4-0FD3-B45B-61294C77091D}"/>
              </a:ext>
            </a:extLst>
          </p:cNvPr>
          <p:cNvSpPr/>
          <p:nvPr/>
        </p:nvSpPr>
        <p:spPr>
          <a:xfrm>
            <a:off x="10966349" y="371818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043F23-DB78-4679-D67E-88CEC70C7C57}"/>
              </a:ext>
            </a:extLst>
          </p:cNvPr>
          <p:cNvSpPr/>
          <p:nvPr/>
        </p:nvSpPr>
        <p:spPr>
          <a:xfrm>
            <a:off x="11118749" y="689542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2F6547-7D36-B5FE-BC0E-87D060320464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12725400" y="4270073"/>
            <a:ext cx="393225" cy="19949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522BDC-C6D6-0D54-10F8-172D9336519D}"/>
              </a:ext>
            </a:extLst>
          </p:cNvPr>
          <p:cNvCxnSpPr>
            <a:cxnSpLocks/>
            <a:stCxn id="16" idx="3"/>
            <a:endCxn id="55" idx="1"/>
          </p:cNvCxnSpPr>
          <p:nvPr/>
        </p:nvCxnSpPr>
        <p:spPr>
          <a:xfrm flipV="1">
            <a:off x="12877800" y="7454780"/>
            <a:ext cx="249962" cy="12482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D5151AE-174E-A3DB-FF3E-DACF94FAD0CA}"/>
              </a:ext>
            </a:extLst>
          </p:cNvPr>
          <p:cNvSpPr/>
          <p:nvPr/>
        </p:nvSpPr>
        <p:spPr>
          <a:xfrm>
            <a:off x="8557022" y="3740829"/>
            <a:ext cx="1933057" cy="1097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Image Embedding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7963BD-6D22-97BC-F657-F04E7005C79F}"/>
              </a:ext>
            </a:extLst>
          </p:cNvPr>
          <p:cNvCxnSpPr>
            <a:stCxn id="46" idx="3"/>
            <a:endCxn id="25" idx="1"/>
          </p:cNvCxnSpPr>
          <p:nvPr/>
        </p:nvCxnSpPr>
        <p:spPr>
          <a:xfrm>
            <a:off x="7796816" y="4271095"/>
            <a:ext cx="760206" cy="18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7EA063-0B52-AD5D-46D8-2EC615792DA2}"/>
              </a:ext>
            </a:extLst>
          </p:cNvPr>
          <p:cNvCxnSpPr>
            <a:stCxn id="25" idx="3"/>
          </p:cNvCxnSpPr>
          <p:nvPr/>
        </p:nvCxnSpPr>
        <p:spPr>
          <a:xfrm>
            <a:off x="10490079" y="4289764"/>
            <a:ext cx="476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FD8F38B-2178-FF65-FC6B-AD3929A277B1}"/>
              </a:ext>
            </a:extLst>
          </p:cNvPr>
          <p:cNvSpPr/>
          <p:nvPr/>
        </p:nvSpPr>
        <p:spPr>
          <a:xfrm>
            <a:off x="8509920" y="6941741"/>
            <a:ext cx="2158080" cy="1097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Text Embedding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D493CEB-0332-69DA-C7F4-B1450BFF34FC}"/>
              </a:ext>
            </a:extLst>
          </p:cNvPr>
          <p:cNvCxnSpPr>
            <a:cxnSpLocks/>
            <a:stCxn id="33" idx="3"/>
            <a:endCxn id="16" idx="1"/>
          </p:cNvCxnSpPr>
          <p:nvPr/>
        </p:nvCxnSpPr>
        <p:spPr>
          <a:xfrm flipV="1">
            <a:off x="10668000" y="7467262"/>
            <a:ext cx="450749" cy="23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975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A8B9E-2ADA-90AB-F6B2-BA5323E1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02ED957-7302-E8E7-4314-16555E6716EC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EE5AF4-373E-9EAB-0EE3-BAA9848C0876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آلية التدريب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8C8C8EF-F801-2171-157B-E3B8DC53164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166264F9-A6C5-1847-4957-58D696641EED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C6F4C163-A624-ED35-AA5A-9A0CEA9E7265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1A491B78-A6DE-5E7C-EA4E-C7D154774F5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DA2D741-2B6C-B707-4EA5-92C9359AEC4D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20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06796ED-91FE-3A1C-A723-99765C6E3EB7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22A827-D138-2F63-0D54-4D4F634E40C1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02AF4E-6306-B973-4C07-7F921F3C6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233460"/>
              </p:ext>
            </p:extLst>
          </p:nvPr>
        </p:nvGraphicFramePr>
        <p:xfrm>
          <a:off x="4800600" y="3543300"/>
          <a:ext cx="8115300" cy="4572000"/>
        </p:xfrm>
        <a:graphic>
          <a:graphicData uri="http://schemas.openxmlformats.org/drawingml/2006/table">
            <a:tbl>
              <a:tblPr firstRow="1" bandRow="1"/>
              <a:tblGrid>
                <a:gridCol w="4057650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تجربة 1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52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59.44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383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1BF1-479C-0531-CBA5-9EFACAD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7C9AB9B-5A96-02AD-6039-8B1BBFFD40FC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B5D5E1-D375-5813-347A-0AE72245007E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مخطط التعلم العميق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0141F30-57E6-B8F7-4C39-6EB832D6562A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91B59101-78D7-A9BA-4F80-07EA7B2A4C58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940080D0-39C6-4B70-FD6F-93DD0A2C0949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FF25ABC-81C1-9573-AD85-FDE1CB3D02A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FFD272A-8FB7-EC88-0227-153D120926AE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21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24B0C49-952B-5545-E004-DF5A63B00BE3}"/>
              </a:ext>
            </a:extLst>
          </p:cNvPr>
          <p:cNvSpPr/>
          <p:nvPr/>
        </p:nvSpPr>
        <p:spPr>
          <a:xfrm>
            <a:off x="-3542020" y="-56608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A8E5E4-61EB-EE05-E558-C5B15AAAF7BD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Canvas 8">
            <a:extLst>
              <a:ext uri="{FF2B5EF4-FFF2-40B4-BE49-F238E27FC236}">
                <a16:creationId xmlns:a16="http://schemas.microsoft.com/office/drawing/2014/main" id="{CFB963B6-E9A2-C258-6412-C79EB31C0D4B}"/>
              </a:ext>
            </a:extLst>
          </p:cNvPr>
          <p:cNvGrpSpPr/>
          <p:nvPr/>
        </p:nvGrpSpPr>
        <p:grpSpPr>
          <a:xfrm>
            <a:off x="76200" y="2267591"/>
            <a:ext cx="18135600" cy="7524750"/>
            <a:chOff x="-629854" y="0"/>
            <a:chExt cx="6825695" cy="2682240"/>
          </a:xfrm>
          <a:solidFill>
            <a:schemeClr val="bg1">
              <a:lumMod val="95000"/>
            </a:schemeClr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3BE7003-0ED7-0DDD-ABF2-973B4B08D82D}"/>
                </a:ext>
              </a:extLst>
            </p:cNvPr>
            <p:cNvSpPr/>
            <p:nvPr/>
          </p:nvSpPr>
          <p:spPr>
            <a:xfrm>
              <a:off x="-629854" y="0"/>
              <a:ext cx="6825695" cy="2682240"/>
            </a:xfrm>
            <a:prstGeom prst="rect">
              <a:avLst/>
            </a:pr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866F9B7-61FC-0363-5C2B-B1140AE4189C}"/>
                </a:ext>
              </a:extLst>
            </p:cNvPr>
            <p:cNvSpPr/>
            <p:nvPr/>
          </p:nvSpPr>
          <p:spPr>
            <a:xfrm>
              <a:off x="5177984" y="228804"/>
              <a:ext cx="882323" cy="2236470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F542418-99A3-2E11-DBE5-E13D640F78C5}"/>
                </a:ext>
              </a:extLst>
            </p:cNvPr>
            <p:cNvSpPr/>
            <p:nvPr/>
          </p:nvSpPr>
          <p:spPr>
            <a:xfrm>
              <a:off x="-228329" y="136071"/>
              <a:ext cx="867496" cy="2237016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 Box 402162206">
              <a:extLst>
                <a:ext uri="{FF2B5EF4-FFF2-40B4-BE49-F238E27FC236}">
                  <a16:creationId xmlns:a16="http://schemas.microsoft.com/office/drawing/2014/main" id="{C41C031B-5DCD-B937-AE3E-B4AD15DADC0C}"/>
                </a:ext>
              </a:extLst>
            </p:cNvPr>
            <p:cNvSpPr txBox="1"/>
            <p:nvPr/>
          </p:nvSpPr>
          <p:spPr>
            <a:xfrm>
              <a:off x="-129363" y="0"/>
              <a:ext cx="549729" cy="272143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Inputs</a:t>
              </a:r>
            </a:p>
          </p:txBody>
        </p:sp>
        <p:sp>
          <p:nvSpPr>
            <p:cNvPr id="42" name="Frame 41">
              <a:extLst>
                <a:ext uri="{FF2B5EF4-FFF2-40B4-BE49-F238E27FC236}">
                  <a16:creationId xmlns:a16="http://schemas.microsoft.com/office/drawing/2014/main" id="{F28DCCC2-FC69-E01F-D0D5-DC96BA173095}"/>
                </a:ext>
              </a:extLst>
            </p:cNvPr>
            <p:cNvSpPr/>
            <p:nvPr/>
          </p:nvSpPr>
          <p:spPr>
            <a:xfrm>
              <a:off x="-106503" y="500743"/>
              <a:ext cx="587829" cy="440871"/>
            </a:xfrm>
            <a:prstGeom prst="frame">
              <a:avLst>
                <a:gd name="adj1" fmla="val 3858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 Box 1312529907">
              <a:extLst>
                <a:ext uri="{FF2B5EF4-FFF2-40B4-BE49-F238E27FC236}">
                  <a16:creationId xmlns:a16="http://schemas.microsoft.com/office/drawing/2014/main" id="{135EF4CC-4E08-1E7D-D11B-B87D3EB9871B}"/>
                </a:ext>
              </a:extLst>
            </p:cNvPr>
            <p:cNvSpPr txBox="1"/>
            <p:nvPr/>
          </p:nvSpPr>
          <p:spPr>
            <a:xfrm>
              <a:off x="-68403" y="544286"/>
              <a:ext cx="506186" cy="364671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MRI image</a:t>
              </a:r>
            </a:p>
          </p:txBody>
        </p:sp>
        <p:sp>
          <p:nvSpPr>
            <p:cNvPr id="44" name="Scroll: Vertical 43">
              <a:extLst>
                <a:ext uri="{FF2B5EF4-FFF2-40B4-BE49-F238E27FC236}">
                  <a16:creationId xmlns:a16="http://schemas.microsoft.com/office/drawing/2014/main" id="{07E15C19-E28A-2D1C-0661-7FE4DDA5A315}"/>
                </a:ext>
              </a:extLst>
            </p:cNvPr>
            <p:cNvSpPr/>
            <p:nvPr/>
          </p:nvSpPr>
          <p:spPr>
            <a:xfrm>
              <a:off x="-242574" y="1420570"/>
              <a:ext cx="843642" cy="756557"/>
            </a:xfrm>
            <a:prstGeom prst="verticalScroll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 Box 1">
              <a:extLst>
                <a:ext uri="{FF2B5EF4-FFF2-40B4-BE49-F238E27FC236}">
                  <a16:creationId xmlns:a16="http://schemas.microsoft.com/office/drawing/2014/main" id="{083C40D3-9F87-5A8B-8754-0B954C907C66}"/>
                </a:ext>
              </a:extLst>
            </p:cNvPr>
            <p:cNvSpPr txBox="1"/>
            <p:nvPr/>
          </p:nvSpPr>
          <p:spPr>
            <a:xfrm>
              <a:off x="-129363" y="1595127"/>
              <a:ext cx="594808" cy="516686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Disease Descriptions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3676FE5-4222-389B-2872-42BF8F9B8A7E}"/>
                </a:ext>
              </a:extLst>
            </p:cNvPr>
            <p:cNvSpPr/>
            <p:nvPr/>
          </p:nvSpPr>
          <p:spPr>
            <a:xfrm>
              <a:off x="1597779" y="517072"/>
              <a:ext cx="678175" cy="40821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Vision Encoder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542E322-E42F-3CD2-D79C-AA6CF1898ED0}"/>
                </a:ext>
              </a:extLst>
            </p:cNvPr>
            <p:cNvCxnSpPr>
              <a:cxnSpLocks/>
              <a:stCxn id="42" idx="3"/>
              <a:endCxn id="46" idx="1"/>
            </p:cNvCxnSpPr>
            <p:nvPr/>
          </p:nvCxnSpPr>
          <p:spPr>
            <a:xfrm>
              <a:off x="481326" y="721179"/>
              <a:ext cx="1116453" cy="1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 Box 1">
              <a:extLst>
                <a:ext uri="{FF2B5EF4-FFF2-40B4-BE49-F238E27FC236}">
                  <a16:creationId xmlns:a16="http://schemas.microsoft.com/office/drawing/2014/main" id="{1C1CF690-C91F-876A-57C8-8069F04DB722}"/>
                </a:ext>
              </a:extLst>
            </p:cNvPr>
            <p:cNvSpPr txBox="1"/>
            <p:nvPr/>
          </p:nvSpPr>
          <p:spPr>
            <a:xfrm>
              <a:off x="707995" y="644867"/>
              <a:ext cx="729124" cy="25657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Preprocessing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8B7ED10-0CCF-B90A-0722-F3B83678BA71}"/>
                </a:ext>
              </a:extLst>
            </p:cNvPr>
            <p:cNvSpPr/>
            <p:nvPr/>
          </p:nvSpPr>
          <p:spPr>
            <a:xfrm>
              <a:off x="4278923" y="525144"/>
              <a:ext cx="797952" cy="3913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Image Embedding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84A73D1-385A-9B5C-8C8A-3B02C595AAAB}"/>
                </a:ext>
              </a:extLst>
            </p:cNvPr>
            <p:cNvSpPr/>
            <p:nvPr/>
          </p:nvSpPr>
          <p:spPr>
            <a:xfrm>
              <a:off x="712437" y="1649556"/>
              <a:ext cx="663294" cy="40767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Tokenizer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F97F1CF-40C4-EBD0-3993-06E76967DC5E}"/>
                </a:ext>
              </a:extLst>
            </p:cNvPr>
            <p:cNvCxnSpPr>
              <a:cxnSpLocks/>
              <a:stCxn id="45" idx="3"/>
              <a:endCxn id="51" idx="1"/>
            </p:cNvCxnSpPr>
            <p:nvPr/>
          </p:nvCxnSpPr>
          <p:spPr>
            <a:xfrm flipV="1">
              <a:off x="465445" y="1853391"/>
              <a:ext cx="246992" cy="79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068A010-7C92-CF56-39E5-2B819F36ADD5}"/>
                </a:ext>
              </a:extLst>
            </p:cNvPr>
            <p:cNvSpPr/>
            <p:nvPr/>
          </p:nvSpPr>
          <p:spPr>
            <a:xfrm>
              <a:off x="1540660" y="1649556"/>
              <a:ext cx="750728" cy="407670"/>
            </a:xfrm>
            <a:prstGeom prst="rect">
              <a:avLst/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Encoder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357D1C5-88A0-4D19-05DF-9871F470BE8E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>
            <a:xfrm>
              <a:off x="1375731" y="1853391"/>
              <a:ext cx="164929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EBE189D-0F5B-CB1F-6138-14FF66F994FA}"/>
                </a:ext>
              </a:extLst>
            </p:cNvPr>
            <p:cNvSpPr/>
            <p:nvPr/>
          </p:nvSpPr>
          <p:spPr>
            <a:xfrm>
              <a:off x="4282362" y="1660442"/>
              <a:ext cx="808838" cy="3911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Embedding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C7B4485-E858-AA5E-FE8A-AC772F22FE0A}"/>
                </a:ext>
              </a:extLst>
            </p:cNvPr>
            <p:cNvCxnSpPr>
              <a:cxnSpLocks/>
              <a:stCxn id="53" idx="3"/>
              <a:endCxn id="33" idx="1"/>
            </p:cNvCxnSpPr>
            <p:nvPr/>
          </p:nvCxnSpPr>
          <p:spPr>
            <a:xfrm>
              <a:off x="2291388" y="1853391"/>
              <a:ext cx="182557" cy="8316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51B2EDB-6B07-2521-104B-8C4E19CFFEA9}"/>
                </a:ext>
              </a:extLst>
            </p:cNvPr>
            <p:cNvSpPr/>
            <p:nvPr/>
          </p:nvSpPr>
          <p:spPr>
            <a:xfrm>
              <a:off x="5257306" y="1083128"/>
              <a:ext cx="732608" cy="402772"/>
            </a:xfrm>
            <a:prstGeom prst="round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Similarity Calculation</a:t>
              </a: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3D92575B-D4E1-5EE8-291B-EB510B782639}"/>
                </a:ext>
              </a:extLst>
            </p:cNvPr>
            <p:cNvCxnSpPr>
              <a:cxnSpLocks/>
              <a:stCxn id="49" idx="3"/>
              <a:endCxn id="57" idx="0"/>
            </p:cNvCxnSpPr>
            <p:nvPr/>
          </p:nvCxnSpPr>
          <p:spPr>
            <a:xfrm>
              <a:off x="5076875" y="720815"/>
              <a:ext cx="546735" cy="362313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7D2C3DC5-4E13-494C-E482-4ED2AB0B560E}"/>
                </a:ext>
              </a:extLst>
            </p:cNvPr>
            <p:cNvCxnSpPr>
              <a:cxnSpLocks/>
              <a:stCxn id="55" idx="3"/>
              <a:endCxn id="57" idx="2"/>
            </p:cNvCxnSpPr>
            <p:nvPr/>
          </p:nvCxnSpPr>
          <p:spPr>
            <a:xfrm flipV="1">
              <a:off x="5091200" y="1485900"/>
              <a:ext cx="532410" cy="370122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 Box 2">
              <a:extLst>
                <a:ext uri="{FF2B5EF4-FFF2-40B4-BE49-F238E27FC236}">
                  <a16:creationId xmlns:a16="http://schemas.microsoft.com/office/drawing/2014/main" id="{815E1BB0-70AD-0F2E-413A-C882819C47B7}"/>
                </a:ext>
              </a:extLst>
            </p:cNvPr>
            <p:cNvSpPr txBox="1"/>
            <p:nvPr/>
          </p:nvSpPr>
          <p:spPr>
            <a:xfrm>
              <a:off x="5257306" y="92914"/>
              <a:ext cx="604610" cy="27178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Outputs</a:t>
              </a:r>
            </a:p>
          </p:txBody>
        </p:sp>
      </p:grpSp>
      <p:sp>
        <p:nvSpPr>
          <p:cNvPr id="65" name="Freeform 5">
            <a:extLst>
              <a:ext uri="{FF2B5EF4-FFF2-40B4-BE49-F238E27FC236}">
                <a16:creationId xmlns:a16="http://schemas.microsoft.com/office/drawing/2014/main" id="{B8607B0E-A692-DD0A-0179-58F78982B1A7}"/>
              </a:ext>
            </a:extLst>
          </p:cNvPr>
          <p:cNvSpPr/>
          <p:nvPr/>
        </p:nvSpPr>
        <p:spPr>
          <a:xfrm>
            <a:off x="603811" y="9521483"/>
            <a:ext cx="1878686" cy="469671"/>
          </a:xfrm>
          <a:custGeom>
            <a:avLst/>
            <a:gdLst/>
            <a:ahLst/>
            <a:cxnLst/>
            <a:rect l="l" t="t" r="r" b="b"/>
            <a:pathLst>
              <a:path w="1878686" h="469671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CC6D6-DAA3-279D-88BA-6C1AB3C0BD34}"/>
              </a:ext>
            </a:extLst>
          </p:cNvPr>
          <p:cNvSpPr/>
          <p:nvPr/>
        </p:nvSpPr>
        <p:spPr>
          <a:xfrm>
            <a:off x="10966349" y="371818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92D372-70FF-B438-372D-8804E9C7BECA}"/>
              </a:ext>
            </a:extLst>
          </p:cNvPr>
          <p:cNvSpPr/>
          <p:nvPr/>
        </p:nvSpPr>
        <p:spPr>
          <a:xfrm>
            <a:off x="11118749" y="689542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AFE61E-6AB4-4E2F-4E7B-6551437CD437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12725400" y="4289764"/>
            <a:ext cx="393225" cy="258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F2F2AD-8DFD-704E-108F-9C4F1100B554}"/>
              </a:ext>
            </a:extLst>
          </p:cNvPr>
          <p:cNvCxnSpPr>
            <a:cxnSpLocks/>
            <a:stCxn id="16" idx="3"/>
            <a:endCxn id="55" idx="1"/>
          </p:cNvCxnSpPr>
          <p:nvPr/>
        </p:nvCxnSpPr>
        <p:spPr>
          <a:xfrm>
            <a:off x="12877800" y="7467262"/>
            <a:ext cx="249962" cy="7209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5E8AD57-73A3-49EC-5248-39EE9BA2DE33}"/>
              </a:ext>
            </a:extLst>
          </p:cNvPr>
          <p:cNvSpPr/>
          <p:nvPr/>
        </p:nvSpPr>
        <p:spPr>
          <a:xfrm>
            <a:off x="8557022" y="3740829"/>
            <a:ext cx="1933057" cy="1097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Image Embedding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9F0A40-C726-2CBE-19AD-385889E95179}"/>
              </a:ext>
            </a:extLst>
          </p:cNvPr>
          <p:cNvCxnSpPr>
            <a:stCxn id="46" idx="3"/>
            <a:endCxn id="25" idx="1"/>
          </p:cNvCxnSpPr>
          <p:nvPr/>
        </p:nvCxnSpPr>
        <p:spPr>
          <a:xfrm flipV="1">
            <a:off x="7796816" y="4289764"/>
            <a:ext cx="760206" cy="1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DFF729-C255-5F08-52A8-45C9D018E79E}"/>
              </a:ext>
            </a:extLst>
          </p:cNvPr>
          <p:cNvCxnSpPr>
            <a:stCxn id="25" idx="3"/>
          </p:cNvCxnSpPr>
          <p:nvPr/>
        </p:nvCxnSpPr>
        <p:spPr>
          <a:xfrm>
            <a:off x="10490079" y="4289764"/>
            <a:ext cx="476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7433B-41FC-0F11-4A7C-DBCBFAEBE741}"/>
              </a:ext>
            </a:extLst>
          </p:cNvPr>
          <p:cNvSpPr/>
          <p:nvPr/>
        </p:nvSpPr>
        <p:spPr>
          <a:xfrm>
            <a:off x="8509920" y="6941741"/>
            <a:ext cx="2158080" cy="1097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Text Embedding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2E6DF34-5EF4-35DA-82B5-BB3E4C7CAEAB}"/>
              </a:ext>
            </a:extLst>
          </p:cNvPr>
          <p:cNvCxnSpPr>
            <a:cxnSpLocks/>
            <a:stCxn id="33" idx="3"/>
            <a:endCxn id="16" idx="1"/>
          </p:cNvCxnSpPr>
          <p:nvPr/>
        </p:nvCxnSpPr>
        <p:spPr>
          <a:xfrm flipV="1">
            <a:off x="10668000" y="7467262"/>
            <a:ext cx="450749" cy="23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406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89E3-BCD2-45CF-6F8A-1D81CC957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979742A-50DB-0C32-F91E-8CF9B490FD91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D637AD3-07D5-374C-410D-3BE5226AAC6C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آلية الت</a:t>
            </a:r>
            <a:r>
              <a:rPr lang="ar-SY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دريب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398F35E-9957-D77A-9A11-E5A774A97ADB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E7077693-5479-4870-277D-577A7EE8804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38C76419-150C-94C7-93F2-B7B253504E79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7CAE649B-E56A-06E3-F23E-71F1D816310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ED9A68B-9F0A-1237-CADA-0EBE5E603B2E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22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207D19EF-9076-90F1-3E88-D2BFED61B780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D39AC2-5D82-535C-70A9-FA8FE780832F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DD6D8D9-4122-F880-E513-11C4F8520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06311"/>
              </p:ext>
            </p:extLst>
          </p:nvPr>
        </p:nvGraphicFramePr>
        <p:xfrm>
          <a:off x="3550183" y="3731183"/>
          <a:ext cx="12172950" cy="4572000"/>
        </p:xfrm>
        <a:graphic>
          <a:graphicData uri="http://schemas.openxmlformats.org/drawingml/2006/table">
            <a:tbl>
              <a:tblPr firstRow="1" bandRow="1"/>
              <a:tblGrid>
                <a:gridCol w="4057650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تجربة 2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تجربة 1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52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59.61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59.44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17.52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5CF2990D-786A-C1AF-38A3-8E78A1BF91EA}"/>
              </a:ext>
            </a:extLst>
          </p:cNvPr>
          <p:cNvSpPr/>
          <p:nvPr/>
        </p:nvSpPr>
        <p:spPr>
          <a:xfrm rot="5400000">
            <a:off x="4937433" y="2319308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7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02B1-3EAB-0EC1-6CFA-128CDDA4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F335E3E-B042-A846-C69D-C81A8B37366D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2566CF1-7296-81C9-065E-9B33663CED4A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مخطط التعلم العميق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2E895A3-002A-1711-08FA-343C30559A98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A2C6077-750C-8ECB-BA39-157EF663457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F5965B09-73E6-0FA3-CD12-E43A65096F0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04F8174-DC15-5D00-A701-0DB8971D9CA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D464B8B-F995-7BDF-1D1D-E4D4046597A8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23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9E2BD611-EDE4-C05F-6D67-7C2E03F691F0}"/>
              </a:ext>
            </a:extLst>
          </p:cNvPr>
          <p:cNvSpPr/>
          <p:nvPr/>
        </p:nvSpPr>
        <p:spPr>
          <a:xfrm>
            <a:off x="-3542020" y="-56608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FC55C8-7359-CDB7-EB66-45D56D1993F4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Canvas 8">
            <a:extLst>
              <a:ext uri="{FF2B5EF4-FFF2-40B4-BE49-F238E27FC236}">
                <a16:creationId xmlns:a16="http://schemas.microsoft.com/office/drawing/2014/main" id="{E3505FA3-AED9-B9DC-54A1-E1367B581E3E}"/>
              </a:ext>
            </a:extLst>
          </p:cNvPr>
          <p:cNvGrpSpPr/>
          <p:nvPr/>
        </p:nvGrpSpPr>
        <p:grpSpPr>
          <a:xfrm>
            <a:off x="76200" y="2267591"/>
            <a:ext cx="18135600" cy="7524750"/>
            <a:chOff x="-629854" y="0"/>
            <a:chExt cx="6825695" cy="2682240"/>
          </a:xfrm>
          <a:solidFill>
            <a:schemeClr val="bg1">
              <a:lumMod val="95000"/>
            </a:schemeClr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8F205D6-6B72-F41E-CACB-BC7F892395CA}"/>
                </a:ext>
              </a:extLst>
            </p:cNvPr>
            <p:cNvSpPr/>
            <p:nvPr/>
          </p:nvSpPr>
          <p:spPr>
            <a:xfrm>
              <a:off x="-629854" y="0"/>
              <a:ext cx="6825695" cy="2682240"/>
            </a:xfrm>
            <a:prstGeom prst="rect">
              <a:avLst/>
            </a:pr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03FCF53-24D1-29E0-CAF5-4339070870F0}"/>
                </a:ext>
              </a:extLst>
            </p:cNvPr>
            <p:cNvSpPr/>
            <p:nvPr/>
          </p:nvSpPr>
          <p:spPr>
            <a:xfrm>
              <a:off x="5177984" y="228804"/>
              <a:ext cx="882323" cy="2236470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1872D01-192A-2C44-A49B-F4DF1CCE0343}"/>
                </a:ext>
              </a:extLst>
            </p:cNvPr>
            <p:cNvSpPr/>
            <p:nvPr/>
          </p:nvSpPr>
          <p:spPr>
            <a:xfrm>
              <a:off x="-228329" y="136071"/>
              <a:ext cx="867496" cy="2237016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 Box 402162206">
              <a:extLst>
                <a:ext uri="{FF2B5EF4-FFF2-40B4-BE49-F238E27FC236}">
                  <a16:creationId xmlns:a16="http://schemas.microsoft.com/office/drawing/2014/main" id="{83D681A3-31B0-3219-B70B-CAB7820FFC2B}"/>
                </a:ext>
              </a:extLst>
            </p:cNvPr>
            <p:cNvSpPr txBox="1"/>
            <p:nvPr/>
          </p:nvSpPr>
          <p:spPr>
            <a:xfrm>
              <a:off x="-129363" y="0"/>
              <a:ext cx="549729" cy="272143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Inputs</a:t>
              </a:r>
            </a:p>
          </p:txBody>
        </p:sp>
        <p:sp>
          <p:nvSpPr>
            <p:cNvPr id="42" name="Frame 41">
              <a:extLst>
                <a:ext uri="{FF2B5EF4-FFF2-40B4-BE49-F238E27FC236}">
                  <a16:creationId xmlns:a16="http://schemas.microsoft.com/office/drawing/2014/main" id="{8C3EF85D-CAC5-C630-B48E-959F3B29B154}"/>
                </a:ext>
              </a:extLst>
            </p:cNvPr>
            <p:cNvSpPr/>
            <p:nvPr/>
          </p:nvSpPr>
          <p:spPr>
            <a:xfrm>
              <a:off x="-106503" y="500743"/>
              <a:ext cx="587829" cy="440871"/>
            </a:xfrm>
            <a:prstGeom prst="frame">
              <a:avLst>
                <a:gd name="adj1" fmla="val 3858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 Box 1312529907">
              <a:extLst>
                <a:ext uri="{FF2B5EF4-FFF2-40B4-BE49-F238E27FC236}">
                  <a16:creationId xmlns:a16="http://schemas.microsoft.com/office/drawing/2014/main" id="{04E20A9C-5D7E-19D3-E287-B4BE1147C805}"/>
                </a:ext>
              </a:extLst>
            </p:cNvPr>
            <p:cNvSpPr txBox="1"/>
            <p:nvPr/>
          </p:nvSpPr>
          <p:spPr>
            <a:xfrm>
              <a:off x="-68403" y="544286"/>
              <a:ext cx="506186" cy="364671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MRI image</a:t>
              </a:r>
            </a:p>
          </p:txBody>
        </p:sp>
        <p:sp>
          <p:nvSpPr>
            <p:cNvPr id="44" name="Scroll: Vertical 43">
              <a:extLst>
                <a:ext uri="{FF2B5EF4-FFF2-40B4-BE49-F238E27FC236}">
                  <a16:creationId xmlns:a16="http://schemas.microsoft.com/office/drawing/2014/main" id="{6F34AAF2-CBD1-F364-83F4-CA7AB90E542B}"/>
                </a:ext>
              </a:extLst>
            </p:cNvPr>
            <p:cNvSpPr/>
            <p:nvPr/>
          </p:nvSpPr>
          <p:spPr>
            <a:xfrm>
              <a:off x="-242574" y="1420570"/>
              <a:ext cx="843642" cy="756557"/>
            </a:xfrm>
            <a:prstGeom prst="verticalScroll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 Box 1">
              <a:extLst>
                <a:ext uri="{FF2B5EF4-FFF2-40B4-BE49-F238E27FC236}">
                  <a16:creationId xmlns:a16="http://schemas.microsoft.com/office/drawing/2014/main" id="{6852C4D4-44F2-C0F7-DCB7-D4F104BFD589}"/>
                </a:ext>
              </a:extLst>
            </p:cNvPr>
            <p:cNvSpPr txBox="1"/>
            <p:nvPr/>
          </p:nvSpPr>
          <p:spPr>
            <a:xfrm>
              <a:off x="-129363" y="1595127"/>
              <a:ext cx="594808" cy="516686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Disease Descriptions 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C10669C-017A-2B80-097C-81E2C44B1D41}"/>
                </a:ext>
              </a:extLst>
            </p:cNvPr>
            <p:cNvSpPr/>
            <p:nvPr/>
          </p:nvSpPr>
          <p:spPr>
            <a:xfrm>
              <a:off x="1597779" y="517072"/>
              <a:ext cx="678175" cy="40821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Vision Encoder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F122CEA-8DAF-0A60-FA6C-5986BD84DE21}"/>
                </a:ext>
              </a:extLst>
            </p:cNvPr>
            <p:cNvCxnSpPr>
              <a:cxnSpLocks/>
              <a:stCxn id="42" idx="3"/>
              <a:endCxn id="46" idx="1"/>
            </p:cNvCxnSpPr>
            <p:nvPr/>
          </p:nvCxnSpPr>
          <p:spPr>
            <a:xfrm>
              <a:off x="481326" y="721179"/>
              <a:ext cx="1116453" cy="1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 Box 1">
              <a:extLst>
                <a:ext uri="{FF2B5EF4-FFF2-40B4-BE49-F238E27FC236}">
                  <a16:creationId xmlns:a16="http://schemas.microsoft.com/office/drawing/2014/main" id="{125BBBF2-DB67-BF1E-277A-BA4F70D68E01}"/>
                </a:ext>
              </a:extLst>
            </p:cNvPr>
            <p:cNvSpPr txBox="1"/>
            <p:nvPr/>
          </p:nvSpPr>
          <p:spPr>
            <a:xfrm>
              <a:off x="707995" y="644867"/>
              <a:ext cx="729124" cy="25657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Preprocessing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8ED717F-0E5E-485E-CEB5-191B12482FF9}"/>
                </a:ext>
              </a:extLst>
            </p:cNvPr>
            <p:cNvSpPr/>
            <p:nvPr/>
          </p:nvSpPr>
          <p:spPr>
            <a:xfrm>
              <a:off x="4278923" y="525144"/>
              <a:ext cx="797952" cy="3913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Image Embedding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F97537F-BC82-4B46-EBD2-67BB7044A32E}"/>
                </a:ext>
              </a:extLst>
            </p:cNvPr>
            <p:cNvSpPr/>
            <p:nvPr/>
          </p:nvSpPr>
          <p:spPr>
            <a:xfrm>
              <a:off x="712437" y="1649556"/>
              <a:ext cx="663294" cy="40767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Tokenizer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23C553E-36E6-B8F6-5A5C-A3EE99AB44D6}"/>
                </a:ext>
              </a:extLst>
            </p:cNvPr>
            <p:cNvCxnSpPr>
              <a:cxnSpLocks/>
              <a:stCxn id="45" idx="3"/>
              <a:endCxn id="51" idx="1"/>
            </p:cNvCxnSpPr>
            <p:nvPr/>
          </p:nvCxnSpPr>
          <p:spPr>
            <a:xfrm flipV="1">
              <a:off x="465445" y="1853391"/>
              <a:ext cx="246992" cy="79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990D78D-437B-65CC-44F6-A4EB024198AD}"/>
                </a:ext>
              </a:extLst>
            </p:cNvPr>
            <p:cNvSpPr/>
            <p:nvPr/>
          </p:nvSpPr>
          <p:spPr>
            <a:xfrm>
              <a:off x="1540660" y="1649556"/>
              <a:ext cx="750728" cy="40767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Encoder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47DB1D5-4D46-31A6-D718-691B1E1B5F01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>
            <a:xfrm>
              <a:off x="1375731" y="1853391"/>
              <a:ext cx="164929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AFA1AEA-8AAE-6D6B-D5A7-526471D03519}"/>
                </a:ext>
              </a:extLst>
            </p:cNvPr>
            <p:cNvSpPr/>
            <p:nvPr/>
          </p:nvSpPr>
          <p:spPr>
            <a:xfrm>
              <a:off x="4282362" y="1660442"/>
              <a:ext cx="808838" cy="3911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Embedding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6CB39E5-DD7E-10E4-D8FB-E7DC220C73A2}"/>
                </a:ext>
              </a:extLst>
            </p:cNvPr>
            <p:cNvCxnSpPr>
              <a:cxnSpLocks/>
              <a:stCxn id="53" idx="3"/>
              <a:endCxn id="33" idx="1"/>
            </p:cNvCxnSpPr>
            <p:nvPr/>
          </p:nvCxnSpPr>
          <p:spPr>
            <a:xfrm>
              <a:off x="2291388" y="1853391"/>
              <a:ext cx="182557" cy="8316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88DA156F-6F06-D681-14E1-521F20C8810D}"/>
                </a:ext>
              </a:extLst>
            </p:cNvPr>
            <p:cNvSpPr/>
            <p:nvPr/>
          </p:nvSpPr>
          <p:spPr>
            <a:xfrm>
              <a:off x="5257306" y="1083128"/>
              <a:ext cx="732608" cy="402772"/>
            </a:xfrm>
            <a:prstGeom prst="round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Similarity Calculation</a:t>
              </a: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5EAB90AD-A3FB-7281-DB04-5749697F89FA}"/>
                </a:ext>
              </a:extLst>
            </p:cNvPr>
            <p:cNvCxnSpPr>
              <a:cxnSpLocks/>
              <a:stCxn id="49" idx="3"/>
              <a:endCxn id="57" idx="0"/>
            </p:cNvCxnSpPr>
            <p:nvPr/>
          </p:nvCxnSpPr>
          <p:spPr>
            <a:xfrm>
              <a:off x="5076875" y="720815"/>
              <a:ext cx="546735" cy="362313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268EA5B8-F43A-7306-11F8-CADF05145700}"/>
                </a:ext>
              </a:extLst>
            </p:cNvPr>
            <p:cNvCxnSpPr>
              <a:cxnSpLocks/>
              <a:stCxn id="55" idx="3"/>
              <a:endCxn id="57" idx="2"/>
            </p:cNvCxnSpPr>
            <p:nvPr/>
          </p:nvCxnSpPr>
          <p:spPr>
            <a:xfrm flipV="1">
              <a:off x="5091200" y="1485900"/>
              <a:ext cx="532410" cy="370122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 Box 2">
              <a:extLst>
                <a:ext uri="{FF2B5EF4-FFF2-40B4-BE49-F238E27FC236}">
                  <a16:creationId xmlns:a16="http://schemas.microsoft.com/office/drawing/2014/main" id="{228CA0F0-FB1A-9F75-A22C-60C757913D3F}"/>
                </a:ext>
              </a:extLst>
            </p:cNvPr>
            <p:cNvSpPr txBox="1"/>
            <p:nvPr/>
          </p:nvSpPr>
          <p:spPr>
            <a:xfrm>
              <a:off x="5257306" y="92914"/>
              <a:ext cx="604610" cy="27178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Outputs</a:t>
              </a:r>
            </a:p>
          </p:txBody>
        </p:sp>
      </p:grpSp>
      <p:sp>
        <p:nvSpPr>
          <p:cNvPr id="65" name="Freeform 5">
            <a:extLst>
              <a:ext uri="{FF2B5EF4-FFF2-40B4-BE49-F238E27FC236}">
                <a16:creationId xmlns:a16="http://schemas.microsoft.com/office/drawing/2014/main" id="{F0667067-3E9B-7334-2996-8A1E525B9282}"/>
              </a:ext>
            </a:extLst>
          </p:cNvPr>
          <p:cNvSpPr/>
          <p:nvPr/>
        </p:nvSpPr>
        <p:spPr>
          <a:xfrm>
            <a:off x="603811" y="9521483"/>
            <a:ext cx="1878686" cy="469671"/>
          </a:xfrm>
          <a:custGeom>
            <a:avLst/>
            <a:gdLst/>
            <a:ahLst/>
            <a:cxnLst/>
            <a:rect l="l" t="t" r="r" b="b"/>
            <a:pathLst>
              <a:path w="1878686" h="469671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101D90-5AA3-C69C-29D6-E65936CE4434}"/>
              </a:ext>
            </a:extLst>
          </p:cNvPr>
          <p:cNvSpPr/>
          <p:nvPr/>
        </p:nvSpPr>
        <p:spPr>
          <a:xfrm>
            <a:off x="10966349" y="371818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ACF6A-D756-C76A-79A4-273AFCECC25E}"/>
              </a:ext>
            </a:extLst>
          </p:cNvPr>
          <p:cNvSpPr/>
          <p:nvPr/>
        </p:nvSpPr>
        <p:spPr>
          <a:xfrm>
            <a:off x="11118749" y="689542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E3D985-5F5B-91B3-42AC-E9BFC9E0E899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12725400" y="4289764"/>
            <a:ext cx="393225" cy="258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24E503-F91A-C38A-C16F-DB3A36D76E9C}"/>
              </a:ext>
            </a:extLst>
          </p:cNvPr>
          <p:cNvCxnSpPr>
            <a:cxnSpLocks/>
            <a:stCxn id="16" idx="3"/>
            <a:endCxn id="55" idx="1"/>
          </p:cNvCxnSpPr>
          <p:nvPr/>
        </p:nvCxnSpPr>
        <p:spPr>
          <a:xfrm>
            <a:off x="12877800" y="7467262"/>
            <a:ext cx="249962" cy="7209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B685C6F-EEA0-F3A1-75D5-4C582F448D28}"/>
              </a:ext>
            </a:extLst>
          </p:cNvPr>
          <p:cNvSpPr/>
          <p:nvPr/>
        </p:nvSpPr>
        <p:spPr>
          <a:xfrm>
            <a:off x="8557022" y="3740829"/>
            <a:ext cx="1933057" cy="1097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Image Embedding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A65D78-638E-31C6-C13C-A96E388D796C}"/>
              </a:ext>
            </a:extLst>
          </p:cNvPr>
          <p:cNvCxnSpPr>
            <a:stCxn id="46" idx="3"/>
            <a:endCxn id="25" idx="1"/>
          </p:cNvCxnSpPr>
          <p:nvPr/>
        </p:nvCxnSpPr>
        <p:spPr>
          <a:xfrm flipV="1">
            <a:off x="7796816" y="4289764"/>
            <a:ext cx="760206" cy="1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3422291-7B99-D031-EF7D-5B6D27E5E4FA}"/>
              </a:ext>
            </a:extLst>
          </p:cNvPr>
          <p:cNvCxnSpPr>
            <a:stCxn id="25" idx="3"/>
          </p:cNvCxnSpPr>
          <p:nvPr/>
        </p:nvCxnSpPr>
        <p:spPr>
          <a:xfrm>
            <a:off x="10490079" y="4289764"/>
            <a:ext cx="476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ED0254A-A5CB-0CC2-19A0-163AC0ECC3F5}"/>
              </a:ext>
            </a:extLst>
          </p:cNvPr>
          <p:cNvSpPr/>
          <p:nvPr/>
        </p:nvSpPr>
        <p:spPr>
          <a:xfrm>
            <a:off x="8509920" y="6941741"/>
            <a:ext cx="2158080" cy="1097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Text Embedding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FD90C39-7FA1-5A3C-79CB-0A78DFB5875E}"/>
              </a:ext>
            </a:extLst>
          </p:cNvPr>
          <p:cNvCxnSpPr>
            <a:cxnSpLocks/>
            <a:stCxn id="33" idx="3"/>
            <a:endCxn id="16" idx="1"/>
          </p:cNvCxnSpPr>
          <p:nvPr/>
        </p:nvCxnSpPr>
        <p:spPr>
          <a:xfrm flipV="1">
            <a:off x="10668000" y="7467262"/>
            <a:ext cx="450749" cy="23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343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D3239-37EE-B14F-77A7-88A17F1B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592E4A4-AC58-4F5F-8344-FCE68CFC61F7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857FE3F-B76D-F04D-4E71-F2BD8C2A58E5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آلية الت</a:t>
            </a:r>
            <a:r>
              <a:rPr lang="ar-SY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دريب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779FC3E-0B2D-2236-446F-5DDDF549F13A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347A4512-AF50-5F88-CFED-547C41FAB72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C91ED454-4421-005F-91CB-82E5C64AF9D6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798E3CBE-79D1-2F8B-295E-B2C41D16301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4E97B4D-E253-0E4B-627C-A8940064429F}"/>
                </a:ext>
              </a:extLst>
            </p:cNvPr>
            <p:cNvSpPr txBox="1"/>
            <p:nvPr/>
          </p:nvSpPr>
          <p:spPr>
            <a:xfrm>
              <a:off x="0" y="437581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24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0F2C6EF8-38BA-5C19-9373-EF0554B0919F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946131-ED72-8532-6E1A-03EB2053E6D6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9A5F653-B2A3-E719-1438-41BE7A73A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584472"/>
              </p:ext>
            </p:extLst>
          </p:nvPr>
        </p:nvGraphicFramePr>
        <p:xfrm>
          <a:off x="1028699" y="3627748"/>
          <a:ext cx="16230600" cy="4572000"/>
        </p:xfrm>
        <a:graphic>
          <a:graphicData uri="http://schemas.openxmlformats.org/drawingml/2006/table">
            <a:tbl>
              <a:tblPr firstRow="1" bandRow="1"/>
              <a:tblGrid>
                <a:gridCol w="4057650">
                  <a:extLst>
                    <a:ext uri="{9D8B030D-6E8A-4147-A177-3AD203B41FA5}">
                      <a16:colId xmlns:a16="http://schemas.microsoft.com/office/drawing/2014/main" val="1783834682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تدريب </a:t>
                      </a:r>
                      <a:r>
                        <a:rPr lang="en-US" sz="4400" dirty="0"/>
                        <a:t>BERT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تدريب </a:t>
                      </a:r>
                      <a:r>
                        <a:rPr lang="en-US" sz="4400" dirty="0"/>
                        <a:t>SWIN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تدريب كامل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9.92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52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15.81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31.68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59.61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59.44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17.52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14C3037C-B7C3-2CFC-49C9-0A4788C15A77}"/>
              </a:ext>
            </a:extLst>
          </p:cNvPr>
          <p:cNvSpPr/>
          <p:nvPr/>
        </p:nvSpPr>
        <p:spPr>
          <a:xfrm rot="5400000">
            <a:off x="6537633" y="2460153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27244-9B96-6756-F47F-98718F9D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D3BC54-4BC6-6D3A-12F2-D73967325918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B98163-E745-1566-F0C4-EA9EC82144F0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القسم </a:t>
            </a:r>
            <a:r>
              <a:rPr lang="ar-SY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الثاني</a:t>
            </a: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 من التجارب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2BEBEB83-085E-80D3-F25B-93896E4D085A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964D832A-E840-3E67-C05E-BC6F280E4F13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25B76AE9-CF73-825D-C6FB-1A61379B6B7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F867EBD-B5DB-27D9-3633-8138FE92353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BE14040-6A9C-A8AA-60E9-ED1F69C2EF6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25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C92E1ED3-D898-1925-4736-C66C6EF81989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A4778B3-C74B-0514-C885-F53B4194178D}"/>
              </a:ext>
            </a:extLst>
          </p:cNvPr>
          <p:cNvSpPr txBox="1"/>
          <p:nvPr/>
        </p:nvSpPr>
        <p:spPr>
          <a:xfrm>
            <a:off x="3516458" y="3654470"/>
            <a:ext cx="11255082" cy="373467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اختبار تأثير العبارة دلالياً على التدريب</a:t>
            </a:r>
            <a:endParaRPr lang="ar-SY" sz="4180" dirty="0">
              <a:solidFill>
                <a:prstClr val="black"/>
              </a:solidFill>
              <a:latin typeface="Alatsi"/>
              <a:ea typeface="Alatsi"/>
              <a:cs typeface="Alatsi"/>
              <a:sym typeface="Alatsi"/>
            </a:endParaRP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Zero-shot learning </a:t>
            </a: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في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Few-shot learning</a:t>
            </a: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و 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استخدام تابع الخسارة المشار إليه في الدراسة المرجعية 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Category-level loss</a:t>
            </a:r>
            <a:endParaRPr kumimoji="0" lang="ar-SY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A9D04F-333D-11BB-585B-71A9D6F829F2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471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C670D-066C-A8BD-D203-6E4B58A13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45D57EC-C13D-5522-3825-E2296F21FCE0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31F4F17-B501-B40D-FFCB-B983C9AF0927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Zero-shot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C4EEC03-081F-0135-0B72-D981B52CAD76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1CBF66A6-E8B3-E0A5-7D69-F4007BB513AD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CCF74A9A-3341-5D0C-E47A-2789A1D4152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6606F1B6-F9FC-94B1-18FE-786F5DA8EBF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6E8C8B8-6A58-2EA5-7F97-51E8F4EDD711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26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725A71EA-EFEF-F677-937B-EE02708A4E3E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D5D1CA-9EDD-648E-0B84-14CB524448F9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FD790A-30EA-C761-0CCF-F12A4CEB1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076725"/>
              </p:ext>
            </p:extLst>
          </p:nvPr>
        </p:nvGraphicFramePr>
        <p:xfrm>
          <a:off x="1028699" y="3627748"/>
          <a:ext cx="16230600" cy="3810000"/>
        </p:xfrm>
        <a:graphic>
          <a:graphicData uri="http://schemas.openxmlformats.org/drawingml/2006/table">
            <a:tbl>
              <a:tblPr firstRow="1" bandRow="1"/>
              <a:tblGrid>
                <a:gridCol w="4057650">
                  <a:extLst>
                    <a:ext uri="{9D8B030D-6E8A-4147-A177-3AD203B41FA5}">
                      <a16:colId xmlns:a16="http://schemas.microsoft.com/office/drawing/2014/main" val="1783834682"/>
                    </a:ext>
                  </a:extLst>
                </a:gridCol>
                <a:gridCol w="4438651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3676649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عبارة من 10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3200" dirty="0"/>
                        <a:t>عبارة بسيطة تحوي معنى وصف</a:t>
                      </a:r>
                      <a:endParaRPr lang="en-US" sz="32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3600" dirty="0"/>
                        <a:t>عبارة تحوي اسم الفئة </a:t>
                      </a:r>
                      <a:endParaRPr lang="en-US" sz="36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0.8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2.92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1.02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30.39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12.27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11.58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59.61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27.8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24.27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17.52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12.91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10.45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DF69DE75-6D5E-83F8-937F-198E7A5EDC39}"/>
              </a:ext>
            </a:extLst>
          </p:cNvPr>
          <p:cNvSpPr/>
          <p:nvPr/>
        </p:nvSpPr>
        <p:spPr>
          <a:xfrm rot="5400000">
            <a:off x="2424113" y="2435558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6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401D-A401-C995-9AF8-332F43AB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E0CF222-8327-1240-DA36-7223499007E3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B7F61DD-63A5-C3F3-A31B-A50210892043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Few-shot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F5C6040-A181-E68A-5677-2F1510A67E65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D1645730-E66A-E1C4-A8C4-0A0835B3AA1F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A8B3BDCB-1C58-4369-6358-0276077AED24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36BECBCB-E1C0-39E5-C3BB-4197AF33067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0DC51BB-841D-C95B-1B80-9BCF643523F1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27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1DAFD2B-BE22-302F-2FB0-51EFDA09B40B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6AD390-B356-5F6A-EB5D-7327963B6113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A6DD75F-CD61-0E96-B576-B50347EE7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38871"/>
              </p:ext>
            </p:extLst>
          </p:nvPr>
        </p:nvGraphicFramePr>
        <p:xfrm>
          <a:off x="3057524" y="3677342"/>
          <a:ext cx="12172950" cy="3810000"/>
        </p:xfrm>
        <a:graphic>
          <a:graphicData uri="http://schemas.openxmlformats.org/drawingml/2006/table">
            <a:tbl>
              <a:tblPr firstRow="1" bandRow="1"/>
              <a:tblGrid>
                <a:gridCol w="4438651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3676649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3200" dirty="0"/>
                        <a:t>عبارة بسيطة تحوي معنى وصف</a:t>
                      </a:r>
                      <a:endParaRPr lang="en-US" sz="32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3600" dirty="0"/>
                        <a:t>عبارة تحوي اسم الفئة </a:t>
                      </a:r>
                      <a:endParaRPr lang="en-US" sz="36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802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B311F-EBC9-4EED-4382-59DEC49C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E5E3B0F-DAB3-FE87-B92C-4DA97FC49FED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9B4B20-8340-CB67-AB69-E95F17783BD7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القسم </a:t>
            </a:r>
            <a:r>
              <a:rPr lang="ar-SY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الثالث</a:t>
            </a: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 من التجارب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D4E172D-6E3D-140E-E8C4-B9AB4245D3C3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1541487C-84D6-2A27-2F2C-F90366C1F84A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22410699-212E-D90E-945B-68FFC202DD66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C5B0AB2E-CA35-9C04-CA7B-49D8A3E01CB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9D2E5D9-464C-6F7C-2944-74562248FF0F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28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AEB7B38B-9504-6611-6384-E438F6B77EA5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65AAE37-E596-AAC0-A3DB-1F9A2D234274}"/>
              </a:ext>
            </a:extLst>
          </p:cNvPr>
          <p:cNvSpPr txBox="1"/>
          <p:nvPr/>
        </p:nvSpPr>
        <p:spPr>
          <a:xfrm>
            <a:off x="3516458" y="3654470"/>
            <a:ext cx="11255082" cy="373467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اختبار تأثير 3 عبارات على التدريب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Zero-shot learning </a:t>
            </a: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في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Few-shot learning</a:t>
            </a: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و 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استخدام تابع الخسارة المشار إليه في الدراسة المرجعية </a:t>
            </a:r>
          </a:p>
          <a:p>
            <a:pPr marL="0" marR="0" lvl="0" indent="0" algn="ctr" defTabSz="914400" rtl="0" eaLnBrk="1" fontAlgn="auto" latinLnBrk="0" hangingPunct="1">
              <a:lnSpc>
                <a:spcPts val="58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Category-level loss</a:t>
            </a:r>
            <a:endParaRPr kumimoji="0" lang="ar-SY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atsi"/>
              <a:ea typeface="Alatsi"/>
              <a:cs typeface="Alatsi"/>
              <a:sym typeface="Alats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BA06C8-357E-2093-38D4-CB40CF4A12C1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142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F391-EFD5-FDC9-8056-3AC0C984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AB9CFEB-824E-C136-26C3-F925D239976A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8D12E7-05B3-74F6-D961-B5BC9644F007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Zero-shot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46D9260-0D7F-331A-07B4-6D9875F754DC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4A105D38-2DB6-3FC3-D517-EB63DBF74FE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B328988A-4823-C766-10BA-4B0502FCEFF2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757F21A7-B898-D9E4-B8AC-9137EA57BE0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21ACA66-7C32-FDA7-1466-B2DAE9BCB90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29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1BB33B2E-4261-671B-1D79-69E47BE4E95A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189EB4-37B7-00EF-40A3-D5CEEDA7EC36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5E49C8F-B05D-5326-89B8-D6F361761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82200"/>
              </p:ext>
            </p:extLst>
          </p:nvPr>
        </p:nvGraphicFramePr>
        <p:xfrm>
          <a:off x="2553980" y="3980059"/>
          <a:ext cx="13676620" cy="4572000"/>
        </p:xfrm>
        <a:graphic>
          <a:graphicData uri="http://schemas.openxmlformats.org/drawingml/2006/table">
            <a:tbl>
              <a:tblPr firstRow="1" bandRow="1"/>
              <a:tblGrid>
                <a:gridCol w="4706172">
                  <a:extLst>
                    <a:ext uri="{9D8B030D-6E8A-4147-A177-3AD203B41FA5}">
                      <a16:colId xmlns:a16="http://schemas.microsoft.com/office/drawing/2014/main" val="1783834682"/>
                    </a:ext>
                  </a:extLst>
                </a:gridCol>
                <a:gridCol w="4817504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4152944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3 عبارات من 10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عبارة من 10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0.8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42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32.23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30.39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62.64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59.61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17.52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A67EB6DB-C970-1AC9-6E1C-1E3D3F0D422B}"/>
              </a:ext>
            </a:extLst>
          </p:cNvPr>
          <p:cNvSpPr/>
          <p:nvPr/>
        </p:nvSpPr>
        <p:spPr>
          <a:xfrm rot="5400000">
            <a:off x="4937433" y="2720667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8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8CF64-4094-951A-D679-5638883D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AF0168F-FAD3-F05B-D2EF-A997CFABE514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BD4DD33-F4AB-C559-3060-817AA36A583B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Few-shot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4C9764D-41C9-6D7B-8D7D-B41429D0D8E1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17447555-1108-50E0-45A2-B3AE9A51E54A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EC755453-60C8-59DD-8CD4-CEC234B26AC7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3CD1DD6C-00FE-FBA4-1B6A-F708D904AF0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6EB7040-8C85-16BF-7241-4E3F9CC18FAB}"/>
                </a:ext>
              </a:extLst>
            </p:cNvPr>
            <p:cNvSpPr txBox="1"/>
            <p:nvPr/>
          </p:nvSpPr>
          <p:spPr>
            <a:xfrm>
              <a:off x="0" y="437581"/>
              <a:ext cx="2083482" cy="1246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30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12F9E4AD-8D69-EC1D-C980-31F5D2CA46A3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D1134C-6A25-78DC-F842-78B05EA7F722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DBD0699-844C-A2C0-D4A9-BA93B884B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133844"/>
              </p:ext>
            </p:extLst>
          </p:nvPr>
        </p:nvGraphicFramePr>
        <p:xfrm>
          <a:off x="5231753" y="3808717"/>
          <a:ext cx="8496301" cy="4572000"/>
        </p:xfrm>
        <a:graphic>
          <a:graphicData uri="http://schemas.openxmlformats.org/drawingml/2006/table">
            <a:tbl>
              <a:tblPr firstRow="1" bandRow="1"/>
              <a:tblGrid>
                <a:gridCol w="4438651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3200" dirty="0"/>
                        <a:t>3 عبارات من 10</a:t>
                      </a:r>
                      <a:endParaRPr lang="en-US" sz="32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1.59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01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265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CDB91-20E9-0917-289E-BC549524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6F8CC62-5BDE-8D03-C1B0-8838841C5E40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2F7AA8D-F7FA-4EFC-D1E9-2EF1EC828304}"/>
              </a:ext>
            </a:extLst>
          </p:cNvPr>
          <p:cNvSpPr txBox="1"/>
          <p:nvPr/>
        </p:nvSpPr>
        <p:spPr>
          <a:xfrm>
            <a:off x="2553980" y="866775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التشابه بين الجمل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AAD52E7D-BADF-24E2-093E-7CF9560996DD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877E0AD-37D5-1A00-B117-19CE3DF4C21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F3B8467-88E1-F908-987A-78B7DE6E7D7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1904B64-4BBB-D84F-E9BE-0AB1C80E988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56BF875-C51F-3826-1DA0-2BE99FE7F110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31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E5CFD8D5-6001-94AC-819D-A5FC7F3979B4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78FF9736-FA77-2BAF-6CD2-7A106D2BB7FE}"/>
              </a:ext>
            </a:extLst>
          </p:cNvPr>
          <p:cNvSpPr txBox="1"/>
          <p:nvPr/>
        </p:nvSpPr>
        <p:spPr>
          <a:xfrm>
            <a:off x="5124481" y="3707094"/>
            <a:ext cx="7885419" cy="1284006"/>
          </a:xfrm>
          <a:prstGeom prst="rect">
            <a:avLst/>
          </a:prstGeom>
          <a:ln>
            <a:solidFill>
              <a:srgbClr val="EC2099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algn="ctr" rtl="0" eaLnBrk="1" latinLnBrk="0" hangingPunct="1">
              <a:lnSpc>
                <a:spcPct val="200000"/>
              </a:lnSpc>
              <a:buNone/>
            </a:pPr>
            <a:r>
              <a:rPr lang="en-US" sz="4000" kern="1200" dirty="0">
                <a:solidFill>
                  <a:schemeClr val="tx1"/>
                </a:solidFill>
                <a:latin typeface="Droid Arabic Naskh Bold" panose="020B0604020202020204" charset="0"/>
                <a:ea typeface="+mn-ea"/>
                <a:cs typeface="Droid Arabic Naskh Bold" panose="020B0604020202020204" charset="0"/>
              </a:rPr>
              <a:t>S-</a:t>
            </a:r>
            <a:r>
              <a:rPr lang="en-US" sz="4000" kern="1200" dirty="0" err="1">
                <a:solidFill>
                  <a:schemeClr val="tx1"/>
                </a:solidFill>
                <a:latin typeface="Droid Arabic Naskh Bold" panose="020B0604020202020204" charset="0"/>
                <a:ea typeface="+mn-ea"/>
                <a:cs typeface="Droid Arabic Naskh Bold" panose="020B0604020202020204" charset="0"/>
              </a:rPr>
              <a:t>pubMedBert</a:t>
            </a:r>
            <a:r>
              <a:rPr lang="en-US" sz="4000" kern="1200" dirty="0">
                <a:solidFill>
                  <a:schemeClr val="tx1"/>
                </a:solidFill>
                <a:latin typeface="Droid Arabic Naskh Bold" panose="020B0604020202020204" charset="0"/>
                <a:ea typeface="+mn-ea"/>
                <a:cs typeface="Droid Arabic Naskh Bold" panose="020B0604020202020204" charset="0"/>
              </a:rPr>
              <a:t>-MS-MACRO </a:t>
            </a:r>
          </a:p>
          <a:p>
            <a:pPr marL="0" algn="ctr" rtl="0" eaLnBrk="1" latinLnBrk="0" hangingPunct="1">
              <a:lnSpc>
                <a:spcPct val="200000"/>
              </a:lnSpc>
              <a:buNone/>
            </a:pPr>
            <a:endParaRPr lang="en-US" sz="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6D923A-FE8C-8356-0D6F-C324FEA0F363}"/>
                  </a:ext>
                </a:extLst>
              </p:cNvPr>
              <p:cNvSpPr txBox="1"/>
              <p:nvPr/>
            </p:nvSpPr>
            <p:spPr>
              <a:xfrm>
                <a:off x="3267970" y="6767087"/>
                <a:ext cx="11598442" cy="891013"/>
              </a:xfrm>
              <a:prstGeom prst="rect">
                <a:avLst/>
              </a:prstGeom>
              <a:noFill/>
              <a:ln>
                <a:solidFill>
                  <a:srgbClr val="EC209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4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𝑛𝑒𝑔</m:t>
                              </m:r>
                            </m:sub>
                          </m:sSub>
                          <m:r>
                            <a:rPr lang="en-US" sz="4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4800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4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4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4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4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800" i="1">
                                          <a:latin typeface="Cambria Math" panose="02040503050406030204" pitchFamily="18" charset="0"/>
                                        </a:rPr>
                                        <m:t>𝑠𝑖𝑚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4800" i="0">
                                      <a:latin typeface="Cambria Math" panose="02040503050406030204" pitchFamily="18" charset="0"/>
                                    </a:rPr>
                                    <m:t>∝</m:t>
                                  </m:r>
                                </m:sup>
                              </m:sSup>
                              <m:r>
                                <a:rPr lang="en-US" sz="4800" i="0">
                                  <a:latin typeface="Cambria Math" panose="02040503050406030204" pitchFamily="18" charset="0"/>
                                </a:rPr>
                                <m:t>,∈</m:t>
                              </m:r>
                            </m:e>
                          </m:d>
                        </m:e>
                      </m:func>
                      <m:r>
                        <a:rPr lang="en-US" sz="48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6D923A-FE8C-8356-0D6F-C324FEA0F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970" y="6767087"/>
                <a:ext cx="11598442" cy="891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EC2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879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DAE0-93DC-7A1A-75CD-69C28578B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D368262-9789-75B3-DAA3-709290979FDD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0598430-C486-B595-EA3D-8E0FCD79803E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Zero-shot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1611DC1-550F-B873-1FD3-D4BEFCEA6AAF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F4DF5035-F135-51D7-8272-4FBF1371E0A4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452D67BB-E60A-789D-01B7-25B2154E7127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4310897-B9AD-1431-85F7-D9B5BCAB08E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3586AFA-E797-14BF-D941-72F1890B09B4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32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E4D9579E-1B5C-CC73-97F5-81B04175A28E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1E4148-3E08-F238-70A0-3178902EFA5C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4AB8834-3B53-89CF-3CC2-AFFD14CE1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72122"/>
              </p:ext>
            </p:extLst>
          </p:nvPr>
        </p:nvGraphicFramePr>
        <p:xfrm>
          <a:off x="1715779" y="4006843"/>
          <a:ext cx="15276821" cy="4206240"/>
        </p:xfrm>
        <a:graphic>
          <a:graphicData uri="http://schemas.openxmlformats.org/drawingml/2006/table">
            <a:tbl>
              <a:tblPr firstRow="1" bandRow="1"/>
              <a:tblGrid>
                <a:gridCol w="3887470">
                  <a:extLst>
                    <a:ext uri="{9D8B030D-6E8A-4147-A177-3AD203B41FA5}">
                      <a16:colId xmlns:a16="http://schemas.microsoft.com/office/drawing/2014/main" val="1783834682"/>
                    </a:ext>
                  </a:extLst>
                </a:gridCol>
                <a:gridCol w="3979434">
                  <a:extLst>
                    <a:ext uri="{9D8B030D-6E8A-4147-A177-3AD203B41FA5}">
                      <a16:colId xmlns:a16="http://schemas.microsoft.com/office/drawing/2014/main" val="243143407"/>
                    </a:ext>
                  </a:extLst>
                </a:gridCol>
                <a:gridCol w="3979434">
                  <a:extLst>
                    <a:ext uri="{9D8B030D-6E8A-4147-A177-3AD203B41FA5}">
                      <a16:colId xmlns:a16="http://schemas.microsoft.com/office/drawing/2014/main" val="32233709"/>
                    </a:ext>
                  </a:extLst>
                </a:gridCol>
                <a:gridCol w="3430483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/>
                        <a:t>3 عبارات من 10</a:t>
                      </a:r>
                      <a:endParaRPr lang="en-US" sz="40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Alpha = 0.8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Alpha = 0.7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0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12.19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42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32.23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31.55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23.63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62.64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60.11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74.34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17.6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15.92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15.3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 err="1"/>
                        <a:t>mAP</a:t>
                      </a:r>
                      <a:endParaRPr lang="en-US" sz="40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E681A471-0178-F8D5-9129-C276C6BCFDC5}"/>
              </a:ext>
            </a:extLst>
          </p:cNvPr>
          <p:cNvSpPr/>
          <p:nvPr/>
        </p:nvSpPr>
        <p:spPr>
          <a:xfrm rot="5400000">
            <a:off x="3261019" y="2879255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1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8E59-34FD-4454-A59C-534DAC3F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94250D2-6CE8-5FF0-5EB0-2BBB8CB6398D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067563B-A330-2691-D8FF-82B1DFE3088A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Few-shot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B0BDC063-2CB8-CB81-B6A4-80D1EE266D6E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74A6DC32-C644-24EF-79D4-146956187D6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2938FBB-BCB3-E160-7D7D-F96B8D6E91D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0A4F4795-6E19-FCFD-EB86-E301D28F273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7E78832-1D2B-239E-A551-8CF0755DE88C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33</a:t>
              </a:r>
              <a:endParaRPr kumimoji="0" lang="en-US" sz="557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F0E3682B-7BDE-5202-C327-206333DAB9EA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36B606-4386-FB09-89FE-24229289B75E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84CEA36-DBC3-6F74-1E57-6E28C455E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008063"/>
              </p:ext>
            </p:extLst>
          </p:nvPr>
        </p:nvGraphicFramePr>
        <p:xfrm>
          <a:off x="1564071" y="3789242"/>
          <a:ext cx="15196705" cy="4572000"/>
        </p:xfrm>
        <a:graphic>
          <a:graphicData uri="http://schemas.openxmlformats.org/drawingml/2006/table">
            <a:tbl>
              <a:tblPr firstRow="1" bandRow="1"/>
              <a:tblGrid>
                <a:gridCol w="3882492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3882492">
                  <a:extLst>
                    <a:ext uri="{9D8B030D-6E8A-4147-A177-3AD203B41FA5}">
                      <a16:colId xmlns:a16="http://schemas.microsoft.com/office/drawing/2014/main" val="4081061156"/>
                    </a:ext>
                  </a:extLst>
                </a:gridCol>
                <a:gridCol w="3316920">
                  <a:extLst>
                    <a:ext uri="{9D8B030D-6E8A-4147-A177-3AD203B41FA5}">
                      <a16:colId xmlns:a16="http://schemas.microsoft.com/office/drawing/2014/main" val="1326598453"/>
                    </a:ext>
                  </a:extLst>
                </a:gridCol>
                <a:gridCol w="4114801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3200" dirty="0"/>
                        <a:t>3 عبارات من 10</a:t>
                      </a:r>
                      <a:endParaRPr lang="en-US" sz="32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200" dirty="0"/>
                        <a:t>Alpha = 0.8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200" dirty="0"/>
                        <a:t>Alpha = 0.7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Y" sz="4400" dirty="0"/>
                        <a:t>1.59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13.89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01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63.7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49.8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79.91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76.5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36.32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2" name="Arrow: Right 1">
            <a:extLst>
              <a:ext uri="{FF2B5EF4-FFF2-40B4-BE49-F238E27FC236}">
                <a16:creationId xmlns:a16="http://schemas.microsoft.com/office/drawing/2014/main" id="{B2A8A182-08C4-28A5-12E6-81C3A07958A4}"/>
              </a:ext>
            </a:extLst>
          </p:cNvPr>
          <p:cNvSpPr/>
          <p:nvPr/>
        </p:nvSpPr>
        <p:spPr>
          <a:xfrm rot="5400000">
            <a:off x="6918633" y="2624884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7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16550-F596-D66E-8F81-A6E2FAA0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1CF6B5B1-37E3-3953-EFED-5567F6563435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677692-996A-3CC5-1C3D-9A94664D933E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499" b="1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Multi-head attention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A2A59D4-F291-C260-0A36-34EC852EDF57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82F397C-6EF4-30B3-7E43-3431A061404C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3546F9A-5A9E-797F-1A12-BAE10E9BABB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2561C1A-5AC1-4D6B-E4F0-8A1B1354EF3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279166D-342D-2ED7-2573-C3B081E8780E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DF423B99-88BD-8754-CD3C-7DA89C661A02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6164C0-0CA7-8481-C863-08656CA5DE7F}"/>
                  </a:ext>
                </a:extLst>
              </p:cNvPr>
              <p:cNvSpPr txBox="1"/>
              <p:nvPr/>
            </p:nvSpPr>
            <p:spPr>
              <a:xfrm>
                <a:off x="7981745" y="4541086"/>
                <a:ext cx="9383322" cy="1897314"/>
              </a:xfrm>
              <a:prstGeom prst="rect">
                <a:avLst/>
              </a:prstGeom>
              <a:noFill/>
              <a:ln>
                <a:solidFill>
                  <a:srgbClr val="EC209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Attention</m:t>
                      </m:r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𝑄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,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𝐾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,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𝑉</m:t>
                          </m:r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softmax</m:t>
                      </m:r>
                      <m:r>
                        <a:rPr lang="en-US" sz="4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 </m:t>
                      </m:r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raditional Arabic" panose="02020603050405020304" pitchFamily="18" charset="-78"/>
                                </a:rPr>
                              </m:ctrlPr>
                            </m:fPr>
                            <m:num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raditional Arabic" panose="02020603050405020304" pitchFamily="18" charset="-78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raditional Arabic" panose="02020603050405020304" pitchFamily="18" charset="-78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raditional Arabic" panose="02020603050405020304" pitchFamily="18" charset="-78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raditional Arabic" panose="02020603050405020304" pitchFamily="18" charset="-78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raditional Arabic" panose="02020603050405020304" pitchFamily="18" charset="-78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4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raditional Arabic" panose="02020603050405020304" pitchFamily="18" charset="-7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raditional Arabic" panose="02020603050405020304" pitchFamily="18" charset="-78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40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raditional Arabic" panose="02020603050405020304" pitchFamily="18" charset="-78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4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𝑉</m:t>
                      </m:r>
                    </m:oMath>
                  </m:oMathPara>
                </a14:m>
                <a:endParaRPr lang="en-US" sz="4000" dirty="0"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6164C0-0CA7-8481-C863-08656CA5D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745" y="4541086"/>
                <a:ext cx="9383322" cy="18973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EC2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D483B02-F8F6-B81D-1F15-73B6A9C3E3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2"/>
          <a:stretch>
            <a:fillRect/>
          </a:stretch>
        </p:blipFill>
        <p:spPr>
          <a:xfrm>
            <a:off x="2503879" y="2668283"/>
            <a:ext cx="5029200" cy="56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72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B41C-C974-D87E-DDCD-B3B6B76C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BD09CAF-F680-CDDE-A4A5-08E6E11688BF}"/>
              </a:ext>
            </a:extLst>
          </p:cNvPr>
          <p:cNvSpPr/>
          <p:nvPr/>
        </p:nvSpPr>
        <p:spPr>
          <a:xfrm>
            <a:off x="13335000" y="76034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0F391D-FA0E-63AD-BE71-0EF90ECC4530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Cross Attention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78B26EE-21B8-FC1A-7A23-E6F98A27D5CE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6D65052C-3521-B445-1787-7924D6431E45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88514D0D-64F3-8E9E-1D50-93FC26DD4B05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99D6656D-0A58-E3A1-26C1-08D0948B080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80D22EA-9AAE-D255-0ECC-32FA7CAA705B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D3862ABA-CE24-0EBA-CF48-54F124D876C7}"/>
              </a:ext>
            </a:extLst>
          </p:cNvPr>
          <p:cNvSpPr/>
          <p:nvPr/>
        </p:nvSpPr>
        <p:spPr>
          <a:xfrm>
            <a:off x="-3542020" y="-56608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35F240-3838-8F05-F2F5-E4D961AC0BAE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Canvas 8">
            <a:extLst>
              <a:ext uri="{FF2B5EF4-FFF2-40B4-BE49-F238E27FC236}">
                <a16:creationId xmlns:a16="http://schemas.microsoft.com/office/drawing/2014/main" id="{AE498108-6123-BF57-5029-18C1D45140B9}"/>
              </a:ext>
            </a:extLst>
          </p:cNvPr>
          <p:cNvGrpSpPr/>
          <p:nvPr/>
        </p:nvGrpSpPr>
        <p:grpSpPr>
          <a:xfrm>
            <a:off x="76200" y="2267591"/>
            <a:ext cx="18135600" cy="7524750"/>
            <a:chOff x="-629854" y="0"/>
            <a:chExt cx="6825695" cy="2682240"/>
          </a:xfrm>
          <a:solidFill>
            <a:schemeClr val="bg1">
              <a:lumMod val="95000"/>
            </a:schemeClr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32074D0-C95E-1BA2-5994-852AAE36DA55}"/>
                </a:ext>
              </a:extLst>
            </p:cNvPr>
            <p:cNvSpPr/>
            <p:nvPr/>
          </p:nvSpPr>
          <p:spPr>
            <a:xfrm>
              <a:off x="-629854" y="0"/>
              <a:ext cx="6825695" cy="2682240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7ACA695-2855-CE65-0963-539A637CCCCA}"/>
                </a:ext>
              </a:extLst>
            </p:cNvPr>
            <p:cNvSpPr/>
            <p:nvPr/>
          </p:nvSpPr>
          <p:spPr>
            <a:xfrm>
              <a:off x="5177984" y="228804"/>
              <a:ext cx="882323" cy="2236470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C3E5CC3-8155-1182-62CE-5940246745EC}"/>
                </a:ext>
              </a:extLst>
            </p:cNvPr>
            <p:cNvSpPr/>
            <p:nvPr/>
          </p:nvSpPr>
          <p:spPr>
            <a:xfrm>
              <a:off x="-443533" y="136071"/>
              <a:ext cx="867496" cy="2237016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41" name="Text Box 402162206">
              <a:extLst>
                <a:ext uri="{FF2B5EF4-FFF2-40B4-BE49-F238E27FC236}">
                  <a16:creationId xmlns:a16="http://schemas.microsoft.com/office/drawing/2014/main" id="{CCBC9BFC-62C0-CA58-61DC-57DA38B50673}"/>
                </a:ext>
              </a:extLst>
            </p:cNvPr>
            <p:cNvSpPr txBox="1"/>
            <p:nvPr/>
          </p:nvSpPr>
          <p:spPr>
            <a:xfrm>
              <a:off x="-344568" y="0"/>
              <a:ext cx="549729" cy="272143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Inputs</a:t>
              </a:r>
            </a:p>
          </p:txBody>
        </p:sp>
        <p:sp>
          <p:nvSpPr>
            <p:cNvPr id="42" name="Frame 41">
              <a:extLst>
                <a:ext uri="{FF2B5EF4-FFF2-40B4-BE49-F238E27FC236}">
                  <a16:creationId xmlns:a16="http://schemas.microsoft.com/office/drawing/2014/main" id="{1ED332BD-6F56-61EF-F1F8-0BEE5320C8ED}"/>
                </a:ext>
              </a:extLst>
            </p:cNvPr>
            <p:cNvSpPr/>
            <p:nvPr/>
          </p:nvSpPr>
          <p:spPr>
            <a:xfrm>
              <a:off x="-321708" y="500743"/>
              <a:ext cx="587829" cy="440871"/>
            </a:xfrm>
            <a:prstGeom prst="frame">
              <a:avLst>
                <a:gd name="adj1" fmla="val 3858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" name="Text Box 1312529907">
              <a:extLst>
                <a:ext uri="{FF2B5EF4-FFF2-40B4-BE49-F238E27FC236}">
                  <a16:creationId xmlns:a16="http://schemas.microsoft.com/office/drawing/2014/main" id="{1E57841C-ACB4-1848-A268-3BB8E5B47BE2}"/>
                </a:ext>
              </a:extLst>
            </p:cNvPr>
            <p:cNvSpPr txBox="1"/>
            <p:nvPr/>
          </p:nvSpPr>
          <p:spPr>
            <a:xfrm>
              <a:off x="-282099" y="544286"/>
              <a:ext cx="506186" cy="364671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MRI image</a:t>
              </a:r>
            </a:p>
          </p:txBody>
        </p:sp>
        <p:sp>
          <p:nvSpPr>
            <p:cNvPr id="44" name="Scroll: Vertical 43">
              <a:extLst>
                <a:ext uri="{FF2B5EF4-FFF2-40B4-BE49-F238E27FC236}">
                  <a16:creationId xmlns:a16="http://schemas.microsoft.com/office/drawing/2014/main" id="{BC37530D-6133-26FB-25A2-A12BA7F5D065}"/>
                </a:ext>
              </a:extLst>
            </p:cNvPr>
            <p:cNvSpPr/>
            <p:nvPr/>
          </p:nvSpPr>
          <p:spPr>
            <a:xfrm>
              <a:off x="-457778" y="1420570"/>
              <a:ext cx="843642" cy="756557"/>
            </a:xfrm>
            <a:prstGeom prst="verticalScroll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" name="Text Box 1">
              <a:extLst>
                <a:ext uri="{FF2B5EF4-FFF2-40B4-BE49-F238E27FC236}">
                  <a16:creationId xmlns:a16="http://schemas.microsoft.com/office/drawing/2014/main" id="{B6E07D07-2945-F2C4-7562-244BEE58693F}"/>
                </a:ext>
              </a:extLst>
            </p:cNvPr>
            <p:cNvSpPr txBox="1"/>
            <p:nvPr/>
          </p:nvSpPr>
          <p:spPr>
            <a:xfrm>
              <a:off x="-343060" y="1595127"/>
              <a:ext cx="594808" cy="516686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  <a:spcAft>
                  <a:spcPts val="800"/>
                </a:spcAft>
              </a:pPr>
              <a:r>
                <a:rPr lang="en-US" dirty="0"/>
                <a:t>Disease Descriptions </a:t>
              </a:r>
              <a:endPara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EA73516-3C53-ACF2-96F2-8BF780B152C8}"/>
                </a:ext>
              </a:extLst>
            </p:cNvPr>
            <p:cNvSpPr/>
            <p:nvPr/>
          </p:nvSpPr>
          <p:spPr>
            <a:xfrm>
              <a:off x="1377464" y="517072"/>
              <a:ext cx="678175" cy="40821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Vision Encoder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C24E262-0BB3-7B2D-83FA-686F037AE66F}"/>
                </a:ext>
              </a:extLst>
            </p:cNvPr>
            <p:cNvCxnSpPr>
              <a:cxnSpLocks/>
              <a:stCxn id="42" idx="3"/>
              <a:endCxn id="46" idx="1"/>
            </p:cNvCxnSpPr>
            <p:nvPr/>
          </p:nvCxnSpPr>
          <p:spPr>
            <a:xfrm>
              <a:off x="266121" y="721179"/>
              <a:ext cx="1111343" cy="1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 Box 1">
              <a:extLst>
                <a:ext uri="{FF2B5EF4-FFF2-40B4-BE49-F238E27FC236}">
                  <a16:creationId xmlns:a16="http://schemas.microsoft.com/office/drawing/2014/main" id="{495C11A2-7E8F-0462-DC67-AD70AAAAFF1E}"/>
                </a:ext>
              </a:extLst>
            </p:cNvPr>
            <p:cNvSpPr txBox="1"/>
            <p:nvPr/>
          </p:nvSpPr>
          <p:spPr>
            <a:xfrm>
              <a:off x="492791" y="644867"/>
              <a:ext cx="729124" cy="25657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Preprocessing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A6CA10F-0FCF-BF4E-0B78-FF1F2199DF14}"/>
                </a:ext>
              </a:extLst>
            </p:cNvPr>
            <p:cNvSpPr/>
            <p:nvPr/>
          </p:nvSpPr>
          <p:spPr>
            <a:xfrm>
              <a:off x="3987528" y="525144"/>
              <a:ext cx="797952" cy="39134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Image Embedding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1956C9F-3F6B-3292-136C-62DC894C37D0}"/>
                </a:ext>
              </a:extLst>
            </p:cNvPr>
            <p:cNvSpPr/>
            <p:nvPr/>
          </p:nvSpPr>
          <p:spPr>
            <a:xfrm>
              <a:off x="497232" y="1649556"/>
              <a:ext cx="663294" cy="40767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Tokenizer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A04BE16-3AC7-2DD4-D507-1773A8D39BDF}"/>
                </a:ext>
              </a:extLst>
            </p:cNvPr>
            <p:cNvCxnSpPr>
              <a:cxnSpLocks/>
              <a:stCxn id="45" idx="3"/>
              <a:endCxn id="51" idx="1"/>
            </p:cNvCxnSpPr>
            <p:nvPr/>
          </p:nvCxnSpPr>
          <p:spPr>
            <a:xfrm flipV="1">
              <a:off x="251748" y="1853391"/>
              <a:ext cx="245484" cy="79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E01D9D5-048E-AE20-F603-46072371B2AD}"/>
                </a:ext>
              </a:extLst>
            </p:cNvPr>
            <p:cNvSpPr/>
            <p:nvPr/>
          </p:nvSpPr>
          <p:spPr>
            <a:xfrm>
              <a:off x="1320345" y="1649556"/>
              <a:ext cx="750728" cy="40767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Encoder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B8792DE1-42AC-085D-E658-A216C4F6AE41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>
            <a:xfrm>
              <a:off x="1160526" y="1853391"/>
              <a:ext cx="159819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41A84CB-85C0-0D00-615C-B13FC18BAE03}"/>
                </a:ext>
              </a:extLst>
            </p:cNvPr>
            <p:cNvSpPr/>
            <p:nvPr/>
          </p:nvSpPr>
          <p:spPr>
            <a:xfrm>
              <a:off x="4073566" y="1660442"/>
              <a:ext cx="808838" cy="3911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Text Embedding</a:t>
              </a:r>
              <a:endPara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992BF22-2F45-A9CA-7B0B-1140FEF55423}"/>
                </a:ext>
              </a:extLst>
            </p:cNvPr>
            <p:cNvCxnSpPr>
              <a:cxnSpLocks/>
              <a:stCxn id="53" idx="3"/>
              <a:endCxn id="33" idx="1"/>
            </p:cNvCxnSpPr>
            <p:nvPr/>
          </p:nvCxnSpPr>
          <p:spPr>
            <a:xfrm>
              <a:off x="2071073" y="1853391"/>
              <a:ext cx="195692" cy="8316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3622F009-4BBE-E987-C6AE-87235675D9AE}"/>
                </a:ext>
              </a:extLst>
            </p:cNvPr>
            <p:cNvSpPr/>
            <p:nvPr/>
          </p:nvSpPr>
          <p:spPr>
            <a:xfrm>
              <a:off x="5257306" y="1083128"/>
              <a:ext cx="732608" cy="402772"/>
            </a:xfrm>
            <a:prstGeom prst="round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Cross Attention</a:t>
              </a: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420F63E9-157A-8A3B-230F-DAEC61D332D7}"/>
                </a:ext>
              </a:extLst>
            </p:cNvPr>
            <p:cNvCxnSpPr>
              <a:cxnSpLocks/>
              <a:stCxn id="49" idx="3"/>
              <a:endCxn id="57" idx="0"/>
            </p:cNvCxnSpPr>
            <p:nvPr/>
          </p:nvCxnSpPr>
          <p:spPr>
            <a:xfrm>
              <a:off x="4785480" y="720815"/>
              <a:ext cx="838130" cy="362313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15E0F28A-1EB3-058B-EE84-D2F7D7009B57}"/>
                </a:ext>
              </a:extLst>
            </p:cNvPr>
            <p:cNvCxnSpPr>
              <a:cxnSpLocks/>
              <a:endCxn id="57" idx="2"/>
            </p:cNvCxnSpPr>
            <p:nvPr/>
          </p:nvCxnSpPr>
          <p:spPr>
            <a:xfrm flipV="1">
              <a:off x="4882405" y="1485900"/>
              <a:ext cx="741205" cy="228804"/>
            </a:xfrm>
            <a:prstGeom prst="bentConnector2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 Box 2">
              <a:extLst>
                <a:ext uri="{FF2B5EF4-FFF2-40B4-BE49-F238E27FC236}">
                  <a16:creationId xmlns:a16="http://schemas.microsoft.com/office/drawing/2014/main" id="{829E9828-B3ED-DF0D-5C67-4C48170B0C5A}"/>
                </a:ext>
              </a:extLst>
            </p:cNvPr>
            <p:cNvSpPr txBox="1"/>
            <p:nvPr/>
          </p:nvSpPr>
          <p:spPr>
            <a:xfrm>
              <a:off x="5257306" y="92914"/>
              <a:ext cx="604610" cy="27178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2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Outputs</a:t>
              </a:r>
            </a:p>
          </p:txBody>
        </p:sp>
      </p:grpSp>
      <p:sp>
        <p:nvSpPr>
          <p:cNvPr id="65" name="Freeform 5">
            <a:extLst>
              <a:ext uri="{FF2B5EF4-FFF2-40B4-BE49-F238E27FC236}">
                <a16:creationId xmlns:a16="http://schemas.microsoft.com/office/drawing/2014/main" id="{30E49E36-F11C-DED3-0AF6-411FF9A1E4C7}"/>
              </a:ext>
            </a:extLst>
          </p:cNvPr>
          <p:cNvSpPr/>
          <p:nvPr/>
        </p:nvSpPr>
        <p:spPr>
          <a:xfrm>
            <a:off x="603811" y="9521483"/>
            <a:ext cx="1878686" cy="469671"/>
          </a:xfrm>
          <a:custGeom>
            <a:avLst/>
            <a:gdLst/>
            <a:ahLst/>
            <a:cxnLst/>
            <a:rect l="l" t="t" r="r" b="b"/>
            <a:pathLst>
              <a:path w="1878686" h="469671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44D0D-2E2B-5591-2173-8C0DE2C9BB74}"/>
              </a:ext>
            </a:extLst>
          </p:cNvPr>
          <p:cNvSpPr/>
          <p:nvPr/>
        </p:nvSpPr>
        <p:spPr>
          <a:xfrm>
            <a:off x="10228829" y="371818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AAE4B1-5EFF-6C84-7EAE-2C9B936D4629}"/>
              </a:ext>
            </a:extLst>
          </p:cNvPr>
          <p:cNvSpPr/>
          <p:nvPr/>
        </p:nvSpPr>
        <p:spPr>
          <a:xfrm>
            <a:off x="10381229" y="6895424"/>
            <a:ext cx="1759051" cy="1143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Projection head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E74901-A9EB-CB63-B33B-0DAB38D7BB84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11987880" y="4289764"/>
            <a:ext cx="356520" cy="258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9A1410-92C2-5BF7-FEB7-114FC60D26AF}"/>
              </a:ext>
            </a:extLst>
          </p:cNvPr>
          <p:cNvCxnSpPr>
            <a:cxnSpLocks/>
            <a:stCxn id="16" idx="3"/>
            <a:endCxn id="55" idx="1"/>
          </p:cNvCxnSpPr>
          <p:nvPr/>
        </p:nvCxnSpPr>
        <p:spPr>
          <a:xfrm>
            <a:off x="12140280" y="7467262"/>
            <a:ext cx="432720" cy="7209"/>
          </a:xfrm>
          <a:prstGeom prst="straightConnector1">
            <a:avLst/>
          </a:prstGeom>
          <a:solidFill>
            <a:schemeClr val="bg1">
              <a:lumMod val="95000"/>
            </a:schemeClr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AC0930E-F30A-CE8A-224B-57105AAC0EFA}"/>
              </a:ext>
            </a:extLst>
          </p:cNvPr>
          <p:cNvSpPr/>
          <p:nvPr/>
        </p:nvSpPr>
        <p:spPr>
          <a:xfrm>
            <a:off x="7819502" y="3740829"/>
            <a:ext cx="1933057" cy="10978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Image Embedding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1400E8-F417-562A-9140-C326A23D02BD}"/>
              </a:ext>
            </a:extLst>
          </p:cNvPr>
          <p:cNvCxnSpPr>
            <a:stCxn id="46" idx="3"/>
            <a:endCxn id="25" idx="1"/>
          </p:cNvCxnSpPr>
          <p:nvPr/>
        </p:nvCxnSpPr>
        <p:spPr>
          <a:xfrm flipV="1">
            <a:off x="7211448" y="4289764"/>
            <a:ext cx="608054" cy="1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87CFB12-BF0E-9A46-18E3-90CF1C16E3E5}"/>
              </a:ext>
            </a:extLst>
          </p:cNvPr>
          <p:cNvCxnSpPr>
            <a:stCxn id="25" idx="3"/>
          </p:cNvCxnSpPr>
          <p:nvPr/>
        </p:nvCxnSpPr>
        <p:spPr>
          <a:xfrm>
            <a:off x="9752559" y="4289764"/>
            <a:ext cx="476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03E6405-CFCA-E68B-BB93-A686506E0EE2}"/>
              </a:ext>
            </a:extLst>
          </p:cNvPr>
          <p:cNvSpPr/>
          <p:nvPr/>
        </p:nvSpPr>
        <p:spPr>
          <a:xfrm>
            <a:off x="7772400" y="6941741"/>
            <a:ext cx="2158080" cy="1097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Text Embedding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CB28537-91AD-B5A2-5D10-4F5E78A7B522}"/>
              </a:ext>
            </a:extLst>
          </p:cNvPr>
          <p:cNvCxnSpPr>
            <a:cxnSpLocks/>
            <a:stCxn id="33" idx="3"/>
            <a:endCxn id="16" idx="1"/>
          </p:cNvCxnSpPr>
          <p:nvPr/>
        </p:nvCxnSpPr>
        <p:spPr>
          <a:xfrm flipV="1">
            <a:off x="9930480" y="7467262"/>
            <a:ext cx="450749" cy="23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376022-191A-5A5D-2EE0-254FC68A546A}"/>
              </a:ext>
            </a:extLst>
          </p:cNvPr>
          <p:cNvSpPr txBox="1"/>
          <p:nvPr/>
        </p:nvSpPr>
        <p:spPr>
          <a:xfrm>
            <a:off x="14859000" y="3771900"/>
            <a:ext cx="4252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Q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1A86C4E-3446-66FB-0AEB-5F7BE6CB33E5}"/>
              </a:ext>
            </a:extLst>
          </p:cNvPr>
          <p:cNvCxnSpPr>
            <a:cxnSpLocks/>
            <a:stCxn id="55" idx="3"/>
            <a:endCxn id="57" idx="2"/>
          </p:cNvCxnSpPr>
          <p:nvPr/>
        </p:nvCxnSpPr>
        <p:spPr>
          <a:xfrm flipV="1">
            <a:off x="14722050" y="6436132"/>
            <a:ext cx="1969355" cy="10383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446FA3C9-E78B-7769-C0A2-26715E09BF24}"/>
              </a:ext>
            </a:extLst>
          </p:cNvPr>
          <p:cNvSpPr txBox="1"/>
          <p:nvPr/>
        </p:nvSpPr>
        <p:spPr>
          <a:xfrm>
            <a:off x="14849260" y="6524020"/>
            <a:ext cx="4197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K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4C74FB5-36CD-6058-EFED-6EFA7AB17FA5}"/>
              </a:ext>
            </a:extLst>
          </p:cNvPr>
          <p:cNvSpPr txBox="1"/>
          <p:nvPr/>
        </p:nvSpPr>
        <p:spPr>
          <a:xfrm>
            <a:off x="14960390" y="7606550"/>
            <a:ext cx="4197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312930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D76A4-6BDA-B890-7953-EBA9EB35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E95F6AD-0C9C-347F-2244-970FA30BB27F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560E01D-0430-BBCA-98E6-202E9F28058B}"/>
              </a:ext>
            </a:extLst>
          </p:cNvPr>
          <p:cNvSpPr txBox="1"/>
          <p:nvPr/>
        </p:nvSpPr>
        <p:spPr>
          <a:xfrm>
            <a:off x="2553980" y="647700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تابع الخسارة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A788E40-87F8-9B10-CE56-EA2656DD0258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7DC3376-40FF-C491-6AE3-E3FB2F4673BC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63B6741-96A1-C6D1-AC6D-37CB45DD9B1D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B3FF4D8-BF52-FF40-18A4-1F62DE624E7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697499E-B417-89FA-923D-EED654A6F0F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36</a:t>
              </a: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B7E9A46F-3162-1811-58EB-A437E069222A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DDAD80-1344-7911-F741-F7C2C3604DFD}"/>
                  </a:ext>
                </a:extLst>
              </p:cNvPr>
              <p:cNvSpPr txBox="1"/>
              <p:nvPr/>
            </p:nvSpPr>
            <p:spPr>
              <a:xfrm>
                <a:off x="1643371" y="3036365"/>
                <a:ext cx="11598442" cy="887935"/>
              </a:xfrm>
              <a:prstGeom prst="rect">
                <a:avLst/>
              </a:prstGeom>
              <a:noFill/>
              <a:ln>
                <a:solidFill>
                  <a:srgbClr val="EC209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4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sub>
                          </m:sSub>
                          <m:r>
                            <a:rPr lang="en-US" sz="4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4800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4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4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4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4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800" i="1">
                                          <a:latin typeface="Cambria Math" panose="02040503050406030204" pitchFamily="18" charset="0"/>
                                        </a:rPr>
                                        <m:t>𝑠𝑖𝑚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4800" i="0">
                                      <a:latin typeface="Cambria Math" panose="02040503050406030204" pitchFamily="18" charset="0"/>
                                    </a:rPr>
                                    <m:t>∝</m:t>
                                  </m:r>
                                </m:sup>
                              </m:sSup>
                              <m:r>
                                <a:rPr lang="en-US" sz="4800" i="0">
                                  <a:latin typeface="Cambria Math" panose="02040503050406030204" pitchFamily="18" charset="0"/>
                                </a:rPr>
                                <m:t>,∈</m:t>
                              </m:r>
                            </m:e>
                          </m:d>
                        </m:e>
                      </m:func>
                      <m:r>
                        <a:rPr lang="en-US" sz="48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DDAD80-1344-7911-F741-F7C2C3604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371" y="3036365"/>
                <a:ext cx="11598442" cy="8879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EC2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ACA4A92-1496-23A8-B75D-299774E9DF5E}"/>
              </a:ext>
            </a:extLst>
          </p:cNvPr>
          <p:cNvSpPr txBox="1"/>
          <p:nvPr/>
        </p:nvSpPr>
        <p:spPr>
          <a:xfrm>
            <a:off x="13900832" y="3146654"/>
            <a:ext cx="2703819" cy="584775"/>
          </a:xfrm>
          <a:prstGeom prst="rect">
            <a:avLst/>
          </a:prstGeom>
          <a:solidFill>
            <a:srgbClr val="FFCCFF"/>
          </a:solidFill>
          <a:ln>
            <a:solidFill>
              <a:srgbClr val="EC2099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Alpha = 0.7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D8B723-C655-69F8-43C2-E7133F9B6F62}"/>
                  </a:ext>
                </a:extLst>
              </p:cNvPr>
              <p:cNvSpPr txBox="1"/>
              <p:nvPr/>
            </p:nvSpPr>
            <p:spPr>
              <a:xfrm>
                <a:off x="1767038" y="7102918"/>
                <a:ext cx="11598442" cy="943207"/>
              </a:xfrm>
              <a:prstGeom prst="rect">
                <a:avLst/>
              </a:prstGeom>
              <a:noFill/>
              <a:ln>
                <a:solidFill>
                  <a:srgbClr val="EC209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>
                          <a:latin typeface="Cambria Math" panose="02040503050406030204" pitchFamily="18" charset="0"/>
                        </a:rPr>
                        <m:t>𝑎𝑚𝑏</m:t>
                      </m:r>
                      <m:r>
                        <m:rPr>
                          <m:lit/>
                        </m:rPr>
                        <a:rPr lang="en-US" sz="480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𝑝𝑎𝑖𝑟</m:t>
                      </m:r>
                      <m:r>
                        <a:rPr lang="en-US" sz="48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4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4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4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4800">
                              <a:latin typeface="Cambria Math" panose="02040503050406030204" pitchFamily="18" charset="0"/>
                            </a:rPr>
                            <m:t>5</m:t>
                          </m:r>
                        </m:fName>
                        <m:e>
                          <m:d>
                            <m:dPr>
                              <m:ctrlPr>
                                <a:rPr lang="en-US" sz="4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4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4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D8B723-C655-69F8-43C2-E7133F9B6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038" y="7102918"/>
                <a:ext cx="11598442" cy="943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EC2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46ACFF-DCCB-A20F-6D89-2BFCE47EF557}"/>
                  </a:ext>
                </a:extLst>
              </p:cNvPr>
              <p:cNvSpPr txBox="1"/>
              <p:nvPr/>
            </p:nvSpPr>
            <p:spPr>
              <a:xfrm>
                <a:off x="1779306" y="8232980"/>
                <a:ext cx="11598442" cy="1101520"/>
              </a:xfrm>
              <a:prstGeom prst="rect">
                <a:avLst/>
              </a:prstGeom>
              <a:noFill/>
              <a:ln>
                <a:solidFill>
                  <a:srgbClr val="EC209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457200" marR="0" algn="just" rtl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=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1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+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𝛾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.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𝑎𝑚</m:t>
                      </m:r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𝑏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𝑝𝑎𝑖𝑟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. </m:t>
                      </m:r>
                      <m:sSup>
                        <m:sSupPr>
                          <m:ctrlPr>
                            <a:rPr lang="en-US" sz="4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raditional Arabic" panose="02020603050405020304" pitchFamily="18" charset="-78"/>
                                </a:rPr>
                              </m:ctrlPr>
                            </m:d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raditional Arabic" panose="02020603050405020304" pitchFamily="18" charset="-78"/>
                                </a:rPr>
                                <m:t>𝑠𝑖𝑚</m:t>
                              </m:r>
                            </m:e>
                          </m:d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raditional Arabic" panose="02020603050405020304" pitchFamily="18" charset="-78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US" sz="5400" dirty="0"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46ACFF-DCCB-A20F-6D89-2BFCE47EF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06" y="8232980"/>
                <a:ext cx="11598442" cy="1101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EC2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2EAD69C-5915-1914-D5D5-4A95D896969C}"/>
              </a:ext>
            </a:extLst>
          </p:cNvPr>
          <p:cNvSpPr txBox="1"/>
          <p:nvPr/>
        </p:nvSpPr>
        <p:spPr>
          <a:xfrm>
            <a:off x="13996791" y="7648167"/>
            <a:ext cx="2703819" cy="1077218"/>
          </a:xfrm>
          <a:prstGeom prst="rect">
            <a:avLst/>
          </a:prstGeom>
          <a:solidFill>
            <a:srgbClr val="FFCCFF"/>
          </a:solidFill>
          <a:ln>
            <a:solidFill>
              <a:srgbClr val="EC2099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Gamma = 1</a:t>
            </a:r>
          </a:p>
          <a:p>
            <a:r>
              <a:rPr lang="en-US" sz="3200" dirty="0"/>
              <a:t>Beta = 1.5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CE9B99-337B-7952-D818-EF8A4B493C1D}"/>
                  </a:ext>
                </a:extLst>
              </p:cNvPr>
              <p:cNvSpPr txBox="1"/>
              <p:nvPr/>
            </p:nvSpPr>
            <p:spPr>
              <a:xfrm>
                <a:off x="2356880" y="5543225"/>
                <a:ext cx="14635720" cy="1360309"/>
              </a:xfrm>
              <a:prstGeom prst="rect">
                <a:avLst/>
              </a:prstGeom>
              <a:noFill/>
              <a:ln>
                <a:solidFill>
                  <a:srgbClr val="EC209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𝑝𝑒𝑛𝑎𝑙𝑡𝑦</m:t>
                    </m:r>
                    <m:r>
                      <a:rPr lang="en-US" sz="4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4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4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acc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4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4800" dirty="0"/>
                  <a:t> 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4800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4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𝑝𝑒𝑛𝑎𝑙𝑡𝑦</m:t>
                        </m:r>
                      </m:e>
                      <m:sub>
                        <m:r>
                          <a:rPr lang="en-US" sz="4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CE9B99-337B-7952-D818-EF8A4B493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880" y="5543225"/>
                <a:ext cx="14635720" cy="13603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EC2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393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DFC4-432E-AEDD-CA72-AAB7F7D67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EC23848-2FC8-2D05-57F4-A8907E19832E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BFB09C0-9855-A0A0-E0A3-AA0A13654304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Zero-shot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2D35E060-C907-5B73-0719-F730C76E7BEC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66A750FB-D7AE-2948-9A08-AC67757E855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D4F3CA07-70F9-A4B5-C0C2-B800011EE632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E295E946-7757-858B-BE2F-D8B2EDD9732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0B560A5-D8E6-31CE-FAEA-6102F037EDEB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Y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3EE5987E-7CEE-4FE3-EF35-7C3B2149A577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9068A0-17C1-C8BC-8CE9-C6E1D6F5BB76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8FF2500-0D07-102F-F9E4-9CC252A2E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751302"/>
              </p:ext>
            </p:extLst>
          </p:nvPr>
        </p:nvGraphicFramePr>
        <p:xfrm>
          <a:off x="3495306" y="3867663"/>
          <a:ext cx="11297387" cy="4206240"/>
        </p:xfrm>
        <a:graphic>
          <a:graphicData uri="http://schemas.openxmlformats.org/drawingml/2006/table">
            <a:tbl>
              <a:tblPr firstRow="1" bandRow="1"/>
              <a:tblGrid>
                <a:gridCol w="3887470">
                  <a:extLst>
                    <a:ext uri="{9D8B030D-6E8A-4147-A177-3AD203B41FA5}">
                      <a16:colId xmlns:a16="http://schemas.microsoft.com/office/drawing/2014/main" val="1783834682"/>
                    </a:ext>
                  </a:extLst>
                </a:gridCol>
                <a:gridCol w="3979434">
                  <a:extLst>
                    <a:ext uri="{9D8B030D-6E8A-4147-A177-3AD203B41FA5}">
                      <a16:colId xmlns:a16="http://schemas.microsoft.com/office/drawing/2014/main" val="243143407"/>
                    </a:ext>
                  </a:extLst>
                </a:gridCol>
                <a:gridCol w="3430483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Cross attention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Y" sz="4000" dirty="0"/>
                        <a:t>3 عبارات من 10</a:t>
                      </a:r>
                      <a:endParaRPr lang="en-US" sz="40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0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29.63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12.19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42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54.04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32.23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81.04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62.64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23.13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/>
                        <a:t>17.6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000" dirty="0" err="1"/>
                        <a:t>mAP</a:t>
                      </a:r>
                      <a:endParaRPr lang="en-US" sz="40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73033EC3-B360-CE5C-1288-8A690CA8B299}"/>
              </a:ext>
            </a:extLst>
          </p:cNvPr>
          <p:cNvSpPr/>
          <p:nvPr/>
        </p:nvSpPr>
        <p:spPr>
          <a:xfrm rot="5400000">
            <a:off x="5147894" y="2727166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0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C59B-9732-4461-D7F4-0AAD2F7C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F5094E87-D138-F1C9-E3BB-5AEB97E54BE9}"/>
              </a:ext>
            </a:extLst>
          </p:cNvPr>
          <p:cNvSpPr/>
          <p:nvPr/>
        </p:nvSpPr>
        <p:spPr>
          <a:xfrm>
            <a:off x="13335000" y="7618717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9E4ABF8-B31C-F045-F8A0-1389DC26B8C1}"/>
              </a:ext>
            </a:extLst>
          </p:cNvPr>
          <p:cNvSpPr txBox="1"/>
          <p:nvPr/>
        </p:nvSpPr>
        <p:spPr>
          <a:xfrm>
            <a:off x="2553980" y="190500"/>
            <a:ext cx="13180039" cy="139262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Few-shot</a:t>
            </a:r>
            <a:endParaRPr kumimoji="0" lang="en-US" sz="849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5B63CAD-4AFF-B6FF-B22A-CE247C6B0460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78BCF92-196D-D4B3-78F1-638167B1C7C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67A1A424-5DEE-9FF8-2343-B43B7AC0A7D9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4ABDEED-CD3E-D25C-B3E3-8E7391D2B93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B84A1E1-5B21-7950-7074-F1584313C8D0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38</a:t>
              </a:r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77D925-384A-3306-7621-699968663468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42B5DC-3548-6808-9E05-4A659D76F734}"/>
              </a:ext>
            </a:extLst>
          </p:cNvPr>
          <p:cNvCxnSpPr>
            <a:cxnSpLocks/>
          </p:cNvCxnSpPr>
          <p:nvPr/>
        </p:nvCxnSpPr>
        <p:spPr>
          <a:xfrm>
            <a:off x="4572000" y="1705414"/>
            <a:ext cx="9156054" cy="90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42CEBCD-2479-6BAC-DD20-6E758CB9C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10649"/>
              </p:ext>
            </p:extLst>
          </p:nvPr>
        </p:nvGraphicFramePr>
        <p:xfrm>
          <a:off x="3505200" y="4054994"/>
          <a:ext cx="11879785" cy="4572000"/>
        </p:xfrm>
        <a:graphic>
          <a:graphicData uri="http://schemas.openxmlformats.org/drawingml/2006/table">
            <a:tbl>
              <a:tblPr firstRow="1" bandRow="1"/>
              <a:tblGrid>
                <a:gridCol w="3882492">
                  <a:extLst>
                    <a:ext uri="{9D8B030D-6E8A-4147-A177-3AD203B41FA5}">
                      <a16:colId xmlns:a16="http://schemas.microsoft.com/office/drawing/2014/main" val="1454558251"/>
                    </a:ext>
                  </a:extLst>
                </a:gridCol>
                <a:gridCol w="3882492">
                  <a:extLst>
                    <a:ext uri="{9D8B030D-6E8A-4147-A177-3AD203B41FA5}">
                      <a16:colId xmlns:a16="http://schemas.microsoft.com/office/drawing/2014/main" val="4081061156"/>
                    </a:ext>
                  </a:extLst>
                </a:gridCol>
                <a:gridCol w="4114801">
                  <a:extLst>
                    <a:ext uri="{9D8B030D-6E8A-4147-A177-3AD203B41FA5}">
                      <a16:colId xmlns:a16="http://schemas.microsoft.com/office/drawing/2014/main" val="1702388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sz="3200" dirty="0"/>
                        <a:t>Cross attention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200" dirty="0"/>
                        <a:t>Alpha = 0.8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5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13.89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Top-1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0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43.32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Top-3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01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55.89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63.7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/>
                        <a:t>Top-5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4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80.32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79.91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Top-10 accuracy</a:t>
                      </a:r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7054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32.16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/>
                        <a:t>36.32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87282"/>
                  </a:ext>
                </a:extLst>
              </a:tr>
            </a:tbl>
          </a:graphicData>
        </a:graphic>
      </p:graphicFrame>
      <p:sp>
        <p:nvSpPr>
          <p:cNvPr id="2" name="Arrow: Right 1">
            <a:extLst>
              <a:ext uri="{FF2B5EF4-FFF2-40B4-BE49-F238E27FC236}">
                <a16:creationId xmlns:a16="http://schemas.microsoft.com/office/drawing/2014/main" id="{E475C272-2F6F-B1F3-4A7A-2D26B5721A4E}"/>
              </a:ext>
            </a:extLst>
          </p:cNvPr>
          <p:cNvSpPr/>
          <p:nvPr/>
        </p:nvSpPr>
        <p:spPr>
          <a:xfrm rot="5400000">
            <a:off x="8572499" y="2948586"/>
            <a:ext cx="1143000" cy="807066"/>
          </a:xfrm>
          <a:prstGeom prst="rightArrow">
            <a:avLst/>
          </a:prstGeom>
          <a:solidFill>
            <a:srgbClr val="EC2099"/>
          </a:solidFill>
          <a:ln>
            <a:solidFill>
              <a:srgbClr val="EC2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1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6445B-C3E2-8F22-ED4E-5FD60E63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EEBC9DB0-B5B2-77C7-304F-C0779C63224F}"/>
              </a:ext>
            </a:extLst>
          </p:cNvPr>
          <p:cNvSpPr/>
          <p:nvPr/>
        </p:nvSpPr>
        <p:spPr>
          <a:xfrm>
            <a:off x="-5334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493A13A-968F-A6E2-0E50-E30633D91817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D5CEA71-ECBF-8C9B-3D8F-EB5709F03521}"/>
              </a:ext>
            </a:extLst>
          </p:cNvPr>
          <p:cNvSpPr/>
          <p:nvPr/>
        </p:nvSpPr>
        <p:spPr>
          <a:xfrm>
            <a:off x="11716136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D947701-201A-9F17-ADD3-153E2046D096}"/>
              </a:ext>
            </a:extLst>
          </p:cNvPr>
          <p:cNvSpPr txBox="1"/>
          <p:nvPr/>
        </p:nvSpPr>
        <p:spPr>
          <a:xfrm>
            <a:off x="2553980" y="647700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محتويات العرض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67E733D3-BB3B-E66F-9224-826C68985591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D4F8DC4-A110-19E0-DFE0-954E0DDB616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BC58E07-4AAD-03ED-7AEC-C513A613515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B106FAD-13F3-32E2-3A1E-7451BDCCB43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52BC033-C1F4-4256-F559-FEBA588431A4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39</a:t>
              </a: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60166034-6228-73B0-AEA5-FBACF0A21AEF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3">
            <a:extLst>
              <a:ext uri="{FF2B5EF4-FFF2-40B4-BE49-F238E27FC236}">
                <a16:creationId xmlns:a16="http://schemas.microsoft.com/office/drawing/2014/main" id="{C7474CE1-0EFD-F04F-466E-CD7DDEBDB2C7}"/>
              </a:ext>
            </a:extLst>
          </p:cNvPr>
          <p:cNvGrpSpPr/>
          <p:nvPr/>
        </p:nvGrpSpPr>
        <p:grpSpPr>
          <a:xfrm>
            <a:off x="11698459" y="3268192"/>
            <a:ext cx="3142129" cy="931128"/>
            <a:chOff x="0" y="0"/>
            <a:chExt cx="8868713" cy="3287792"/>
          </a:xfrm>
        </p:grpSpPr>
        <p:grpSp>
          <p:nvGrpSpPr>
            <p:cNvPr id="29" name="Group 4">
              <a:extLst>
                <a:ext uri="{FF2B5EF4-FFF2-40B4-BE49-F238E27FC236}">
                  <a16:creationId xmlns:a16="http://schemas.microsoft.com/office/drawing/2014/main" id="{9AD3BC1E-B861-5D5F-3E9C-47966F6C0809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3AF8C82E-AB12-E912-7C40-1546F7BDDACE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2" name="TextBox 6">
                <a:extLst>
                  <a:ext uri="{FF2B5EF4-FFF2-40B4-BE49-F238E27FC236}">
                    <a16:creationId xmlns:a16="http://schemas.microsoft.com/office/drawing/2014/main" id="{7F495353-74C2-FED2-D391-C934F15DFB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E405C682-E9D9-A6AC-E845-17A956973738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8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الدراسة المرجعية</a:t>
              </a:r>
              <a:endParaRPr lang="en-US" sz="38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3" name="Google Shape;199;p32">
            <a:extLst>
              <a:ext uri="{FF2B5EF4-FFF2-40B4-BE49-F238E27FC236}">
                <a16:creationId xmlns:a16="http://schemas.microsoft.com/office/drawing/2014/main" id="{95D8C320-1EB3-BD84-BF94-13DD3D89498C}"/>
              </a:ext>
            </a:extLst>
          </p:cNvPr>
          <p:cNvSpPr txBox="1">
            <a:spLocks/>
          </p:cNvSpPr>
          <p:nvPr/>
        </p:nvSpPr>
        <p:spPr>
          <a:xfrm>
            <a:off x="15009413" y="3219010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01</a:t>
            </a: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5FFB733A-8593-DFC2-3425-966A549E6E62}"/>
              </a:ext>
            </a:extLst>
          </p:cNvPr>
          <p:cNvGrpSpPr/>
          <p:nvPr/>
        </p:nvGrpSpPr>
        <p:grpSpPr>
          <a:xfrm>
            <a:off x="11699034" y="4945304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35" name="Group 4">
              <a:extLst>
                <a:ext uri="{FF2B5EF4-FFF2-40B4-BE49-F238E27FC236}">
                  <a16:creationId xmlns:a16="http://schemas.microsoft.com/office/drawing/2014/main" id="{BEDC6806-EE00-D702-7B25-C14296E78EF5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37" name="Freeform 5">
                <a:extLst>
                  <a:ext uri="{FF2B5EF4-FFF2-40B4-BE49-F238E27FC236}">
                    <a16:creationId xmlns:a16="http://schemas.microsoft.com/office/drawing/2014/main" id="{CF1AF8D0-DEAC-1943-97B7-450BD24DC3D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38" name="TextBox 6">
                <a:extLst>
                  <a:ext uri="{FF2B5EF4-FFF2-40B4-BE49-F238E27FC236}">
                    <a16:creationId xmlns:a16="http://schemas.microsoft.com/office/drawing/2014/main" id="{3083A7B2-9A2F-6717-DF5F-43965D3EBD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59DE1439-5A48-C548-FE0D-FFFA36401D08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6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شرح العمل المنجز</a:t>
              </a:r>
              <a:endParaRPr lang="en-US" sz="3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9" name="Google Shape;199;p32">
            <a:extLst>
              <a:ext uri="{FF2B5EF4-FFF2-40B4-BE49-F238E27FC236}">
                <a16:creationId xmlns:a16="http://schemas.microsoft.com/office/drawing/2014/main" id="{EC04EEDD-8263-2795-D318-5DCF38473A9D}"/>
              </a:ext>
            </a:extLst>
          </p:cNvPr>
          <p:cNvSpPr txBox="1">
            <a:spLocks/>
          </p:cNvSpPr>
          <p:nvPr/>
        </p:nvSpPr>
        <p:spPr>
          <a:xfrm>
            <a:off x="15009988" y="489612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40" name="Group 3">
            <a:extLst>
              <a:ext uri="{FF2B5EF4-FFF2-40B4-BE49-F238E27FC236}">
                <a16:creationId xmlns:a16="http://schemas.microsoft.com/office/drawing/2014/main" id="{4A4A7D1E-1C04-6217-63ED-5C6BCF6E0977}"/>
              </a:ext>
            </a:extLst>
          </p:cNvPr>
          <p:cNvGrpSpPr/>
          <p:nvPr/>
        </p:nvGrpSpPr>
        <p:grpSpPr>
          <a:xfrm>
            <a:off x="4080446" y="4221914"/>
            <a:ext cx="3142129" cy="931128"/>
            <a:chOff x="0" y="0"/>
            <a:chExt cx="8868713" cy="3287792"/>
          </a:xfrm>
        </p:grpSpPr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8A9353D1-E2A5-1BD2-405D-784C0641FC53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43" name="Freeform 5">
                <a:extLst>
                  <a:ext uri="{FF2B5EF4-FFF2-40B4-BE49-F238E27FC236}">
                    <a16:creationId xmlns:a16="http://schemas.microsoft.com/office/drawing/2014/main" id="{C66DEBC4-449A-398F-9D25-E4AE42A9FE5C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44" name="TextBox 6">
                <a:extLst>
                  <a:ext uri="{FF2B5EF4-FFF2-40B4-BE49-F238E27FC236}">
                    <a16:creationId xmlns:a16="http://schemas.microsoft.com/office/drawing/2014/main" id="{21CBC918-D915-4021-F013-4C3B3AA95A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7">
              <a:extLst>
                <a:ext uri="{FF2B5EF4-FFF2-40B4-BE49-F238E27FC236}">
                  <a16:creationId xmlns:a16="http://schemas.microsoft.com/office/drawing/2014/main" id="{312DB2E7-2C44-503D-F19C-8AEF614C5F44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النموذج المقترح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45" name="Google Shape;199;p32">
            <a:extLst>
              <a:ext uri="{FF2B5EF4-FFF2-40B4-BE49-F238E27FC236}">
                <a16:creationId xmlns:a16="http://schemas.microsoft.com/office/drawing/2014/main" id="{1189A03F-7649-B755-84AF-976B6FAA8ECF}"/>
              </a:ext>
            </a:extLst>
          </p:cNvPr>
          <p:cNvSpPr txBox="1">
            <a:spLocks/>
          </p:cNvSpPr>
          <p:nvPr/>
        </p:nvSpPr>
        <p:spPr>
          <a:xfrm>
            <a:off x="7391400" y="417273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1" name="Group 3">
            <a:extLst>
              <a:ext uri="{FF2B5EF4-FFF2-40B4-BE49-F238E27FC236}">
                <a16:creationId xmlns:a16="http://schemas.microsoft.com/office/drawing/2014/main" id="{F9462068-F1F2-73AC-4C54-80A4C1E940AA}"/>
              </a:ext>
            </a:extLst>
          </p:cNvPr>
          <p:cNvGrpSpPr/>
          <p:nvPr/>
        </p:nvGrpSpPr>
        <p:grpSpPr>
          <a:xfrm>
            <a:off x="4080446" y="5601151"/>
            <a:ext cx="3142129" cy="931128"/>
            <a:chOff x="0" y="0"/>
            <a:chExt cx="8868713" cy="3287792"/>
          </a:xfrm>
        </p:grpSpPr>
        <p:grpSp>
          <p:nvGrpSpPr>
            <p:cNvPr id="53" name="Group 4">
              <a:extLst>
                <a:ext uri="{FF2B5EF4-FFF2-40B4-BE49-F238E27FC236}">
                  <a16:creationId xmlns:a16="http://schemas.microsoft.com/office/drawing/2014/main" id="{605FD37F-3164-0AA7-460A-F245209575FD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43EE0C42-96AC-5AEB-47C7-EB6B716CE753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56" name="TextBox 6">
                <a:extLst>
                  <a:ext uri="{FF2B5EF4-FFF2-40B4-BE49-F238E27FC236}">
                    <a16:creationId xmlns:a16="http://schemas.microsoft.com/office/drawing/2014/main" id="{C30DF982-ACBF-047D-0B67-DD3E32D0882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4" name="TextBox 7">
              <a:extLst>
                <a:ext uri="{FF2B5EF4-FFF2-40B4-BE49-F238E27FC236}">
                  <a16:creationId xmlns:a16="http://schemas.microsoft.com/office/drawing/2014/main" id="{EBE4A411-D2CF-D565-E6F5-20B8A3051961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التجارب والنتائج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57" name="Google Shape;199;p32">
            <a:extLst>
              <a:ext uri="{FF2B5EF4-FFF2-40B4-BE49-F238E27FC236}">
                <a16:creationId xmlns:a16="http://schemas.microsoft.com/office/drawing/2014/main" id="{AAF29998-8FB4-E591-1377-DC5770470657}"/>
              </a:ext>
            </a:extLst>
          </p:cNvPr>
          <p:cNvSpPr txBox="1">
            <a:spLocks/>
          </p:cNvSpPr>
          <p:nvPr/>
        </p:nvSpPr>
        <p:spPr>
          <a:xfrm>
            <a:off x="7391400" y="555196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209EA8DC-B337-692F-DDE5-BE77A05EE261}"/>
              </a:ext>
            </a:extLst>
          </p:cNvPr>
          <p:cNvGrpSpPr/>
          <p:nvPr/>
        </p:nvGrpSpPr>
        <p:grpSpPr>
          <a:xfrm>
            <a:off x="4080446" y="7017386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84E2ADDA-F0F0-BF5C-32F4-B7E21B28FBED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62" name="Freeform 5">
                <a:extLst>
                  <a:ext uri="{FF2B5EF4-FFF2-40B4-BE49-F238E27FC236}">
                    <a16:creationId xmlns:a16="http://schemas.microsoft.com/office/drawing/2014/main" id="{F85064EC-FA79-6614-2C57-515B8E70420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63" name="TextBox 6">
                <a:extLst>
                  <a:ext uri="{FF2B5EF4-FFF2-40B4-BE49-F238E27FC236}">
                    <a16:creationId xmlns:a16="http://schemas.microsoft.com/office/drawing/2014/main" id="{715CF327-11D7-4089-B67A-2B5D0B5EFD5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1" name="TextBox 7">
              <a:extLst>
                <a:ext uri="{FF2B5EF4-FFF2-40B4-BE49-F238E27FC236}">
                  <a16:creationId xmlns:a16="http://schemas.microsoft.com/office/drawing/2014/main" id="{6FD3EFB8-8237-0DB0-B56D-135D7686651F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القسم البرمجي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71" name="Google Shape;199;p32">
            <a:extLst>
              <a:ext uri="{FF2B5EF4-FFF2-40B4-BE49-F238E27FC236}">
                <a16:creationId xmlns:a16="http://schemas.microsoft.com/office/drawing/2014/main" id="{E825EB5B-9925-E1C5-7CD0-B41804DDF420}"/>
              </a:ext>
            </a:extLst>
          </p:cNvPr>
          <p:cNvSpPr txBox="1">
            <a:spLocks/>
          </p:cNvSpPr>
          <p:nvPr/>
        </p:nvSpPr>
        <p:spPr>
          <a:xfrm>
            <a:off x="7391400" y="6968204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72" name="Group 3">
            <a:extLst>
              <a:ext uri="{FF2B5EF4-FFF2-40B4-BE49-F238E27FC236}">
                <a16:creationId xmlns:a16="http://schemas.microsoft.com/office/drawing/2014/main" id="{FC5C25D1-3839-FC7E-C9A0-E97CD0DF15F8}"/>
              </a:ext>
            </a:extLst>
          </p:cNvPr>
          <p:cNvGrpSpPr/>
          <p:nvPr/>
        </p:nvGrpSpPr>
        <p:grpSpPr>
          <a:xfrm>
            <a:off x="11698457" y="6579011"/>
            <a:ext cx="3142129" cy="931128"/>
            <a:chOff x="0" y="0"/>
            <a:chExt cx="8868713" cy="3287792"/>
          </a:xfrm>
        </p:grpSpPr>
        <p:grpSp>
          <p:nvGrpSpPr>
            <p:cNvPr id="73" name="Group 4">
              <a:extLst>
                <a:ext uri="{FF2B5EF4-FFF2-40B4-BE49-F238E27FC236}">
                  <a16:creationId xmlns:a16="http://schemas.microsoft.com/office/drawing/2014/main" id="{3ADEFDF2-B5D2-E2D2-E3B8-B9892155CECB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B6DBC570-B63D-77C8-9E9B-1B1C4A8AFA1A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3" name="TextBox 6">
                <a:extLst>
                  <a:ext uri="{FF2B5EF4-FFF2-40B4-BE49-F238E27FC236}">
                    <a16:creationId xmlns:a16="http://schemas.microsoft.com/office/drawing/2014/main" id="{B37DDEC7-AACC-B52B-C1AE-BA5E06D6BE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 rtl="1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4" name="TextBox 7">
              <a:extLst>
                <a:ext uri="{FF2B5EF4-FFF2-40B4-BE49-F238E27FC236}">
                  <a16:creationId xmlns:a16="http://schemas.microsoft.com/office/drawing/2014/main" id="{CFED9E14-DA14-F979-7333-2B25C08CF605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الخاتمة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4" name="Google Shape;199;p32">
            <a:extLst>
              <a:ext uri="{FF2B5EF4-FFF2-40B4-BE49-F238E27FC236}">
                <a16:creationId xmlns:a16="http://schemas.microsoft.com/office/drawing/2014/main" id="{D84958BA-3AB4-F67E-2A30-E520FCB5CD6C}"/>
              </a:ext>
            </a:extLst>
          </p:cNvPr>
          <p:cNvSpPr txBox="1">
            <a:spLocks/>
          </p:cNvSpPr>
          <p:nvPr/>
        </p:nvSpPr>
        <p:spPr>
          <a:xfrm>
            <a:off x="15009411" y="652982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03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85" name="Group 3">
            <a:extLst>
              <a:ext uri="{FF2B5EF4-FFF2-40B4-BE49-F238E27FC236}">
                <a16:creationId xmlns:a16="http://schemas.microsoft.com/office/drawing/2014/main" id="{9F13A9C1-D546-1852-B16D-7F5B5CF1828D}"/>
              </a:ext>
            </a:extLst>
          </p:cNvPr>
          <p:cNvGrpSpPr/>
          <p:nvPr/>
        </p:nvGrpSpPr>
        <p:grpSpPr>
          <a:xfrm>
            <a:off x="4080446" y="2831765"/>
            <a:ext cx="3142129" cy="931128"/>
            <a:chOff x="0" y="0"/>
            <a:chExt cx="8868713" cy="3287792"/>
          </a:xfrm>
        </p:grpSpPr>
        <p:grpSp>
          <p:nvGrpSpPr>
            <p:cNvPr id="86" name="Group 4">
              <a:extLst>
                <a:ext uri="{FF2B5EF4-FFF2-40B4-BE49-F238E27FC236}">
                  <a16:creationId xmlns:a16="http://schemas.microsoft.com/office/drawing/2014/main" id="{2A776AB8-C4EC-BBB7-9A75-36E666D4A265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88" name="Freeform 5">
                <a:extLst>
                  <a:ext uri="{FF2B5EF4-FFF2-40B4-BE49-F238E27FC236}">
                    <a16:creationId xmlns:a16="http://schemas.microsoft.com/office/drawing/2014/main" id="{C65527A2-9A7E-80FF-A18B-2FB271EE7069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9" name="TextBox 6">
                <a:extLst>
                  <a:ext uri="{FF2B5EF4-FFF2-40B4-BE49-F238E27FC236}">
                    <a16:creationId xmlns:a16="http://schemas.microsoft.com/office/drawing/2014/main" id="{751B5925-3C8D-F9C4-BD2E-4ECB25397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7" name="TextBox 7">
              <a:extLst>
                <a:ext uri="{FF2B5EF4-FFF2-40B4-BE49-F238E27FC236}">
                  <a16:creationId xmlns:a16="http://schemas.microsoft.com/office/drawing/2014/main" id="{693FB2D0-631C-C08B-1B47-FD0A4DA27580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مجموعة البيانات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90" name="Google Shape;199;p32">
            <a:extLst>
              <a:ext uri="{FF2B5EF4-FFF2-40B4-BE49-F238E27FC236}">
                <a16:creationId xmlns:a16="http://schemas.microsoft.com/office/drawing/2014/main" id="{F523EC68-4766-27D1-9B8C-D3A86CF8CEF7}"/>
              </a:ext>
            </a:extLst>
          </p:cNvPr>
          <p:cNvSpPr txBox="1">
            <a:spLocks/>
          </p:cNvSpPr>
          <p:nvPr/>
        </p:nvSpPr>
        <p:spPr>
          <a:xfrm>
            <a:off x="7391400" y="2782583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1F948C89-889D-B243-BB75-6874B6119E7C}"/>
              </a:ext>
            </a:extLst>
          </p:cNvPr>
          <p:cNvCxnSpPr>
            <a:stCxn id="36" idx="1"/>
          </p:cNvCxnSpPr>
          <p:nvPr/>
        </p:nvCxnSpPr>
        <p:spPr>
          <a:xfrm rot="10800000">
            <a:off x="8840612" y="3213567"/>
            <a:ext cx="3059164" cy="2208256"/>
          </a:xfrm>
          <a:prstGeom prst="bentConnector3">
            <a:avLst/>
          </a:prstGeom>
          <a:ln>
            <a:solidFill>
              <a:srgbClr val="FF66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A454A42A-C501-D607-4B66-6A4878A55289}"/>
              </a:ext>
            </a:extLst>
          </p:cNvPr>
          <p:cNvCxnSpPr>
            <a:endCxn id="45" idx="3"/>
          </p:cNvCxnSpPr>
          <p:nvPr/>
        </p:nvCxnSpPr>
        <p:spPr>
          <a:xfrm rot="10800000">
            <a:off x="8840613" y="4665610"/>
            <a:ext cx="3058587" cy="756215"/>
          </a:xfrm>
          <a:prstGeom prst="bentConnector3">
            <a:avLst/>
          </a:prstGeom>
          <a:ln>
            <a:solidFill>
              <a:srgbClr val="F159B3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24F89ECD-86C7-35CA-0AF8-940D7A56713D}"/>
              </a:ext>
            </a:extLst>
          </p:cNvPr>
          <p:cNvCxnSpPr>
            <a:stCxn id="36" idx="1"/>
            <a:endCxn id="57" idx="3"/>
          </p:cNvCxnSpPr>
          <p:nvPr/>
        </p:nvCxnSpPr>
        <p:spPr>
          <a:xfrm rot="10800000" flipV="1">
            <a:off x="8840612" y="5421822"/>
            <a:ext cx="3059164" cy="623023"/>
          </a:xfrm>
          <a:prstGeom prst="bentConnector3">
            <a:avLst/>
          </a:prstGeom>
          <a:ln>
            <a:solidFill>
              <a:srgbClr val="EC2099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76334CDB-A6D7-3E16-D972-70205388BF51}"/>
              </a:ext>
            </a:extLst>
          </p:cNvPr>
          <p:cNvCxnSpPr>
            <a:endCxn id="71" idx="3"/>
          </p:cNvCxnSpPr>
          <p:nvPr/>
        </p:nvCxnSpPr>
        <p:spPr>
          <a:xfrm rot="10800000" flipV="1">
            <a:off x="8840613" y="5421821"/>
            <a:ext cx="3058587" cy="2039259"/>
          </a:xfrm>
          <a:prstGeom prst="bentConnector3">
            <a:avLst/>
          </a:prstGeom>
          <a:ln>
            <a:solidFill>
              <a:srgbClr val="EE1EC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C5E09142-90C2-F4AC-9388-0B66C1B61CCA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</p:spTree>
    <p:extLst>
      <p:ext uri="{BB962C8B-B14F-4D97-AF65-F5344CB8AC3E}">
        <p14:creationId xmlns:p14="http://schemas.microsoft.com/office/powerpoint/2010/main" val="126912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09474"/>
            <a:ext cx="16230600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المخطط الصندوقي للنظام</a:t>
            </a:r>
            <a:endParaRPr lang="en-US" sz="8499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 rot="-5400000">
            <a:off x="-2373736" y="4911090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  <p:sp>
        <p:nvSpPr>
          <p:cNvPr id="23" name="AutoShape 23"/>
          <p:cNvSpPr/>
          <p:nvPr/>
        </p:nvSpPr>
        <p:spPr>
          <a:xfrm flipH="1" flipV="1">
            <a:off x="1085850" y="7632444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flipH="1" flipV="1">
            <a:off x="1090490" y="-34290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6" name="Group 2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40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969754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64423" y="-164117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Canvas 8">
            <a:extLst>
              <a:ext uri="{FF2B5EF4-FFF2-40B4-BE49-F238E27FC236}">
                <a16:creationId xmlns:a16="http://schemas.microsoft.com/office/drawing/2014/main" id="{76A8836E-5344-E4CE-CA92-4D978E1BE7D7}"/>
              </a:ext>
            </a:extLst>
          </p:cNvPr>
          <p:cNvGrpSpPr/>
          <p:nvPr/>
        </p:nvGrpSpPr>
        <p:grpSpPr>
          <a:xfrm>
            <a:off x="2666616" y="2505274"/>
            <a:ext cx="13182600" cy="6914951"/>
            <a:chOff x="0" y="0"/>
            <a:chExt cx="5486400" cy="2682240"/>
          </a:xfrm>
          <a:solidFill>
            <a:srgbClr val="FFE1FF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90EB2F7-B7A0-63DE-EC79-9B1AE77A674A}"/>
                </a:ext>
              </a:extLst>
            </p:cNvPr>
            <p:cNvSpPr/>
            <p:nvPr/>
          </p:nvSpPr>
          <p:spPr>
            <a:xfrm>
              <a:off x="0" y="0"/>
              <a:ext cx="5486400" cy="2682240"/>
            </a:xfrm>
            <a:prstGeom prst="rect">
              <a:avLst/>
            </a:prstGeom>
            <a:grpFill/>
          </p:spPr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99BC61E-511C-4D21-3809-5970118777A3}"/>
                </a:ext>
              </a:extLst>
            </p:cNvPr>
            <p:cNvSpPr/>
            <p:nvPr/>
          </p:nvSpPr>
          <p:spPr>
            <a:xfrm>
              <a:off x="2150453" y="150368"/>
              <a:ext cx="3177540" cy="2038006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6000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797B8F3-70F9-A800-B7A0-898D50399880}"/>
                </a:ext>
              </a:extLst>
            </p:cNvPr>
            <p:cNvSpPr/>
            <p:nvPr/>
          </p:nvSpPr>
          <p:spPr>
            <a:xfrm>
              <a:off x="0" y="136071"/>
              <a:ext cx="1050471" cy="1036774"/>
            </a:xfrm>
            <a:prstGeom prst="roundRect">
              <a:avLst/>
            </a:prstGeom>
            <a:grpFill/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6000"/>
            </a:p>
          </p:txBody>
        </p:sp>
        <p:sp>
          <p:nvSpPr>
            <p:cNvPr id="36" name="Text Box 1944253044">
              <a:extLst>
                <a:ext uri="{FF2B5EF4-FFF2-40B4-BE49-F238E27FC236}">
                  <a16:creationId xmlns:a16="http://schemas.microsoft.com/office/drawing/2014/main" id="{459646A3-A822-8BDB-0AC0-4DBDA168C848}"/>
                </a:ext>
              </a:extLst>
            </p:cNvPr>
            <p:cNvSpPr txBox="1"/>
            <p:nvPr/>
          </p:nvSpPr>
          <p:spPr>
            <a:xfrm>
              <a:off x="186690" y="0"/>
              <a:ext cx="702354" cy="272143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Front-end</a:t>
              </a:r>
              <a:endPara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44B51E2-26AD-9C8C-7FC2-9E101251AD2B}"/>
                </a:ext>
              </a:extLst>
            </p:cNvPr>
            <p:cNvCxnSpPr/>
            <p:nvPr/>
          </p:nvCxnSpPr>
          <p:spPr>
            <a:xfrm>
              <a:off x="892629" y="770709"/>
              <a:ext cx="1202875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 Box 2">
              <a:extLst>
                <a:ext uri="{FF2B5EF4-FFF2-40B4-BE49-F238E27FC236}">
                  <a16:creationId xmlns:a16="http://schemas.microsoft.com/office/drawing/2014/main" id="{92B17F6F-1B86-BB32-357D-53F74E94EF1D}"/>
                </a:ext>
              </a:extLst>
            </p:cNvPr>
            <p:cNvSpPr txBox="1"/>
            <p:nvPr/>
          </p:nvSpPr>
          <p:spPr>
            <a:xfrm>
              <a:off x="3157220" y="13970"/>
              <a:ext cx="1010920" cy="27178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3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Back-end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39" name="Flowchart: Internal Storage 38">
              <a:extLst>
                <a:ext uri="{FF2B5EF4-FFF2-40B4-BE49-F238E27FC236}">
                  <a16:creationId xmlns:a16="http://schemas.microsoft.com/office/drawing/2014/main" id="{D6196DD9-8F83-51EA-D443-AAB190D62378}"/>
                </a:ext>
              </a:extLst>
            </p:cNvPr>
            <p:cNvSpPr/>
            <p:nvPr/>
          </p:nvSpPr>
          <p:spPr>
            <a:xfrm>
              <a:off x="197757" y="313176"/>
              <a:ext cx="651329" cy="685800"/>
            </a:xfrm>
            <a:prstGeom prst="flowChartInternalStorag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6000"/>
            </a:p>
          </p:txBody>
        </p:sp>
        <p:sp>
          <p:nvSpPr>
            <p:cNvPr id="40" name="Text Box 307675282">
              <a:extLst>
                <a:ext uri="{FF2B5EF4-FFF2-40B4-BE49-F238E27FC236}">
                  <a16:creationId xmlns:a16="http://schemas.microsoft.com/office/drawing/2014/main" id="{BAAF8632-9395-C929-4CCC-AEADE7723B1C}"/>
                </a:ext>
              </a:extLst>
            </p:cNvPr>
            <p:cNvSpPr txBox="1"/>
            <p:nvPr/>
          </p:nvSpPr>
          <p:spPr>
            <a:xfrm>
              <a:off x="299357" y="495845"/>
              <a:ext cx="437243" cy="364671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2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UIs</a:t>
              </a:r>
              <a:endParaRPr lang="en-US" sz="4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00A5409-4EEC-4BC4-9135-ADF5788627AB}"/>
                </a:ext>
              </a:extLst>
            </p:cNvPr>
            <p:cNvSpPr/>
            <p:nvPr/>
          </p:nvSpPr>
          <p:spPr>
            <a:xfrm>
              <a:off x="2421455" y="1624995"/>
              <a:ext cx="1384300" cy="3146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Domain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82E0672-828D-EC4D-42D1-A1ECBBBDD2AC}"/>
                </a:ext>
              </a:extLst>
            </p:cNvPr>
            <p:cNvCxnSpPr/>
            <p:nvPr/>
          </p:nvCxnSpPr>
          <p:spPr>
            <a:xfrm>
              <a:off x="3076349" y="1482753"/>
              <a:ext cx="0" cy="16129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00746A1-F40E-B865-E8D8-D6A686915177}"/>
                </a:ext>
              </a:extLst>
            </p:cNvPr>
            <p:cNvCxnSpPr/>
            <p:nvPr/>
          </p:nvCxnSpPr>
          <p:spPr>
            <a:xfrm>
              <a:off x="3076349" y="1011555"/>
              <a:ext cx="0" cy="16129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C5D5555-37C4-0306-6337-E559A13149D6}"/>
                </a:ext>
              </a:extLst>
            </p:cNvPr>
            <p:cNvCxnSpPr/>
            <p:nvPr/>
          </p:nvCxnSpPr>
          <p:spPr>
            <a:xfrm>
              <a:off x="3076349" y="566479"/>
              <a:ext cx="0" cy="16129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5" name="Graphic 1951797724">
              <a:extLst>
                <a:ext uri="{FF2B5EF4-FFF2-40B4-BE49-F238E27FC236}">
                  <a16:creationId xmlns:a16="http://schemas.microsoft.com/office/drawing/2014/main" id="{5819DBCF-247C-B537-1C48-BC29B0975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345440" y="1579540"/>
              <a:ext cx="347980" cy="347980"/>
            </a:xfrm>
            <a:prstGeom prst="rect">
              <a:avLst/>
            </a:prstGeom>
          </p:spPr>
        </p:pic>
        <p:sp>
          <p:nvSpPr>
            <p:cNvPr id="46" name="Text Box 1">
              <a:extLst>
                <a:ext uri="{FF2B5EF4-FFF2-40B4-BE49-F238E27FC236}">
                  <a16:creationId xmlns:a16="http://schemas.microsoft.com/office/drawing/2014/main" id="{3A20CF47-8B70-180F-5E34-A7FBE500F94A}"/>
                </a:ext>
              </a:extLst>
            </p:cNvPr>
            <p:cNvSpPr txBox="1"/>
            <p:nvPr/>
          </p:nvSpPr>
          <p:spPr>
            <a:xfrm>
              <a:off x="327242" y="1916594"/>
              <a:ext cx="702310" cy="27178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 rtl="0">
                <a:lnSpc>
                  <a:spcPct val="106000"/>
                </a:lnSpc>
                <a:spcAft>
                  <a:spcPts val="800"/>
                </a:spcAft>
                <a:buNone/>
              </a:pPr>
              <a:r>
                <a:rPr lang="en-US" sz="32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End User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F7B9059-B2D9-EBEC-9F78-AB898B056442}"/>
                </a:ext>
              </a:extLst>
            </p:cNvPr>
            <p:cNvCxnSpPr>
              <a:stCxn id="45" idx="0"/>
              <a:endCxn id="35" idx="2"/>
            </p:cNvCxnSpPr>
            <p:nvPr/>
          </p:nvCxnSpPr>
          <p:spPr>
            <a:xfrm flipV="1">
              <a:off x="519430" y="1172845"/>
              <a:ext cx="5806" cy="406695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BEA5DE3-C1C2-B324-C564-7B7BFD2A2CD5}"/>
                </a:ext>
              </a:extLst>
            </p:cNvPr>
            <p:cNvCxnSpPr/>
            <p:nvPr/>
          </p:nvCxnSpPr>
          <p:spPr>
            <a:xfrm flipH="1">
              <a:off x="875756" y="902970"/>
              <a:ext cx="1230634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 Box 1">
              <a:extLst>
                <a:ext uri="{FF2B5EF4-FFF2-40B4-BE49-F238E27FC236}">
                  <a16:creationId xmlns:a16="http://schemas.microsoft.com/office/drawing/2014/main" id="{A70EB98C-CBE8-82E3-3D59-ACF1337B9FF8}"/>
                </a:ext>
              </a:extLst>
            </p:cNvPr>
            <p:cNvSpPr txBox="1"/>
            <p:nvPr/>
          </p:nvSpPr>
          <p:spPr>
            <a:xfrm>
              <a:off x="1085850" y="539522"/>
              <a:ext cx="887730" cy="21780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HTTP Request</a:t>
              </a:r>
              <a:endPara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50" name="Text Box 1">
              <a:extLst>
                <a:ext uri="{FF2B5EF4-FFF2-40B4-BE49-F238E27FC236}">
                  <a16:creationId xmlns:a16="http://schemas.microsoft.com/office/drawing/2014/main" id="{229D5682-0232-C968-39E5-8FAA42D46679}"/>
                </a:ext>
              </a:extLst>
            </p:cNvPr>
            <p:cNvSpPr txBox="1"/>
            <p:nvPr/>
          </p:nvSpPr>
          <p:spPr>
            <a:xfrm>
              <a:off x="1085850" y="921702"/>
              <a:ext cx="957399" cy="21780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HTTP Response</a:t>
              </a:r>
              <a:endPara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51" name="Rectangle: Top Corners Snipped 50">
              <a:extLst>
                <a:ext uri="{FF2B5EF4-FFF2-40B4-BE49-F238E27FC236}">
                  <a16:creationId xmlns:a16="http://schemas.microsoft.com/office/drawing/2014/main" id="{F785F4B5-BDE1-6360-70D6-6ADC859EE044}"/>
                </a:ext>
              </a:extLst>
            </p:cNvPr>
            <p:cNvSpPr/>
            <p:nvPr/>
          </p:nvSpPr>
          <p:spPr>
            <a:xfrm>
              <a:off x="4234039" y="716280"/>
              <a:ext cx="840248" cy="375918"/>
            </a:xfrm>
            <a:prstGeom prst="snip2SameRect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6000"/>
            </a:p>
          </p:txBody>
        </p:sp>
        <p:sp>
          <p:nvSpPr>
            <p:cNvPr id="52" name="Text Box 1">
              <a:extLst>
                <a:ext uri="{FF2B5EF4-FFF2-40B4-BE49-F238E27FC236}">
                  <a16:creationId xmlns:a16="http://schemas.microsoft.com/office/drawing/2014/main" id="{09658337-9E65-97F2-DE73-426FA41A5537}"/>
                </a:ext>
              </a:extLst>
            </p:cNvPr>
            <p:cNvSpPr txBox="1"/>
            <p:nvPr/>
          </p:nvSpPr>
          <p:spPr>
            <a:xfrm>
              <a:off x="4306010" y="812521"/>
              <a:ext cx="704850" cy="21082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AI Models</a:t>
              </a:r>
              <a:endPara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1E2CCAE-1E67-85BF-1967-1AC1AC10D3EB}"/>
                </a:ext>
              </a:extLst>
            </p:cNvPr>
            <p:cNvCxnSpPr/>
            <p:nvPr/>
          </p:nvCxnSpPr>
          <p:spPr>
            <a:xfrm>
              <a:off x="3774042" y="837403"/>
              <a:ext cx="438150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0DF7947-612E-B0FB-1BCF-B1AC709728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4042" y="931780"/>
              <a:ext cx="459997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25B73F1-0508-B100-4449-739BF8EC6BB6}"/>
                </a:ext>
              </a:extLst>
            </p:cNvPr>
            <p:cNvSpPr/>
            <p:nvPr/>
          </p:nvSpPr>
          <p:spPr>
            <a:xfrm>
              <a:off x="2389742" y="265658"/>
              <a:ext cx="1384300" cy="3143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Presentation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4B99326-AFAC-732C-DC7A-AD693BEA63D6}"/>
                </a:ext>
              </a:extLst>
            </p:cNvPr>
            <p:cNvSpPr/>
            <p:nvPr/>
          </p:nvSpPr>
          <p:spPr>
            <a:xfrm>
              <a:off x="2378657" y="716280"/>
              <a:ext cx="1384300" cy="3143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rtl="0">
                <a:lnSpc>
                  <a:spcPct val="105000"/>
                </a:lnSpc>
                <a:spcAft>
                  <a:spcPts val="800"/>
                </a:spcAft>
                <a:buNone/>
              </a:pPr>
              <a:r>
                <a:rPr lang="en-US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raditional Arabic" panose="02020603050405020304" pitchFamily="18" charset="-78"/>
                </a:rPr>
                <a:t>Infrastructure</a:t>
              </a:r>
              <a:endParaRPr lang="en-US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4E39724E-9BD0-B39D-8034-D1187B176AEC}"/>
              </a:ext>
            </a:extLst>
          </p:cNvPr>
          <p:cNvSpPr/>
          <p:nvPr/>
        </p:nvSpPr>
        <p:spPr>
          <a:xfrm>
            <a:off x="8435283" y="5551672"/>
            <a:ext cx="3299517" cy="822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raditional Arabic" panose="02020603050405020304" pitchFamily="18" charset="-78"/>
              </a:rPr>
              <a:t>Application</a:t>
            </a:r>
            <a:endParaRPr lang="en-US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p:pic>
        <p:nvPicPr>
          <p:cNvPr id="59" name="Graphic 1951797724">
            <a:extLst>
              <a:ext uri="{FF2B5EF4-FFF2-40B4-BE49-F238E27FC236}">
                <a16:creationId xmlns:a16="http://schemas.microsoft.com/office/drawing/2014/main" id="{FBE2C79B-31BD-667A-A608-AEAC833BF9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507281" y="6503213"/>
            <a:ext cx="836119" cy="98979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5A0FF-1B28-337B-CFEB-AD7646EA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11D1845-AA7A-22BB-27D1-4C4788273D4E}"/>
              </a:ext>
            </a:extLst>
          </p:cNvPr>
          <p:cNvSpPr txBox="1"/>
          <p:nvPr/>
        </p:nvSpPr>
        <p:spPr>
          <a:xfrm>
            <a:off x="3918390" y="515802"/>
            <a:ext cx="1045121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قاعدة المعطيات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AB99AB24-2661-5D87-AE66-25483DE89BEF}"/>
              </a:ext>
            </a:extLst>
          </p:cNvPr>
          <p:cNvSpPr/>
          <p:nvPr/>
        </p:nvSpPr>
        <p:spPr>
          <a:xfrm flipH="1" flipV="1">
            <a:off x="1090490" y="-104525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8E8611C7-8327-F5D3-16CB-70EB18598352}"/>
              </a:ext>
            </a:extLst>
          </p:cNvPr>
          <p:cNvSpPr/>
          <p:nvPr/>
        </p:nvSpPr>
        <p:spPr>
          <a:xfrm flipH="1" flipV="1">
            <a:off x="1085850" y="7289441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391CBD9-89D4-3497-2A65-50B6B3C09B2B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13298ED0-F074-179B-5CC1-5DFE03818A0F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93EC0202-39A7-9DC1-33A5-2204B4ED413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" name="TextBox 22">
                <a:extLst>
                  <a:ext uri="{FF2B5EF4-FFF2-40B4-BE49-F238E27FC236}">
                    <a16:creationId xmlns:a16="http://schemas.microsoft.com/office/drawing/2014/main" id="{6BD6EB91-0B50-6D65-CBC6-2A62B62D4CD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EE3B7F3-6C1A-7361-CAF7-A8BD2D283814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41</a:t>
              </a:r>
            </a:p>
          </p:txBody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0AB1E62F-261C-9E1B-E699-3752D960E431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3892DC65-B1D8-39D8-C876-C24EC30C9C87}"/>
              </a:ext>
            </a:extLst>
          </p:cNvPr>
          <p:cNvSpPr/>
          <p:nvPr/>
        </p:nvSpPr>
        <p:spPr>
          <a:xfrm>
            <a:off x="892058" y="904810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CDDDDA5-9CDF-EC93-88C1-71FA415FC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161" y="2544749"/>
            <a:ext cx="11790606" cy="6584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2F330-349B-9C1F-1894-AF1A5AB6F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91" y="3723699"/>
            <a:ext cx="3826775" cy="247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33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58761"/>
            <a:ext cx="16230600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Back-end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Clean Architecture</a:t>
            </a:r>
          </a:p>
        </p:txBody>
      </p:sp>
      <p:sp>
        <p:nvSpPr>
          <p:cNvPr id="9" name="Freeform 9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1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4" name="Group 2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42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89D7B3-AD58-897A-7E77-24D9B8010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463" y="2270098"/>
            <a:ext cx="6705600" cy="62695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55617C-C283-36AC-FD4A-6DEF8DFE07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8" b="27935"/>
          <a:stretch>
            <a:fillRect/>
          </a:stretch>
        </p:blipFill>
        <p:spPr>
          <a:xfrm>
            <a:off x="11016906" y="3375502"/>
            <a:ext cx="4898948" cy="1064395"/>
          </a:xfrm>
          <a:prstGeom prst="rect">
            <a:avLst/>
          </a:prstGeom>
        </p:spPr>
      </p:pic>
      <p:sp>
        <p:nvSpPr>
          <p:cNvPr id="31" name="Google Shape;453;p24">
            <a:extLst>
              <a:ext uri="{FF2B5EF4-FFF2-40B4-BE49-F238E27FC236}">
                <a16:creationId xmlns:a16="http://schemas.microsoft.com/office/drawing/2014/main" id="{CE088E27-EC68-075A-1281-EC5C0BAC1F32}"/>
              </a:ext>
            </a:extLst>
          </p:cNvPr>
          <p:cNvSpPr txBox="1">
            <a:spLocks/>
          </p:cNvSpPr>
          <p:nvPr/>
        </p:nvSpPr>
        <p:spPr>
          <a:xfrm>
            <a:off x="8869492" y="6672756"/>
            <a:ext cx="5121354" cy="942809"/>
          </a:xfrm>
          <a:prstGeom prst="rect">
            <a:avLst/>
          </a:prstGeom>
          <a:ln>
            <a:solidFill>
              <a:srgbClr val="EC209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107950" indent="0" algn="ctr" rtl="1">
              <a:lnSpc>
                <a:spcPct val="100000"/>
              </a:lnSpc>
              <a:buNone/>
            </a:pPr>
            <a:r>
              <a:rPr lang="ar-SY" sz="5000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البنية النظيفة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Design Patterns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8" name="Group 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43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53979" y="563001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الأنماط التصميمية المستخدمة</a:t>
            </a:r>
            <a:endParaRPr lang="en-US" sz="8499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4982801" y="637964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286000" y="-40228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Google Shape;453;p24">
            <a:extLst>
              <a:ext uri="{FF2B5EF4-FFF2-40B4-BE49-F238E27FC236}">
                <a16:creationId xmlns:a16="http://schemas.microsoft.com/office/drawing/2014/main" id="{8AFCB0C0-3051-47AF-7E59-16BEC4FA83A8}"/>
              </a:ext>
            </a:extLst>
          </p:cNvPr>
          <p:cNvSpPr txBox="1">
            <a:spLocks/>
          </p:cNvSpPr>
          <p:nvPr/>
        </p:nvSpPr>
        <p:spPr>
          <a:xfrm>
            <a:off x="4076699" y="2787085"/>
            <a:ext cx="10134600" cy="5562600"/>
          </a:xfrm>
          <a:prstGeom prst="rect">
            <a:avLst/>
          </a:prstGeom>
          <a:noFill/>
          <a:ln>
            <a:solidFill>
              <a:srgbClr val="F159B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107950" indent="0" algn="ctr" rtl="1">
              <a:lnSpc>
                <a:spcPct val="100000"/>
              </a:lnSpc>
              <a:buNone/>
            </a:pPr>
            <a:r>
              <a:rPr kumimoji="0" lang="en-US" sz="5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anosima"/>
                <a:sym typeface="Belanosima"/>
              </a:rPr>
              <a:t>Repository Pattern</a:t>
            </a:r>
          </a:p>
          <a:p>
            <a:pPr marL="107950" indent="0" algn="ctr" rtl="1">
              <a:lnSpc>
                <a:spcPct val="100000"/>
              </a:lnSpc>
              <a:buNone/>
            </a:pPr>
            <a:endParaRPr lang="en-US" sz="5300" kern="0" dirty="0">
              <a:solidFill>
                <a:prstClr val="black"/>
              </a:solidFill>
              <a:latin typeface="Belanosima"/>
              <a:cs typeface="Traditional Arabic" panose="02020603050405020304" pitchFamily="18" charset="-78"/>
              <a:sym typeface="Belanosima"/>
            </a:endParaRPr>
          </a:p>
          <a:p>
            <a:pPr marL="107950" indent="0" algn="ctr" rtl="1">
              <a:lnSpc>
                <a:spcPct val="100000"/>
              </a:lnSpc>
              <a:buNone/>
            </a:pPr>
            <a:r>
              <a:rPr lang="en-US" sz="4800" dirty="0">
                <a:solidFill>
                  <a:schemeClr val="tx1"/>
                </a:solidFill>
              </a:rPr>
              <a:t>Unit Of Work Pattern</a:t>
            </a:r>
          </a:p>
          <a:p>
            <a:pPr marL="107950" indent="0" algn="ctr" rtl="1">
              <a:lnSpc>
                <a:spcPct val="100000"/>
              </a:lnSpc>
              <a:buNone/>
            </a:pPr>
            <a:endParaRPr lang="en-US" sz="4800" dirty="0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107950" indent="0" algn="ctr" rtl="1">
              <a:lnSpc>
                <a:spcPct val="100000"/>
              </a:lnSpc>
              <a:buNone/>
            </a:pPr>
            <a:r>
              <a:rPr lang="en-US" sz="4800" dirty="0">
                <a:solidFill>
                  <a:schemeClr val="tx1"/>
                </a:solidFill>
              </a:rPr>
              <a:t>CQRS Pattern</a:t>
            </a:r>
          </a:p>
          <a:p>
            <a:pPr marL="107950" indent="0" algn="ctr" rtl="1">
              <a:lnSpc>
                <a:spcPct val="100000"/>
              </a:lnSpc>
              <a:buNone/>
            </a:pPr>
            <a:endParaRPr lang="en-US" sz="4800" dirty="0">
              <a:solidFill>
                <a:schemeClr val="tx1"/>
              </a:solidFill>
            </a:endParaRPr>
          </a:p>
          <a:p>
            <a:pPr marL="107950" indent="0" algn="ctr" rtl="1">
              <a:lnSpc>
                <a:spcPct val="100000"/>
              </a:lnSpc>
              <a:buNone/>
            </a:pPr>
            <a:r>
              <a:rPr lang="en-US" sz="4800" dirty="0">
                <a:solidFill>
                  <a:schemeClr val="tx1"/>
                </a:solidFill>
              </a:rPr>
              <a:t>Singelton Pattern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66094-3FB9-78B3-CCD1-2779F3AF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D3DFC78-28D2-0EB6-7382-0D047042E139}"/>
              </a:ext>
            </a:extLst>
          </p:cNvPr>
          <p:cNvSpPr txBox="1"/>
          <p:nvPr/>
        </p:nvSpPr>
        <p:spPr>
          <a:xfrm>
            <a:off x="1028700" y="658761"/>
            <a:ext cx="16230600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Front-end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46EC802-ADCD-41EA-599E-09B02690723B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atsi"/>
                <a:ea typeface="Alatsi"/>
                <a:cs typeface="Alatsi"/>
                <a:sym typeface="Alatsi"/>
              </a:rPr>
              <a:t>React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04BD408-4C71-7557-E767-10444C4ADF1C}"/>
              </a:ext>
            </a:extLst>
          </p:cNvPr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100BE8A0-0CB1-6B5A-0D88-0C625F5CAE12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F63890E-30E6-DFDD-7665-ED68B88B8BEC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82A7BD0-C3BF-C401-88F4-2940FD3A086B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38DB29E1-FD0D-C182-B4B6-8993A7C06693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5" name="Freeform 25">
                <a:extLst>
                  <a:ext uri="{FF2B5EF4-FFF2-40B4-BE49-F238E27FC236}">
                    <a16:creationId xmlns:a16="http://schemas.microsoft.com/office/drawing/2014/main" id="{EAA4CF23-42B6-26B1-A53E-29B103A1D30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6" name="TextBox 26">
                <a:extLst>
                  <a:ext uri="{FF2B5EF4-FFF2-40B4-BE49-F238E27FC236}">
                    <a16:creationId xmlns:a16="http://schemas.microsoft.com/office/drawing/2014/main" id="{68E8AB75-574F-3D22-3982-458FB1B3F49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4D7DDA2D-5B2A-0FFD-1648-49BF075ED778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44</a:t>
              </a: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4A6F15C2-2A52-331A-AEA2-F81077A721FB}"/>
              </a:ext>
            </a:extLst>
          </p:cNvPr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Google Shape;453;p24">
            <a:extLst>
              <a:ext uri="{FF2B5EF4-FFF2-40B4-BE49-F238E27FC236}">
                <a16:creationId xmlns:a16="http://schemas.microsoft.com/office/drawing/2014/main" id="{0BF2DFD4-E52D-E93C-8CB4-C24C54ED1A3A}"/>
              </a:ext>
            </a:extLst>
          </p:cNvPr>
          <p:cNvSpPr txBox="1">
            <a:spLocks/>
          </p:cNvSpPr>
          <p:nvPr/>
        </p:nvSpPr>
        <p:spPr>
          <a:xfrm>
            <a:off x="10024377" y="4266347"/>
            <a:ext cx="5121354" cy="942809"/>
          </a:xfrm>
          <a:prstGeom prst="rect">
            <a:avLst/>
          </a:prstGeom>
          <a:ln>
            <a:solidFill>
              <a:srgbClr val="EC209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109728" indent="0" algn="ctr" rtl="1" eaLnBrk="1" latinLnBrk="0" hangingPunct="1">
              <a:buNone/>
            </a:pPr>
            <a:r>
              <a:rPr lang="en-US" sz="5000" kern="1200">
                <a:solidFill>
                  <a:srgbClr val="000000"/>
                </a:solidFill>
                <a:effectLst/>
                <a:latin typeface="Traditional Arabic" panose="02020603050405020304" pitchFamily="18" charset="-78"/>
                <a:ea typeface="+mn-ea"/>
                <a:cs typeface="Traditional Arabic" panose="02020603050405020304" pitchFamily="18" charset="-78"/>
              </a:rPr>
              <a:t>Component Based</a:t>
            </a:r>
            <a:endParaRPr lang="en-US" sz="480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01318-34BD-D5F6-8B47-45FB42FC3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25" y="3226327"/>
            <a:ext cx="5775360" cy="3022848"/>
          </a:xfrm>
          <a:prstGeom prst="rect">
            <a:avLst/>
          </a:prstGeom>
        </p:spPr>
      </p:pic>
      <p:sp>
        <p:nvSpPr>
          <p:cNvPr id="5" name="Google Shape;453;p24">
            <a:extLst>
              <a:ext uri="{FF2B5EF4-FFF2-40B4-BE49-F238E27FC236}">
                <a16:creationId xmlns:a16="http://schemas.microsoft.com/office/drawing/2014/main" id="{1E2F3CAB-8C45-FE19-DBE5-CF2A8DCC578E}"/>
              </a:ext>
            </a:extLst>
          </p:cNvPr>
          <p:cNvSpPr txBox="1">
            <a:spLocks/>
          </p:cNvSpPr>
          <p:nvPr/>
        </p:nvSpPr>
        <p:spPr>
          <a:xfrm>
            <a:off x="10024377" y="6975959"/>
            <a:ext cx="5121354" cy="942809"/>
          </a:xfrm>
          <a:prstGeom prst="rect">
            <a:avLst/>
          </a:prstGeom>
          <a:ln>
            <a:solidFill>
              <a:srgbClr val="EC209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107950" indent="0" algn="ctr" rtl="1">
              <a:lnSpc>
                <a:spcPct val="100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Lazy loading</a:t>
            </a:r>
            <a:endParaRPr lang="ar-SY" sz="5000" dirty="0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1" name="Google Shape;453;p24">
            <a:extLst>
              <a:ext uri="{FF2B5EF4-FFF2-40B4-BE49-F238E27FC236}">
                <a16:creationId xmlns:a16="http://schemas.microsoft.com/office/drawing/2014/main" id="{6312571F-FFCE-B04B-066E-E8500105E22C}"/>
              </a:ext>
            </a:extLst>
          </p:cNvPr>
          <p:cNvSpPr txBox="1">
            <a:spLocks/>
          </p:cNvSpPr>
          <p:nvPr/>
        </p:nvSpPr>
        <p:spPr>
          <a:xfrm>
            <a:off x="12422124" y="2786439"/>
            <a:ext cx="5121354" cy="942809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109728" indent="0" algn="ctr" rtl="1" eaLnBrk="1" latinLnBrk="0" hangingPunct="1">
              <a:buNone/>
            </a:pPr>
            <a:r>
              <a:rPr lang="en-US" sz="5000" kern="1200">
                <a:solidFill>
                  <a:srgbClr val="000000"/>
                </a:solidFill>
                <a:effectLst/>
                <a:latin typeface="Traditional Arabic" panose="02020603050405020304" pitchFamily="18" charset="-78"/>
                <a:ea typeface="+mn-ea"/>
                <a:cs typeface="Traditional Arabic" panose="02020603050405020304" pitchFamily="18" charset="-78"/>
              </a:rPr>
              <a:t>Single page</a:t>
            </a:r>
            <a:endParaRPr lang="en-US" sz="4800">
              <a:effectLst/>
            </a:endParaRPr>
          </a:p>
        </p:txBody>
      </p:sp>
      <p:sp>
        <p:nvSpPr>
          <p:cNvPr id="12" name="Google Shape;453;p24">
            <a:extLst>
              <a:ext uri="{FF2B5EF4-FFF2-40B4-BE49-F238E27FC236}">
                <a16:creationId xmlns:a16="http://schemas.microsoft.com/office/drawing/2014/main" id="{4D4E9AA6-B239-C89D-9A46-56585E224FF8}"/>
              </a:ext>
            </a:extLst>
          </p:cNvPr>
          <p:cNvSpPr txBox="1">
            <a:spLocks/>
          </p:cNvSpPr>
          <p:nvPr/>
        </p:nvSpPr>
        <p:spPr>
          <a:xfrm>
            <a:off x="7162800" y="5623039"/>
            <a:ext cx="5121354" cy="942809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107950" lvl="0" indent="0" algn="ctr" rtl="1">
              <a:lnSpc>
                <a:spcPct val="100000"/>
              </a:lnSpc>
              <a:buClr>
                <a:srgbClr val="1F497D"/>
              </a:buClr>
              <a:buNone/>
              <a:defRPr/>
            </a:pPr>
            <a:r>
              <a:rPr lang="en-US" sz="5000">
                <a:solidFill>
                  <a:prstClr val="black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Interactive UI</a:t>
            </a:r>
            <a:endParaRPr lang="ar-SY" sz="5000" dirty="0">
              <a:solidFill>
                <a:prstClr val="black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33051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7059D-AD3C-E47F-BC83-3CFAFD4C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4D2EF9C-16F8-4472-A772-5EDDE0806AC4}"/>
              </a:ext>
            </a:extLst>
          </p:cNvPr>
          <p:cNvSpPr txBox="1"/>
          <p:nvPr/>
        </p:nvSpPr>
        <p:spPr>
          <a:xfrm>
            <a:off x="1028700" y="658761"/>
            <a:ext cx="16230600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الاختبارات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DE0E4A7-F234-E9F2-CEB1-DC0681B0D4C2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Testing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187B983-E4F4-0825-7816-07B56B19848E}"/>
              </a:ext>
            </a:extLst>
          </p:cNvPr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43EB800-B8C4-0755-5D93-5C916037BB80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D26A7EE-9734-6754-5676-EF016B14BE87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539413B3-3669-6356-CD05-FAB38E20D9E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63592E3A-E376-58E3-1029-E853E4C4801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5" name="Freeform 25">
                <a:extLst>
                  <a:ext uri="{FF2B5EF4-FFF2-40B4-BE49-F238E27FC236}">
                    <a16:creationId xmlns:a16="http://schemas.microsoft.com/office/drawing/2014/main" id="{FF86DD79-B013-3FD0-32D9-64CD06410AF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6" name="TextBox 26">
                <a:extLst>
                  <a:ext uri="{FF2B5EF4-FFF2-40B4-BE49-F238E27FC236}">
                    <a16:creationId xmlns:a16="http://schemas.microsoft.com/office/drawing/2014/main" id="{BBFC29A5-791F-05A0-D986-E12FE023366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D681D7E-73CB-708F-2BB7-116E741405BA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45</a:t>
              </a: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54A35871-F96D-22B8-70EF-3DF4E40CB0EE}"/>
              </a:ext>
            </a:extLst>
          </p:cNvPr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Google Shape;453;p24">
            <a:extLst>
              <a:ext uri="{FF2B5EF4-FFF2-40B4-BE49-F238E27FC236}">
                <a16:creationId xmlns:a16="http://schemas.microsoft.com/office/drawing/2014/main" id="{882AC00F-42D5-0415-1F38-7C2A1E2D19F6}"/>
              </a:ext>
            </a:extLst>
          </p:cNvPr>
          <p:cNvSpPr txBox="1">
            <a:spLocks/>
          </p:cNvSpPr>
          <p:nvPr/>
        </p:nvSpPr>
        <p:spPr>
          <a:xfrm>
            <a:off x="4076700" y="3278426"/>
            <a:ext cx="10134600" cy="4844876"/>
          </a:xfrm>
          <a:prstGeom prst="rect">
            <a:avLst/>
          </a:prstGeom>
          <a:noFill/>
          <a:ln>
            <a:solidFill>
              <a:srgbClr val="EC209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●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Light"/>
              <a:buChar char="○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Lexend Light"/>
              <a:buChar char="■"/>
              <a:defRPr sz="1900" b="0" i="0" u="none" strike="noStrike" cap="none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107950" indent="0" algn="ctr" rtl="1">
              <a:lnSpc>
                <a:spcPct val="100000"/>
              </a:lnSpc>
              <a:buNone/>
            </a:pPr>
            <a:r>
              <a:rPr kumimoji="0" lang="en-US" sz="5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anosima" panose="020B0604020202020204" charset="0"/>
                <a:cs typeface="Belanosima" panose="020B0604020202020204" charset="0"/>
                <a:sym typeface="Belanosima"/>
              </a:rPr>
              <a:t>Integration Test</a:t>
            </a:r>
            <a:endParaRPr lang="en-US" sz="5300" kern="0" dirty="0">
              <a:solidFill>
                <a:prstClr val="black"/>
              </a:solidFill>
              <a:latin typeface="Belanosima" panose="020B0604020202020204" charset="0"/>
              <a:cs typeface="Belanosima" panose="020B0604020202020204" charset="0"/>
              <a:sym typeface="Belanosima"/>
            </a:endParaRPr>
          </a:p>
          <a:p>
            <a:pPr marL="107950" indent="0" algn="ctr" rtl="1">
              <a:lnSpc>
                <a:spcPct val="100000"/>
              </a:lnSpc>
              <a:buNone/>
            </a:pPr>
            <a:endParaRPr lang="en-US" sz="4800" dirty="0">
              <a:solidFill>
                <a:schemeClr val="tx1"/>
              </a:solidFill>
              <a:latin typeface="Belanosima" panose="020B0604020202020204" charset="0"/>
              <a:cs typeface="Belanosima" panose="020B0604020202020204" charset="0"/>
            </a:endParaRPr>
          </a:p>
          <a:p>
            <a:pPr marL="107950" indent="0" algn="ctr" rtl="1">
              <a:lnSpc>
                <a:spcPct val="100000"/>
              </a:lnSpc>
              <a:buNone/>
            </a:pPr>
            <a:r>
              <a:rPr lang="en-US" sz="4800" dirty="0">
                <a:solidFill>
                  <a:schemeClr val="tx1"/>
                </a:solidFill>
                <a:latin typeface="Belanosima" panose="020B0604020202020204" charset="0"/>
                <a:cs typeface="Belanosima" panose="020B0604020202020204" charset="0"/>
              </a:rPr>
              <a:t>Auth-auth test</a:t>
            </a:r>
          </a:p>
          <a:p>
            <a:pPr marL="107950" indent="0" algn="ctr" rtl="1">
              <a:lnSpc>
                <a:spcPct val="100000"/>
              </a:lnSpc>
              <a:buNone/>
            </a:pPr>
            <a:endParaRPr lang="en-US" sz="4800" dirty="0">
              <a:solidFill>
                <a:schemeClr val="tx1"/>
              </a:solidFill>
              <a:latin typeface="Belanosima" panose="020B0604020202020204" charset="0"/>
              <a:cs typeface="Belanosima" panose="020B0604020202020204" charset="0"/>
            </a:endParaRPr>
          </a:p>
          <a:p>
            <a:pPr marL="107950" indent="0" algn="ctr" rtl="1">
              <a:lnSpc>
                <a:spcPct val="100000"/>
              </a:lnSpc>
              <a:buNone/>
            </a:pPr>
            <a:r>
              <a:rPr lang="en-US" sz="4800" dirty="0">
                <a:solidFill>
                  <a:schemeClr val="tx1"/>
                </a:solidFill>
                <a:latin typeface="Belanosima" panose="020B0604020202020204" charset="0"/>
                <a:cs typeface="Belanosima" panose="020B0604020202020204" charset="0"/>
              </a:rPr>
              <a:t>unit test</a:t>
            </a:r>
            <a:endParaRPr lang="ar-SY" sz="4800" dirty="0">
              <a:solidFill>
                <a:schemeClr val="tx1"/>
              </a:solidFill>
              <a:latin typeface="Belanosima" panose="020B0604020202020204" charset="0"/>
              <a:cs typeface="Belanosim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4422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4FB06-B1CE-1629-156A-5801D289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A790E4DC-C31B-7A49-88A5-E97912579423}"/>
              </a:ext>
            </a:extLst>
          </p:cNvPr>
          <p:cNvSpPr/>
          <p:nvPr/>
        </p:nvSpPr>
        <p:spPr>
          <a:xfrm>
            <a:off x="-5334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58AB2CB-0B92-6F9B-88FF-755A5BA2AA27}"/>
              </a:ext>
            </a:extLst>
          </p:cNvPr>
          <p:cNvSpPr/>
          <p:nvPr/>
        </p:nvSpPr>
        <p:spPr>
          <a:xfrm>
            <a:off x="13269522" y="815366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7025988-072A-81ED-970D-506895C6E22E}"/>
              </a:ext>
            </a:extLst>
          </p:cNvPr>
          <p:cNvSpPr/>
          <p:nvPr/>
        </p:nvSpPr>
        <p:spPr>
          <a:xfrm>
            <a:off x="11716136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78720D-1749-FCE6-9B76-B0754F6132FD}"/>
              </a:ext>
            </a:extLst>
          </p:cNvPr>
          <p:cNvSpPr txBox="1"/>
          <p:nvPr/>
        </p:nvSpPr>
        <p:spPr>
          <a:xfrm>
            <a:off x="2553980" y="647700"/>
            <a:ext cx="13180039" cy="139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8499" b="1" i="0" u="none" strike="noStrike" kern="1200" cap="none" spc="0" normalizeH="0" baseline="0" noProof="0" dirty="0">
                <a:ln w="13462">
                  <a:solidFill>
                    <a:prstClr val="white"/>
                  </a:solidFill>
                  <a:prstDash val="solid"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dist="38100" dir="2700000" algn="bl" rotWithShape="0">
                    <a:srgbClr val="4BACC6"/>
                  </a:outerShdw>
                </a:effectLst>
                <a:uLnTx/>
                <a:uFillTx/>
                <a:latin typeface="Droid Arabic Naskh Bold" panose="020B0604020202020204" charset="0"/>
                <a:ea typeface="Alatsi"/>
                <a:cs typeface="Droid Arabic Naskh Bold" panose="020B0604020202020204" charset="0"/>
                <a:sym typeface="Alatsi"/>
              </a:rPr>
              <a:t>محتويات العرض</a:t>
            </a:r>
            <a:endParaRPr kumimoji="0" lang="en-US" sz="8499" b="1" i="0" u="none" strike="noStrike" kern="1200" cap="none" spc="0" normalizeH="0" baseline="0" noProof="0" dirty="0">
              <a:ln w="13462">
                <a:solidFill>
                  <a:prstClr val="white"/>
                </a:solidFill>
                <a:prstDash val="solid"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dist="38100" dir="2700000" algn="bl" rotWithShape="0">
                  <a:srgbClr val="4BACC6"/>
                </a:outerShdw>
              </a:effectLst>
              <a:uLnTx/>
              <a:uFillTx/>
              <a:latin typeface="Droid Arabic Naskh Bold" panose="020B0604020202020204" charset="0"/>
              <a:ea typeface="Alatsi"/>
              <a:cs typeface="Droid Arabic Naskh Bold" panose="020B0604020202020204" charset="0"/>
              <a:sym typeface="Alats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526D4EB-A1CA-7F04-4EE9-F6AEF07F4CE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7CA2B8E-C91A-76E6-F310-7BBCFD6FFA5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B3378EA-4D3E-0F0F-729B-45A527B61D6E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8728758-0F0F-5EFC-34FA-D82252FBF9B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DB8DFE3-E411-0CCE-0043-B342C42BD5DA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780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7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Bold"/>
                  <a:ea typeface="Open Sans Bold"/>
                  <a:cs typeface="Open Sans Bold"/>
                  <a:sym typeface="Open Sans Bold"/>
                </a:rPr>
                <a:t>46</a:t>
              </a:r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E522870C-3CD4-DF4C-FC46-4CB818B05199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3">
            <a:extLst>
              <a:ext uri="{FF2B5EF4-FFF2-40B4-BE49-F238E27FC236}">
                <a16:creationId xmlns:a16="http://schemas.microsoft.com/office/drawing/2014/main" id="{0F4A6EA2-F6DC-9755-F1C5-7FE13AE921B6}"/>
              </a:ext>
            </a:extLst>
          </p:cNvPr>
          <p:cNvGrpSpPr/>
          <p:nvPr/>
        </p:nvGrpSpPr>
        <p:grpSpPr>
          <a:xfrm>
            <a:off x="11698459" y="3268192"/>
            <a:ext cx="3142129" cy="931128"/>
            <a:chOff x="0" y="0"/>
            <a:chExt cx="8868713" cy="3287792"/>
          </a:xfrm>
        </p:grpSpPr>
        <p:grpSp>
          <p:nvGrpSpPr>
            <p:cNvPr id="29" name="Group 4">
              <a:extLst>
                <a:ext uri="{FF2B5EF4-FFF2-40B4-BE49-F238E27FC236}">
                  <a16:creationId xmlns:a16="http://schemas.microsoft.com/office/drawing/2014/main" id="{07F77632-293D-AB43-787A-8157315D254A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A7DFED0F-E23D-4DB0-B7BC-49B7ABF9B2D5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2" name="TextBox 6">
                <a:extLst>
                  <a:ext uri="{FF2B5EF4-FFF2-40B4-BE49-F238E27FC236}">
                    <a16:creationId xmlns:a16="http://schemas.microsoft.com/office/drawing/2014/main" id="{F87813BB-6CC2-E62C-6564-0825297A41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1C3CC9F6-9971-0D5A-F240-CC85B214BDF1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8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الدراسة المرجعية</a:t>
              </a:r>
              <a:endParaRPr lang="en-US" sz="38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3" name="Google Shape;199;p32">
            <a:extLst>
              <a:ext uri="{FF2B5EF4-FFF2-40B4-BE49-F238E27FC236}">
                <a16:creationId xmlns:a16="http://schemas.microsoft.com/office/drawing/2014/main" id="{B283971F-0A13-55BC-23D9-96C5F512B76A}"/>
              </a:ext>
            </a:extLst>
          </p:cNvPr>
          <p:cNvSpPr txBox="1">
            <a:spLocks/>
          </p:cNvSpPr>
          <p:nvPr/>
        </p:nvSpPr>
        <p:spPr>
          <a:xfrm>
            <a:off x="15009413" y="3219010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01</a:t>
            </a: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E7A8EE0C-D2F7-3F02-B8AD-29A9761C8A03}"/>
              </a:ext>
            </a:extLst>
          </p:cNvPr>
          <p:cNvGrpSpPr/>
          <p:nvPr/>
        </p:nvGrpSpPr>
        <p:grpSpPr>
          <a:xfrm>
            <a:off x="11699034" y="4945304"/>
            <a:ext cx="3142129" cy="931128"/>
            <a:chOff x="0" y="0"/>
            <a:chExt cx="8868713" cy="3287792"/>
          </a:xfrm>
        </p:grpSpPr>
        <p:grpSp>
          <p:nvGrpSpPr>
            <p:cNvPr id="35" name="Group 4">
              <a:extLst>
                <a:ext uri="{FF2B5EF4-FFF2-40B4-BE49-F238E27FC236}">
                  <a16:creationId xmlns:a16="http://schemas.microsoft.com/office/drawing/2014/main" id="{C78032C9-EBEC-D0E2-406E-62CC55DCEBF0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37" name="Freeform 5">
                <a:extLst>
                  <a:ext uri="{FF2B5EF4-FFF2-40B4-BE49-F238E27FC236}">
                    <a16:creationId xmlns:a16="http://schemas.microsoft.com/office/drawing/2014/main" id="{A5A8197A-D9F7-AA79-0C1F-90D327029FEE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38" name="TextBox 6">
                <a:extLst>
                  <a:ext uri="{FF2B5EF4-FFF2-40B4-BE49-F238E27FC236}">
                    <a16:creationId xmlns:a16="http://schemas.microsoft.com/office/drawing/2014/main" id="{A2F46F60-0F2D-EDA3-8B8E-6915DA41C88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7">
              <a:extLst>
                <a:ext uri="{FF2B5EF4-FFF2-40B4-BE49-F238E27FC236}">
                  <a16:creationId xmlns:a16="http://schemas.microsoft.com/office/drawing/2014/main" id="{F5683BF7-3EFE-50EE-0108-08ECD2A7FE6C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36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شرح العمل المنجز</a:t>
              </a:r>
              <a:endParaRPr lang="en-US" sz="36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39" name="Google Shape;199;p32">
            <a:extLst>
              <a:ext uri="{FF2B5EF4-FFF2-40B4-BE49-F238E27FC236}">
                <a16:creationId xmlns:a16="http://schemas.microsoft.com/office/drawing/2014/main" id="{9AC47DE8-5C83-EEFD-47C6-51DE89074890}"/>
              </a:ext>
            </a:extLst>
          </p:cNvPr>
          <p:cNvSpPr txBox="1">
            <a:spLocks/>
          </p:cNvSpPr>
          <p:nvPr/>
        </p:nvSpPr>
        <p:spPr>
          <a:xfrm>
            <a:off x="15009988" y="489612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40" name="Group 3">
            <a:extLst>
              <a:ext uri="{FF2B5EF4-FFF2-40B4-BE49-F238E27FC236}">
                <a16:creationId xmlns:a16="http://schemas.microsoft.com/office/drawing/2014/main" id="{3A661A79-D4F9-6B35-7A5D-80B8E93776CD}"/>
              </a:ext>
            </a:extLst>
          </p:cNvPr>
          <p:cNvGrpSpPr/>
          <p:nvPr/>
        </p:nvGrpSpPr>
        <p:grpSpPr>
          <a:xfrm>
            <a:off x="4080446" y="4221914"/>
            <a:ext cx="3142129" cy="931128"/>
            <a:chOff x="0" y="0"/>
            <a:chExt cx="8868713" cy="3287792"/>
          </a:xfrm>
        </p:grpSpPr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17D0CD04-2EED-6F99-FCB0-00E6795EDE47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43" name="Freeform 5">
                <a:extLst>
                  <a:ext uri="{FF2B5EF4-FFF2-40B4-BE49-F238E27FC236}">
                    <a16:creationId xmlns:a16="http://schemas.microsoft.com/office/drawing/2014/main" id="{6F9FB548-6040-2912-AC01-25F4D6D5B9DE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44" name="TextBox 6">
                <a:extLst>
                  <a:ext uri="{FF2B5EF4-FFF2-40B4-BE49-F238E27FC236}">
                    <a16:creationId xmlns:a16="http://schemas.microsoft.com/office/drawing/2014/main" id="{30865324-F1D2-D7F0-B4D4-1B62E58C92A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7">
              <a:extLst>
                <a:ext uri="{FF2B5EF4-FFF2-40B4-BE49-F238E27FC236}">
                  <a16:creationId xmlns:a16="http://schemas.microsoft.com/office/drawing/2014/main" id="{52AB36F6-F729-16E0-0499-07172C74141F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النموذج المقترح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45" name="Google Shape;199;p32">
            <a:extLst>
              <a:ext uri="{FF2B5EF4-FFF2-40B4-BE49-F238E27FC236}">
                <a16:creationId xmlns:a16="http://schemas.microsoft.com/office/drawing/2014/main" id="{0B5C2CC8-AFBF-7585-FF46-2FF6075260B6}"/>
              </a:ext>
            </a:extLst>
          </p:cNvPr>
          <p:cNvSpPr txBox="1">
            <a:spLocks/>
          </p:cNvSpPr>
          <p:nvPr/>
        </p:nvSpPr>
        <p:spPr>
          <a:xfrm>
            <a:off x="7391400" y="4172732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1" name="Group 3">
            <a:extLst>
              <a:ext uri="{FF2B5EF4-FFF2-40B4-BE49-F238E27FC236}">
                <a16:creationId xmlns:a16="http://schemas.microsoft.com/office/drawing/2014/main" id="{32B4F525-641E-342D-3957-6893939C1865}"/>
              </a:ext>
            </a:extLst>
          </p:cNvPr>
          <p:cNvGrpSpPr/>
          <p:nvPr/>
        </p:nvGrpSpPr>
        <p:grpSpPr>
          <a:xfrm>
            <a:off x="4080446" y="5601151"/>
            <a:ext cx="3142129" cy="931128"/>
            <a:chOff x="0" y="0"/>
            <a:chExt cx="8868713" cy="3287792"/>
          </a:xfrm>
        </p:grpSpPr>
        <p:grpSp>
          <p:nvGrpSpPr>
            <p:cNvPr id="53" name="Group 4">
              <a:extLst>
                <a:ext uri="{FF2B5EF4-FFF2-40B4-BE49-F238E27FC236}">
                  <a16:creationId xmlns:a16="http://schemas.microsoft.com/office/drawing/2014/main" id="{C6AF0F3F-470C-560B-5277-97CBE968D0A6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97812995-38DF-917C-CDD0-AB57FF65ECA2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56" name="TextBox 6">
                <a:extLst>
                  <a:ext uri="{FF2B5EF4-FFF2-40B4-BE49-F238E27FC236}">
                    <a16:creationId xmlns:a16="http://schemas.microsoft.com/office/drawing/2014/main" id="{5462A200-E444-EF35-6440-E9A94C6863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4" name="TextBox 7">
              <a:extLst>
                <a:ext uri="{FF2B5EF4-FFF2-40B4-BE49-F238E27FC236}">
                  <a16:creationId xmlns:a16="http://schemas.microsoft.com/office/drawing/2014/main" id="{F4E86059-22C4-C7AF-63AB-74457AC2006A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التجارب والنتائج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57" name="Google Shape;199;p32">
            <a:extLst>
              <a:ext uri="{FF2B5EF4-FFF2-40B4-BE49-F238E27FC236}">
                <a16:creationId xmlns:a16="http://schemas.microsoft.com/office/drawing/2014/main" id="{E8F48819-BA81-B00A-5E66-E5381D43F82B}"/>
              </a:ext>
            </a:extLst>
          </p:cNvPr>
          <p:cNvSpPr txBox="1">
            <a:spLocks/>
          </p:cNvSpPr>
          <p:nvPr/>
        </p:nvSpPr>
        <p:spPr>
          <a:xfrm>
            <a:off x="7391400" y="555196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C2591C57-B84E-95C2-3A31-3BD45ABD6190}"/>
              </a:ext>
            </a:extLst>
          </p:cNvPr>
          <p:cNvGrpSpPr/>
          <p:nvPr/>
        </p:nvGrpSpPr>
        <p:grpSpPr>
          <a:xfrm>
            <a:off x="4080446" y="7017386"/>
            <a:ext cx="3142129" cy="931128"/>
            <a:chOff x="0" y="0"/>
            <a:chExt cx="8868713" cy="3287792"/>
          </a:xfrm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0FC8F23E-22C0-4A12-356F-D4501559D6D2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62" name="Freeform 5">
                <a:extLst>
                  <a:ext uri="{FF2B5EF4-FFF2-40B4-BE49-F238E27FC236}">
                    <a16:creationId xmlns:a16="http://schemas.microsoft.com/office/drawing/2014/main" id="{2C0788E1-B572-970C-21C5-DD5D6FD9A92D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63" name="TextBox 6">
                <a:extLst>
                  <a:ext uri="{FF2B5EF4-FFF2-40B4-BE49-F238E27FC236}">
                    <a16:creationId xmlns:a16="http://schemas.microsoft.com/office/drawing/2014/main" id="{F89F681D-9724-C6F9-4B47-7048F61CEC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1" name="TextBox 7">
              <a:extLst>
                <a:ext uri="{FF2B5EF4-FFF2-40B4-BE49-F238E27FC236}">
                  <a16:creationId xmlns:a16="http://schemas.microsoft.com/office/drawing/2014/main" id="{160AC316-3B25-DCA0-5218-FF170F545C9C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القسم البرمجي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71" name="Google Shape;199;p32">
            <a:extLst>
              <a:ext uri="{FF2B5EF4-FFF2-40B4-BE49-F238E27FC236}">
                <a16:creationId xmlns:a16="http://schemas.microsoft.com/office/drawing/2014/main" id="{A530E7C9-5505-EE67-6380-932A1EF59DD1}"/>
              </a:ext>
            </a:extLst>
          </p:cNvPr>
          <p:cNvSpPr txBox="1">
            <a:spLocks/>
          </p:cNvSpPr>
          <p:nvPr/>
        </p:nvSpPr>
        <p:spPr>
          <a:xfrm>
            <a:off x="7391400" y="6968204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72" name="Group 3">
            <a:extLst>
              <a:ext uri="{FF2B5EF4-FFF2-40B4-BE49-F238E27FC236}">
                <a16:creationId xmlns:a16="http://schemas.microsoft.com/office/drawing/2014/main" id="{5A163502-9BE7-8E46-A3C6-22C102099F53}"/>
              </a:ext>
            </a:extLst>
          </p:cNvPr>
          <p:cNvGrpSpPr/>
          <p:nvPr/>
        </p:nvGrpSpPr>
        <p:grpSpPr>
          <a:xfrm>
            <a:off x="11698457" y="6579011"/>
            <a:ext cx="3142129" cy="931128"/>
            <a:chOff x="0" y="0"/>
            <a:chExt cx="8868713" cy="3287792"/>
          </a:xfrm>
          <a:solidFill>
            <a:srgbClr val="F159B3"/>
          </a:solidFill>
        </p:grpSpPr>
        <p:grpSp>
          <p:nvGrpSpPr>
            <p:cNvPr id="73" name="Group 4">
              <a:extLst>
                <a:ext uri="{FF2B5EF4-FFF2-40B4-BE49-F238E27FC236}">
                  <a16:creationId xmlns:a16="http://schemas.microsoft.com/office/drawing/2014/main" id="{235737BA-09FF-2E27-A344-74F635AF133F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  <a:grpFill/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111D67D3-1F4C-1B21-C925-6664D4ADB81F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83" name="TextBox 6">
                <a:extLst>
                  <a:ext uri="{FF2B5EF4-FFF2-40B4-BE49-F238E27FC236}">
                    <a16:creationId xmlns:a16="http://schemas.microsoft.com/office/drawing/2014/main" id="{80ADFD23-B373-AF17-D347-BFCBEFAAB9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 rtl="1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4" name="TextBox 7">
              <a:extLst>
                <a:ext uri="{FF2B5EF4-FFF2-40B4-BE49-F238E27FC236}">
                  <a16:creationId xmlns:a16="http://schemas.microsoft.com/office/drawing/2014/main" id="{5271A68C-E3DD-6DEF-62A6-D3CFFC776706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الخاتمة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84" name="Google Shape;199;p32">
            <a:extLst>
              <a:ext uri="{FF2B5EF4-FFF2-40B4-BE49-F238E27FC236}">
                <a16:creationId xmlns:a16="http://schemas.microsoft.com/office/drawing/2014/main" id="{375A6778-604A-DC01-3373-D96BC1A05A3D}"/>
              </a:ext>
            </a:extLst>
          </p:cNvPr>
          <p:cNvSpPr txBox="1">
            <a:spLocks/>
          </p:cNvSpPr>
          <p:nvPr/>
        </p:nvSpPr>
        <p:spPr>
          <a:xfrm>
            <a:off x="15009411" y="6529829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ar-SY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03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85" name="Group 3">
            <a:extLst>
              <a:ext uri="{FF2B5EF4-FFF2-40B4-BE49-F238E27FC236}">
                <a16:creationId xmlns:a16="http://schemas.microsoft.com/office/drawing/2014/main" id="{3F645C0D-753A-797D-E356-E7DCB88331B4}"/>
              </a:ext>
            </a:extLst>
          </p:cNvPr>
          <p:cNvGrpSpPr/>
          <p:nvPr/>
        </p:nvGrpSpPr>
        <p:grpSpPr>
          <a:xfrm>
            <a:off x="4080446" y="2831765"/>
            <a:ext cx="3142129" cy="931128"/>
            <a:chOff x="0" y="0"/>
            <a:chExt cx="8868713" cy="3287792"/>
          </a:xfrm>
        </p:grpSpPr>
        <p:grpSp>
          <p:nvGrpSpPr>
            <p:cNvPr id="86" name="Group 4">
              <a:extLst>
                <a:ext uri="{FF2B5EF4-FFF2-40B4-BE49-F238E27FC236}">
                  <a16:creationId xmlns:a16="http://schemas.microsoft.com/office/drawing/2014/main" id="{3F686BAA-4588-BFBD-5E9F-5C75109A45AA}"/>
                </a:ext>
              </a:extLst>
            </p:cNvPr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88" name="Freeform 5">
                <a:extLst>
                  <a:ext uri="{FF2B5EF4-FFF2-40B4-BE49-F238E27FC236}">
                    <a16:creationId xmlns:a16="http://schemas.microsoft.com/office/drawing/2014/main" id="{C6C7FF92-F36E-511A-D003-40544CAE4CBB}"/>
                  </a:ext>
                </a:extLst>
              </p:cNvPr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9" name="TextBox 6">
                <a:extLst>
                  <a:ext uri="{FF2B5EF4-FFF2-40B4-BE49-F238E27FC236}">
                    <a16:creationId xmlns:a16="http://schemas.microsoft.com/office/drawing/2014/main" id="{DD937C7A-7DFF-803E-9983-2746CD85402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7" name="TextBox 7">
              <a:extLst>
                <a:ext uri="{FF2B5EF4-FFF2-40B4-BE49-F238E27FC236}">
                  <a16:creationId xmlns:a16="http://schemas.microsoft.com/office/drawing/2014/main" id="{B605BE99-4993-8CF2-B9B2-23B8867A7116}"/>
                </a:ext>
              </a:extLst>
            </p:cNvPr>
            <p:cNvSpPr txBox="1"/>
            <p:nvPr/>
          </p:nvSpPr>
          <p:spPr>
            <a:xfrm>
              <a:off x="566598" y="731668"/>
              <a:ext cx="7735512" cy="1901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4193"/>
                </a:lnSpc>
              </a:pPr>
              <a:r>
                <a:rPr lang="ar-SY" sz="4000" dirty="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مجموعة البيانات</a:t>
              </a:r>
              <a:endParaRPr lang="en-US" sz="4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sp>
        <p:nvSpPr>
          <p:cNvPr id="90" name="Google Shape;199;p32">
            <a:extLst>
              <a:ext uri="{FF2B5EF4-FFF2-40B4-BE49-F238E27FC236}">
                <a16:creationId xmlns:a16="http://schemas.microsoft.com/office/drawing/2014/main" id="{5735AA30-42B6-C78C-8EB3-A7337A8848E4}"/>
              </a:ext>
            </a:extLst>
          </p:cNvPr>
          <p:cNvSpPr txBox="1">
            <a:spLocks/>
          </p:cNvSpPr>
          <p:nvPr/>
        </p:nvSpPr>
        <p:spPr>
          <a:xfrm>
            <a:off x="7391400" y="2782583"/>
            <a:ext cx="1449212" cy="98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ontserrat"/>
              <a:buNone/>
              <a:defRPr sz="7000" b="1" i="0" u="none" strike="noStrike" cap="none">
                <a:solidFill>
                  <a:srgbClr val="4A8C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ra Sans Extra Condensed Medium"/>
              <a:buNone/>
              <a:defRPr sz="80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sz="5000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endParaRPr lang="en" sz="5000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2C9F485-8891-089C-98B8-4A6FE26A98D7}"/>
              </a:ext>
            </a:extLst>
          </p:cNvPr>
          <p:cNvCxnSpPr>
            <a:stCxn id="36" idx="1"/>
          </p:cNvCxnSpPr>
          <p:nvPr/>
        </p:nvCxnSpPr>
        <p:spPr>
          <a:xfrm rot="10800000">
            <a:off x="8840612" y="3213567"/>
            <a:ext cx="3059164" cy="2208256"/>
          </a:xfrm>
          <a:prstGeom prst="bentConnector3">
            <a:avLst/>
          </a:prstGeom>
          <a:ln>
            <a:solidFill>
              <a:srgbClr val="FF66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7789B180-F5DC-4CC3-9C58-CDA1EBE68D61}"/>
              </a:ext>
            </a:extLst>
          </p:cNvPr>
          <p:cNvCxnSpPr>
            <a:endCxn id="45" idx="3"/>
          </p:cNvCxnSpPr>
          <p:nvPr/>
        </p:nvCxnSpPr>
        <p:spPr>
          <a:xfrm rot="10800000">
            <a:off x="8840613" y="4665610"/>
            <a:ext cx="3058587" cy="756215"/>
          </a:xfrm>
          <a:prstGeom prst="bentConnector3">
            <a:avLst/>
          </a:prstGeom>
          <a:ln>
            <a:solidFill>
              <a:srgbClr val="F159B3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531E100-22BE-852A-A66F-A5F7F55B77FD}"/>
              </a:ext>
            </a:extLst>
          </p:cNvPr>
          <p:cNvCxnSpPr>
            <a:stCxn id="36" idx="1"/>
            <a:endCxn id="57" idx="3"/>
          </p:cNvCxnSpPr>
          <p:nvPr/>
        </p:nvCxnSpPr>
        <p:spPr>
          <a:xfrm rot="10800000" flipV="1">
            <a:off x="8840612" y="5421822"/>
            <a:ext cx="3059164" cy="623023"/>
          </a:xfrm>
          <a:prstGeom prst="bentConnector3">
            <a:avLst/>
          </a:prstGeom>
          <a:ln>
            <a:solidFill>
              <a:srgbClr val="EC2099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9550C2CE-B278-7EA8-0499-F1FD0BF99E8A}"/>
              </a:ext>
            </a:extLst>
          </p:cNvPr>
          <p:cNvCxnSpPr>
            <a:endCxn id="71" idx="3"/>
          </p:cNvCxnSpPr>
          <p:nvPr/>
        </p:nvCxnSpPr>
        <p:spPr>
          <a:xfrm rot="10800000" flipV="1">
            <a:off x="8840613" y="5421821"/>
            <a:ext cx="3058587" cy="2039259"/>
          </a:xfrm>
          <a:prstGeom prst="bentConnector3">
            <a:avLst/>
          </a:prstGeom>
          <a:ln>
            <a:solidFill>
              <a:srgbClr val="EE1EC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570339B8-A678-E5EF-8EB4-AAA0CC116BFD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</p:spTree>
    <p:extLst>
      <p:ext uri="{BB962C8B-B14F-4D97-AF65-F5344CB8AC3E}">
        <p14:creationId xmlns:p14="http://schemas.microsoft.com/office/powerpoint/2010/main" val="163647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2982860" y="749142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47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679044" y="866775"/>
            <a:ext cx="1092991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latsi"/>
                <a:ea typeface="Alatsi"/>
                <a:cs typeface="Alatsi"/>
                <a:sym typeface="Alatsi"/>
              </a:rPr>
              <a:t>الخاتمة</a:t>
            </a:r>
            <a:endParaRPr lang="en-US" sz="8499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09669" y="2895980"/>
            <a:ext cx="15554331" cy="5247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852"/>
              </a:lnSpc>
            </a:pPr>
            <a:r>
              <a:rPr lang="ar-SY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في الختام تم ما يلي</a:t>
            </a:r>
          </a:p>
          <a:p>
            <a:pPr algn="r" rtl="1">
              <a:lnSpc>
                <a:spcPts val="5852"/>
              </a:lnSpc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	</a:t>
            </a:r>
            <a:r>
              <a:rPr lang="ar-SY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الوصول لمقاربة لنموذج قادر على تصنيف وتحليل الأمراض النادرة بدقة مقبولة</a:t>
            </a:r>
          </a:p>
          <a:p>
            <a:pPr algn="r" rtl="1">
              <a:lnSpc>
                <a:spcPts val="5852"/>
              </a:lnSpc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	</a:t>
            </a:r>
          </a:p>
          <a:p>
            <a:pPr algn="r" rtl="1">
              <a:lnSpc>
                <a:spcPts val="5852"/>
              </a:lnSpc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	</a:t>
            </a:r>
            <a:r>
              <a:rPr lang="ar-SY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تم توظيف هذا النموذج ضمن تطبيق هندسي</a:t>
            </a:r>
          </a:p>
          <a:p>
            <a:pPr algn="r" rtl="1">
              <a:lnSpc>
                <a:spcPts val="5852"/>
              </a:lnSpc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	</a:t>
            </a:r>
          </a:p>
          <a:p>
            <a:pPr algn="r" rtl="1">
              <a:lnSpc>
                <a:spcPts val="5852"/>
              </a:lnSpc>
            </a:pP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	</a:t>
            </a:r>
            <a:r>
              <a:rPr lang="ar-SY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التطبيق منفذ وفق أساس البنية النظيفة الذي يسمح بالتوسعية في المستقبل وسهولة التعديل </a:t>
            </a:r>
            <a:r>
              <a:rPr lang="en-US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	</a:t>
            </a:r>
            <a:r>
              <a:rPr lang="ar-SY" sz="418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والصيانة </a:t>
            </a:r>
            <a:endParaRPr lang="en-US" sz="418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-3009325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CFB741B8-784D-FE5D-6DD8-B82C216DEF7E}"/>
              </a:ext>
            </a:extLst>
          </p:cNvPr>
          <p:cNvGrpSpPr/>
          <p:nvPr/>
        </p:nvGrpSpPr>
        <p:grpSpPr>
          <a:xfrm>
            <a:off x="16123500" y="3718872"/>
            <a:ext cx="516960" cy="516960"/>
            <a:chOff x="0" y="0"/>
            <a:chExt cx="812800" cy="812800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95062478-51A7-2886-9A36-57E929532A5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A31DF168-78E9-31EB-1F1D-73E719A772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2">
            <a:extLst>
              <a:ext uri="{FF2B5EF4-FFF2-40B4-BE49-F238E27FC236}">
                <a16:creationId xmlns:a16="http://schemas.microsoft.com/office/drawing/2014/main" id="{644A27FD-12C6-2623-949A-6FB728E2B31C}"/>
              </a:ext>
            </a:extLst>
          </p:cNvPr>
          <p:cNvGrpSpPr/>
          <p:nvPr/>
        </p:nvGrpSpPr>
        <p:grpSpPr>
          <a:xfrm>
            <a:off x="16123500" y="6646925"/>
            <a:ext cx="516960" cy="516960"/>
            <a:chOff x="0" y="0"/>
            <a:chExt cx="812800" cy="812800"/>
          </a:xfrm>
        </p:grpSpPr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184B160-2959-7D5D-9767-D6905AB6725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09475B2B-8D0B-6849-9938-97019C480FB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12">
            <a:extLst>
              <a:ext uri="{FF2B5EF4-FFF2-40B4-BE49-F238E27FC236}">
                <a16:creationId xmlns:a16="http://schemas.microsoft.com/office/drawing/2014/main" id="{C49D7995-DC8C-12AA-6315-64BFDAF9F5AB}"/>
              </a:ext>
            </a:extLst>
          </p:cNvPr>
          <p:cNvGrpSpPr/>
          <p:nvPr/>
        </p:nvGrpSpPr>
        <p:grpSpPr>
          <a:xfrm>
            <a:off x="16171965" y="5278085"/>
            <a:ext cx="516960" cy="516960"/>
            <a:chOff x="0" y="0"/>
            <a:chExt cx="812800" cy="812800"/>
          </a:xfrm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E3E2797-44C9-785A-622B-CDB05239CB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239C46E9-F809-650C-64FE-41483261DB2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10200" y="3092851"/>
            <a:ext cx="10008641" cy="792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580"/>
              </a:lnSpc>
            </a:pPr>
            <a:r>
              <a:rPr lang="ar-SY" sz="4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اختيار عدد أكبر من أنواع الصور للتحليل</a:t>
            </a:r>
            <a:endParaRPr lang="en-US" sz="47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41127" y="4922771"/>
            <a:ext cx="8777714" cy="792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580"/>
              </a:lnSpc>
            </a:pPr>
            <a:r>
              <a:rPr lang="ar-SY" sz="4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كتابة توصيفات أكثر دقة من قِبَل مختصين</a:t>
            </a:r>
            <a:endParaRPr lang="en-US" sz="47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3764167" y="637964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11959" y="866775"/>
            <a:ext cx="13464081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latsi"/>
                <a:ea typeface="Alatsi"/>
                <a:cs typeface="Alatsi"/>
                <a:sym typeface="Alatsi"/>
              </a:rPr>
              <a:t>التوصيات والآفاق المستقبلية</a:t>
            </a:r>
            <a:endParaRPr lang="en-US" sz="8499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876040" y="4974625"/>
            <a:ext cx="516960" cy="51696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876040" y="3278985"/>
            <a:ext cx="516960" cy="51696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-475864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16586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8" name="Group 18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48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-3657600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5B60C66C-493C-458E-211B-C8E581B13106}"/>
              </a:ext>
            </a:extLst>
          </p:cNvPr>
          <p:cNvSpPr txBox="1"/>
          <p:nvPr/>
        </p:nvSpPr>
        <p:spPr>
          <a:xfrm>
            <a:off x="1943465" y="6595532"/>
            <a:ext cx="13475376" cy="1639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580"/>
              </a:lnSpc>
            </a:pPr>
            <a:r>
              <a:rPr lang="ar-SY" sz="4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استخدام نموذج الذكاء الصنعي المقترح للوصول لحل مقبول في تصنيف الأمراض النادرة، بعد استكمال البحث والوصول لنتائج أفضل </a:t>
            </a:r>
            <a:endParaRPr lang="en-US" sz="47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grpSp>
        <p:nvGrpSpPr>
          <p:cNvPr id="24" name="Group 9">
            <a:extLst>
              <a:ext uri="{FF2B5EF4-FFF2-40B4-BE49-F238E27FC236}">
                <a16:creationId xmlns:a16="http://schemas.microsoft.com/office/drawing/2014/main" id="{110B0E68-60A0-86A9-7570-1D9D1F080D61}"/>
              </a:ext>
            </a:extLst>
          </p:cNvPr>
          <p:cNvGrpSpPr/>
          <p:nvPr/>
        </p:nvGrpSpPr>
        <p:grpSpPr>
          <a:xfrm>
            <a:off x="15876040" y="6647386"/>
            <a:ext cx="516960" cy="516960"/>
            <a:chOff x="0" y="0"/>
            <a:chExt cx="812800" cy="812800"/>
          </a:xfrm>
        </p:grpSpPr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77C82B8A-5162-AB63-070D-75E3CA05EB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214D71A4-2939-153F-7B59-AE49EC11356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8720-D2A2-C8E8-C189-98550751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BB6ACA2-8799-69F1-8A87-401D1ED9806F}"/>
              </a:ext>
            </a:extLst>
          </p:cNvPr>
          <p:cNvSpPr txBox="1"/>
          <p:nvPr/>
        </p:nvSpPr>
        <p:spPr>
          <a:xfrm>
            <a:off x="2133600" y="3092851"/>
            <a:ext cx="13285241" cy="792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580"/>
              </a:lnSpc>
            </a:pPr>
            <a:r>
              <a:rPr lang="ar-SY" sz="4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الوقت الطويل المستهلك في عملية التدريب خصوصاً التجربة الأخيرة</a:t>
            </a:r>
            <a:endParaRPr lang="en-US" sz="47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2889F62-0D3F-C381-FD37-6E7BCECE696C}"/>
              </a:ext>
            </a:extLst>
          </p:cNvPr>
          <p:cNvSpPr txBox="1"/>
          <p:nvPr/>
        </p:nvSpPr>
        <p:spPr>
          <a:xfrm>
            <a:off x="1752600" y="4922771"/>
            <a:ext cx="13666241" cy="792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580"/>
              </a:lnSpc>
            </a:pPr>
            <a:r>
              <a:rPr lang="ar-SY" sz="4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عدم توفر موارد كافية للتدريب، فلجأنا إلى حاسب زميل للتدريب </a:t>
            </a:r>
            <a:endParaRPr lang="en-US" sz="47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E91482C-D663-5FB0-8681-255093D9F6A4}"/>
              </a:ext>
            </a:extLst>
          </p:cNvPr>
          <p:cNvSpPr/>
          <p:nvPr/>
        </p:nvSpPr>
        <p:spPr>
          <a:xfrm>
            <a:off x="13764167" y="637964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BAB9CFD-9D47-2908-55F4-A7A03E907740}"/>
              </a:ext>
            </a:extLst>
          </p:cNvPr>
          <p:cNvSpPr txBox="1"/>
          <p:nvPr/>
        </p:nvSpPr>
        <p:spPr>
          <a:xfrm>
            <a:off x="2411959" y="866775"/>
            <a:ext cx="13464081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ar-SY" sz="8499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latsi"/>
                <a:ea typeface="Alatsi"/>
                <a:cs typeface="Alatsi"/>
                <a:sym typeface="Alatsi"/>
              </a:rPr>
              <a:t>الصعوبات</a:t>
            </a:r>
            <a:endParaRPr lang="en-US" sz="8499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0A1C1F-E0BC-9CBF-78A0-6D983E53355A}"/>
              </a:ext>
            </a:extLst>
          </p:cNvPr>
          <p:cNvSpPr txBox="1"/>
          <p:nvPr/>
        </p:nvSpPr>
        <p:spPr>
          <a:xfrm>
            <a:off x="5702946" y="8800282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Classification for rare diseases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DB3455D-AC93-7258-D82B-925AC12D3BE9}"/>
              </a:ext>
            </a:extLst>
          </p:cNvPr>
          <p:cNvGrpSpPr/>
          <p:nvPr/>
        </p:nvGrpSpPr>
        <p:grpSpPr>
          <a:xfrm>
            <a:off x="15876040" y="4974625"/>
            <a:ext cx="516960" cy="516960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062B027-0D3B-5069-9735-AE8254F506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CB8F296-FD82-1632-8ED3-8C01679717F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63C2609-F316-3F83-3247-166AA946ED80}"/>
              </a:ext>
            </a:extLst>
          </p:cNvPr>
          <p:cNvGrpSpPr/>
          <p:nvPr/>
        </p:nvGrpSpPr>
        <p:grpSpPr>
          <a:xfrm>
            <a:off x="15876040" y="3278985"/>
            <a:ext cx="516960" cy="516960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CA6FF38-F042-A736-A5FF-8CDAA57517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169336D-72C1-D285-1477-38F79FCB28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C3F4F106-F695-BA75-9F29-CB38A66A0F6B}"/>
              </a:ext>
            </a:extLst>
          </p:cNvPr>
          <p:cNvSpPr/>
          <p:nvPr/>
        </p:nvSpPr>
        <p:spPr>
          <a:xfrm>
            <a:off x="-6096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EDE9623-4768-FB11-30C4-FD8416D3EFF6}"/>
              </a:ext>
            </a:extLst>
          </p:cNvPr>
          <p:cNvSpPr/>
          <p:nvPr/>
        </p:nvSpPr>
        <p:spPr>
          <a:xfrm>
            <a:off x="11582400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343763A-C9EF-4ADC-2C0A-4AC48C2BF8CD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BBC9D406-BF94-52C3-FB0F-E351029A5F5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EB3ED42-9881-7712-EA50-B8F4895B563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4180312C-484F-D829-F821-9FE0B648C61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A88195B-CA6A-ADC5-57A0-191DFA610854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49</a:t>
              </a: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5551A277-F549-8CE5-4006-71C1C379782E}"/>
              </a:ext>
            </a:extLst>
          </p:cNvPr>
          <p:cNvSpPr/>
          <p:nvPr/>
        </p:nvSpPr>
        <p:spPr>
          <a:xfrm>
            <a:off x="-3657600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B304408D-AB58-7803-1EC1-711184C34AC3}"/>
              </a:ext>
            </a:extLst>
          </p:cNvPr>
          <p:cNvSpPr txBox="1"/>
          <p:nvPr/>
        </p:nvSpPr>
        <p:spPr>
          <a:xfrm>
            <a:off x="1943465" y="6595532"/>
            <a:ext cx="13475376" cy="792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580"/>
              </a:lnSpc>
            </a:pPr>
            <a:r>
              <a:rPr lang="ar-SY" sz="47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صعوبة إنتاج التوصيفات المطلوبة</a:t>
            </a:r>
            <a:endParaRPr lang="en-US" sz="4700" dirty="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grpSp>
        <p:nvGrpSpPr>
          <p:cNvPr id="24" name="Group 9">
            <a:extLst>
              <a:ext uri="{FF2B5EF4-FFF2-40B4-BE49-F238E27FC236}">
                <a16:creationId xmlns:a16="http://schemas.microsoft.com/office/drawing/2014/main" id="{1714F055-8956-EE63-EE09-9A8C9804FBAE}"/>
              </a:ext>
            </a:extLst>
          </p:cNvPr>
          <p:cNvGrpSpPr/>
          <p:nvPr/>
        </p:nvGrpSpPr>
        <p:grpSpPr>
          <a:xfrm>
            <a:off x="15876040" y="6647386"/>
            <a:ext cx="516960" cy="516960"/>
            <a:chOff x="0" y="0"/>
            <a:chExt cx="812800" cy="812800"/>
          </a:xfrm>
        </p:grpSpPr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BF3B27F-6CAA-E4F1-6926-C4224059E5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7793BF80-0F51-2DB4-6DA3-D0ED392A921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12212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ar-SY" sz="14695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latsi"/>
                <a:ea typeface="Alatsi"/>
                <a:cs typeface="Alatsi"/>
                <a:sym typeface="Alatsi"/>
              </a:rPr>
              <a:t>شكراً لكم</a:t>
            </a:r>
            <a:endParaRPr lang="en-US" sz="14695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Alatsi"/>
              <a:ea typeface="Alatsi"/>
              <a:cs typeface="Alatsi"/>
              <a:sym typeface="Alatsi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1348</Words>
  <Application>Microsoft Office PowerPoint</Application>
  <PresentationFormat>Custom</PresentationFormat>
  <Paragraphs>628</Paragraphs>
  <Slides>52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6" baseType="lpstr">
      <vt:lpstr>Droid Arabic Kufi</vt:lpstr>
      <vt:lpstr>Belanosima</vt:lpstr>
      <vt:lpstr>Arial</vt:lpstr>
      <vt:lpstr>Dubai</vt:lpstr>
      <vt:lpstr>Wingdings</vt:lpstr>
      <vt:lpstr>Traditional Arabic</vt:lpstr>
      <vt:lpstr>Cambria Math</vt:lpstr>
      <vt:lpstr>Calibri</vt:lpstr>
      <vt:lpstr>Montserrat</vt:lpstr>
      <vt:lpstr>Alatsi</vt:lpstr>
      <vt:lpstr>Open Sans Bold</vt:lpstr>
      <vt:lpstr>Droid Arabic Naskh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Pastel Minimalist Thesis Defense Presentation</dc:title>
  <dc:creator>Remi</dc:creator>
  <cp:lastModifiedBy>Maro kh</cp:lastModifiedBy>
  <cp:revision>61</cp:revision>
  <dcterms:created xsi:type="dcterms:W3CDTF">2006-08-16T00:00:00Z</dcterms:created>
  <dcterms:modified xsi:type="dcterms:W3CDTF">2025-08-27T23:11:02Z</dcterms:modified>
  <dc:identifier>DAGvU-esFlE</dc:identifier>
</cp:coreProperties>
</file>